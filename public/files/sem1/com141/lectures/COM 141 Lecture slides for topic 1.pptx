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82" d="100"/>
          <a:sy n="82" d="100"/>
        </p:scale>
        <p:origin x="71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22B57-091D-4CA5-9C93-6C2FD5F1E3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C985E4E-7165-44D6-A27A-507CEEEBCA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62DA24F-7582-4EC3-BE1E-27A996C825F9}"/>
              </a:ext>
            </a:extLst>
          </p:cNvPr>
          <p:cNvSpPr>
            <a:spLocks noGrp="1"/>
          </p:cNvSpPr>
          <p:nvPr>
            <p:ph type="dt" sz="half" idx="10"/>
          </p:nvPr>
        </p:nvSpPr>
        <p:spPr/>
        <p:txBody>
          <a:bodyPr/>
          <a:lstStyle/>
          <a:p>
            <a:fld id="{02FD269B-766A-4814-B619-120D118BC062}" type="datetimeFigureOut">
              <a:rPr lang="en-GB" smtClean="0"/>
              <a:t>18/08/2025</a:t>
            </a:fld>
            <a:endParaRPr lang="en-GB"/>
          </a:p>
        </p:txBody>
      </p:sp>
      <p:sp>
        <p:nvSpPr>
          <p:cNvPr id="5" name="Footer Placeholder 4">
            <a:extLst>
              <a:ext uri="{FF2B5EF4-FFF2-40B4-BE49-F238E27FC236}">
                <a16:creationId xmlns:a16="http://schemas.microsoft.com/office/drawing/2014/main" id="{8B298DA0-65AA-4744-BC3F-9E790153725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571470D-DCB8-42CA-96DE-7A8733AED9DA}"/>
              </a:ext>
            </a:extLst>
          </p:cNvPr>
          <p:cNvSpPr>
            <a:spLocks noGrp="1"/>
          </p:cNvSpPr>
          <p:nvPr>
            <p:ph type="sldNum" sz="quarter" idx="12"/>
          </p:nvPr>
        </p:nvSpPr>
        <p:spPr/>
        <p:txBody>
          <a:bodyPr/>
          <a:lstStyle/>
          <a:p>
            <a:fld id="{8E44C0B3-3254-4097-9E93-AE8CD4CEA030}" type="slidenum">
              <a:rPr lang="en-GB" smtClean="0"/>
              <a:t>‹#›</a:t>
            </a:fld>
            <a:endParaRPr lang="en-GB"/>
          </a:p>
        </p:txBody>
      </p:sp>
    </p:spTree>
    <p:extLst>
      <p:ext uri="{BB962C8B-B14F-4D97-AF65-F5344CB8AC3E}">
        <p14:creationId xmlns:p14="http://schemas.microsoft.com/office/powerpoint/2010/main" val="4002862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6A99E-0DC3-4029-9C08-2803E588D1D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E4D2414-2937-4EB8-ACC2-A3C54F679E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BE19FFC-E411-4FE8-A7DE-7BB5256E25A8}"/>
              </a:ext>
            </a:extLst>
          </p:cNvPr>
          <p:cNvSpPr>
            <a:spLocks noGrp="1"/>
          </p:cNvSpPr>
          <p:nvPr>
            <p:ph type="dt" sz="half" idx="10"/>
          </p:nvPr>
        </p:nvSpPr>
        <p:spPr/>
        <p:txBody>
          <a:bodyPr/>
          <a:lstStyle/>
          <a:p>
            <a:fld id="{02FD269B-766A-4814-B619-120D118BC062}" type="datetimeFigureOut">
              <a:rPr lang="en-GB" smtClean="0"/>
              <a:t>18/08/2025</a:t>
            </a:fld>
            <a:endParaRPr lang="en-GB"/>
          </a:p>
        </p:txBody>
      </p:sp>
      <p:sp>
        <p:nvSpPr>
          <p:cNvPr id="5" name="Footer Placeholder 4">
            <a:extLst>
              <a:ext uri="{FF2B5EF4-FFF2-40B4-BE49-F238E27FC236}">
                <a16:creationId xmlns:a16="http://schemas.microsoft.com/office/drawing/2014/main" id="{98B282D0-5F9E-4FCC-BE5B-37CF8C6B7AD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E4DE2A5-A760-4CDA-A763-73F8B725EA8B}"/>
              </a:ext>
            </a:extLst>
          </p:cNvPr>
          <p:cNvSpPr>
            <a:spLocks noGrp="1"/>
          </p:cNvSpPr>
          <p:nvPr>
            <p:ph type="sldNum" sz="quarter" idx="12"/>
          </p:nvPr>
        </p:nvSpPr>
        <p:spPr/>
        <p:txBody>
          <a:bodyPr/>
          <a:lstStyle/>
          <a:p>
            <a:fld id="{8E44C0B3-3254-4097-9E93-AE8CD4CEA030}" type="slidenum">
              <a:rPr lang="en-GB" smtClean="0"/>
              <a:t>‹#›</a:t>
            </a:fld>
            <a:endParaRPr lang="en-GB"/>
          </a:p>
        </p:txBody>
      </p:sp>
    </p:spTree>
    <p:extLst>
      <p:ext uri="{BB962C8B-B14F-4D97-AF65-F5344CB8AC3E}">
        <p14:creationId xmlns:p14="http://schemas.microsoft.com/office/powerpoint/2010/main" val="1296895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8EF07-65BE-4C10-8BA5-AA3BD134B8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4F56B59-69D1-4678-B4D3-4052898524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1DD81C-E0A4-40CC-8FAB-E78F87F0AAC8}"/>
              </a:ext>
            </a:extLst>
          </p:cNvPr>
          <p:cNvSpPr>
            <a:spLocks noGrp="1"/>
          </p:cNvSpPr>
          <p:nvPr>
            <p:ph type="dt" sz="half" idx="10"/>
          </p:nvPr>
        </p:nvSpPr>
        <p:spPr/>
        <p:txBody>
          <a:bodyPr/>
          <a:lstStyle/>
          <a:p>
            <a:fld id="{02FD269B-766A-4814-B619-120D118BC062}" type="datetimeFigureOut">
              <a:rPr lang="en-GB" smtClean="0"/>
              <a:t>18/08/2025</a:t>
            </a:fld>
            <a:endParaRPr lang="en-GB"/>
          </a:p>
        </p:txBody>
      </p:sp>
      <p:sp>
        <p:nvSpPr>
          <p:cNvPr id="5" name="Footer Placeholder 4">
            <a:extLst>
              <a:ext uri="{FF2B5EF4-FFF2-40B4-BE49-F238E27FC236}">
                <a16:creationId xmlns:a16="http://schemas.microsoft.com/office/drawing/2014/main" id="{1B774F19-2CF5-4761-93E9-CF04A82F01F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6AEB844-2EF6-44CE-BB31-C2DF67E4C669}"/>
              </a:ext>
            </a:extLst>
          </p:cNvPr>
          <p:cNvSpPr>
            <a:spLocks noGrp="1"/>
          </p:cNvSpPr>
          <p:nvPr>
            <p:ph type="sldNum" sz="quarter" idx="12"/>
          </p:nvPr>
        </p:nvSpPr>
        <p:spPr/>
        <p:txBody>
          <a:bodyPr/>
          <a:lstStyle/>
          <a:p>
            <a:fld id="{8E44C0B3-3254-4097-9E93-AE8CD4CEA030}" type="slidenum">
              <a:rPr lang="en-GB" smtClean="0"/>
              <a:t>‹#›</a:t>
            </a:fld>
            <a:endParaRPr lang="en-GB"/>
          </a:p>
        </p:txBody>
      </p:sp>
    </p:spTree>
    <p:extLst>
      <p:ext uri="{BB962C8B-B14F-4D97-AF65-F5344CB8AC3E}">
        <p14:creationId xmlns:p14="http://schemas.microsoft.com/office/powerpoint/2010/main" val="1289910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22546-E9CB-488F-AD3F-5F6514F2D07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14BB513-DC3A-472D-9AD6-879490E01F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A1329DD-4C84-4A91-B82B-CF0DAA74FA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D576734-DA0E-4648-8974-963F5FE7F6B4}"/>
              </a:ext>
            </a:extLst>
          </p:cNvPr>
          <p:cNvSpPr>
            <a:spLocks noGrp="1"/>
          </p:cNvSpPr>
          <p:nvPr>
            <p:ph type="dt" sz="half" idx="10"/>
          </p:nvPr>
        </p:nvSpPr>
        <p:spPr/>
        <p:txBody>
          <a:bodyPr/>
          <a:lstStyle/>
          <a:p>
            <a:fld id="{02FD269B-766A-4814-B619-120D118BC062}" type="datetimeFigureOut">
              <a:rPr lang="en-GB" smtClean="0"/>
              <a:t>18/08/2025</a:t>
            </a:fld>
            <a:endParaRPr lang="en-GB"/>
          </a:p>
        </p:txBody>
      </p:sp>
      <p:sp>
        <p:nvSpPr>
          <p:cNvPr id="6" name="Footer Placeholder 5">
            <a:extLst>
              <a:ext uri="{FF2B5EF4-FFF2-40B4-BE49-F238E27FC236}">
                <a16:creationId xmlns:a16="http://schemas.microsoft.com/office/drawing/2014/main" id="{6B1F0677-74BF-491B-BCE7-81FA082DFF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EB1EE14-D5AB-4A98-A31C-37590EDCFFAF}"/>
              </a:ext>
            </a:extLst>
          </p:cNvPr>
          <p:cNvSpPr>
            <a:spLocks noGrp="1"/>
          </p:cNvSpPr>
          <p:nvPr>
            <p:ph type="sldNum" sz="quarter" idx="12"/>
          </p:nvPr>
        </p:nvSpPr>
        <p:spPr/>
        <p:txBody>
          <a:bodyPr/>
          <a:lstStyle/>
          <a:p>
            <a:fld id="{8E44C0B3-3254-4097-9E93-AE8CD4CEA030}" type="slidenum">
              <a:rPr lang="en-GB" smtClean="0"/>
              <a:t>‹#›</a:t>
            </a:fld>
            <a:endParaRPr lang="en-GB"/>
          </a:p>
        </p:txBody>
      </p:sp>
    </p:spTree>
    <p:extLst>
      <p:ext uri="{BB962C8B-B14F-4D97-AF65-F5344CB8AC3E}">
        <p14:creationId xmlns:p14="http://schemas.microsoft.com/office/powerpoint/2010/main" val="2494460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B694F-9ECA-4862-A293-AF16AE4FD68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4FF8124-6300-4E51-9797-77E5ADA861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EFC6E2-B036-4A5D-A31F-A235B25C84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083FCD8-8ECA-47E3-8231-96FD10CBAA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2F163E-E43C-40D6-9921-023E8DAE00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EE5B702-0CDC-4137-A999-8ED369692535}"/>
              </a:ext>
            </a:extLst>
          </p:cNvPr>
          <p:cNvSpPr>
            <a:spLocks noGrp="1"/>
          </p:cNvSpPr>
          <p:nvPr>
            <p:ph type="dt" sz="half" idx="10"/>
          </p:nvPr>
        </p:nvSpPr>
        <p:spPr/>
        <p:txBody>
          <a:bodyPr/>
          <a:lstStyle/>
          <a:p>
            <a:fld id="{02FD269B-766A-4814-B619-120D118BC062}" type="datetimeFigureOut">
              <a:rPr lang="en-GB" smtClean="0"/>
              <a:t>18/08/2025</a:t>
            </a:fld>
            <a:endParaRPr lang="en-GB"/>
          </a:p>
        </p:txBody>
      </p:sp>
      <p:sp>
        <p:nvSpPr>
          <p:cNvPr id="8" name="Footer Placeholder 7">
            <a:extLst>
              <a:ext uri="{FF2B5EF4-FFF2-40B4-BE49-F238E27FC236}">
                <a16:creationId xmlns:a16="http://schemas.microsoft.com/office/drawing/2014/main" id="{E360B5D8-9631-411A-B679-3BE0A39939F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D5EC9E4-9477-4F7D-A72D-499B82A08DB9}"/>
              </a:ext>
            </a:extLst>
          </p:cNvPr>
          <p:cNvSpPr>
            <a:spLocks noGrp="1"/>
          </p:cNvSpPr>
          <p:nvPr>
            <p:ph type="sldNum" sz="quarter" idx="12"/>
          </p:nvPr>
        </p:nvSpPr>
        <p:spPr/>
        <p:txBody>
          <a:bodyPr/>
          <a:lstStyle/>
          <a:p>
            <a:fld id="{8E44C0B3-3254-4097-9E93-AE8CD4CEA030}" type="slidenum">
              <a:rPr lang="en-GB" smtClean="0"/>
              <a:t>‹#›</a:t>
            </a:fld>
            <a:endParaRPr lang="en-GB"/>
          </a:p>
        </p:txBody>
      </p:sp>
    </p:spTree>
    <p:extLst>
      <p:ext uri="{BB962C8B-B14F-4D97-AF65-F5344CB8AC3E}">
        <p14:creationId xmlns:p14="http://schemas.microsoft.com/office/powerpoint/2010/main" val="668933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18D20-C796-450D-8025-D20C449A50E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41FF947-4088-4E0B-AAD4-B4D5417C011C}"/>
              </a:ext>
            </a:extLst>
          </p:cNvPr>
          <p:cNvSpPr>
            <a:spLocks noGrp="1"/>
          </p:cNvSpPr>
          <p:nvPr>
            <p:ph type="dt" sz="half" idx="10"/>
          </p:nvPr>
        </p:nvSpPr>
        <p:spPr/>
        <p:txBody>
          <a:bodyPr/>
          <a:lstStyle/>
          <a:p>
            <a:fld id="{02FD269B-766A-4814-B619-120D118BC062}" type="datetimeFigureOut">
              <a:rPr lang="en-GB" smtClean="0"/>
              <a:t>18/08/2025</a:t>
            </a:fld>
            <a:endParaRPr lang="en-GB"/>
          </a:p>
        </p:txBody>
      </p:sp>
      <p:sp>
        <p:nvSpPr>
          <p:cNvPr id="4" name="Footer Placeholder 3">
            <a:extLst>
              <a:ext uri="{FF2B5EF4-FFF2-40B4-BE49-F238E27FC236}">
                <a16:creationId xmlns:a16="http://schemas.microsoft.com/office/drawing/2014/main" id="{A167AEDD-F6EF-466D-976B-3BC410D7C8C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AB629EA-66D4-4D4A-AEC9-FE24D6BEA154}"/>
              </a:ext>
            </a:extLst>
          </p:cNvPr>
          <p:cNvSpPr>
            <a:spLocks noGrp="1"/>
          </p:cNvSpPr>
          <p:nvPr>
            <p:ph type="sldNum" sz="quarter" idx="12"/>
          </p:nvPr>
        </p:nvSpPr>
        <p:spPr/>
        <p:txBody>
          <a:bodyPr/>
          <a:lstStyle/>
          <a:p>
            <a:fld id="{8E44C0B3-3254-4097-9E93-AE8CD4CEA030}" type="slidenum">
              <a:rPr lang="en-GB" smtClean="0"/>
              <a:t>‹#›</a:t>
            </a:fld>
            <a:endParaRPr lang="en-GB"/>
          </a:p>
        </p:txBody>
      </p:sp>
    </p:spTree>
    <p:extLst>
      <p:ext uri="{BB962C8B-B14F-4D97-AF65-F5344CB8AC3E}">
        <p14:creationId xmlns:p14="http://schemas.microsoft.com/office/powerpoint/2010/main" val="3750362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D28C5D-0C05-4DC9-9893-57D4DA1A55E7}"/>
              </a:ext>
            </a:extLst>
          </p:cNvPr>
          <p:cNvSpPr>
            <a:spLocks noGrp="1"/>
          </p:cNvSpPr>
          <p:nvPr>
            <p:ph type="dt" sz="half" idx="10"/>
          </p:nvPr>
        </p:nvSpPr>
        <p:spPr/>
        <p:txBody>
          <a:bodyPr/>
          <a:lstStyle/>
          <a:p>
            <a:fld id="{02FD269B-766A-4814-B619-120D118BC062}" type="datetimeFigureOut">
              <a:rPr lang="en-GB" smtClean="0"/>
              <a:t>18/08/2025</a:t>
            </a:fld>
            <a:endParaRPr lang="en-GB"/>
          </a:p>
        </p:txBody>
      </p:sp>
      <p:sp>
        <p:nvSpPr>
          <p:cNvPr id="3" name="Footer Placeholder 2">
            <a:extLst>
              <a:ext uri="{FF2B5EF4-FFF2-40B4-BE49-F238E27FC236}">
                <a16:creationId xmlns:a16="http://schemas.microsoft.com/office/drawing/2014/main" id="{AA2D397B-FF3E-4A72-BE04-EEB5AC0B0F3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AAF42FA-B62C-4B69-A8A7-1D6390008E1B}"/>
              </a:ext>
            </a:extLst>
          </p:cNvPr>
          <p:cNvSpPr>
            <a:spLocks noGrp="1"/>
          </p:cNvSpPr>
          <p:nvPr>
            <p:ph type="sldNum" sz="quarter" idx="12"/>
          </p:nvPr>
        </p:nvSpPr>
        <p:spPr/>
        <p:txBody>
          <a:bodyPr/>
          <a:lstStyle/>
          <a:p>
            <a:fld id="{8E44C0B3-3254-4097-9E93-AE8CD4CEA030}" type="slidenum">
              <a:rPr lang="en-GB" smtClean="0"/>
              <a:t>‹#›</a:t>
            </a:fld>
            <a:endParaRPr lang="en-GB"/>
          </a:p>
        </p:txBody>
      </p:sp>
    </p:spTree>
    <p:extLst>
      <p:ext uri="{BB962C8B-B14F-4D97-AF65-F5344CB8AC3E}">
        <p14:creationId xmlns:p14="http://schemas.microsoft.com/office/powerpoint/2010/main" val="3621994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17F96-2B56-4A8E-A1E0-82B1200CB6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3CB96FE-B7AD-4D4B-AC81-AFE6C2F9B6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82BD701-537D-4E7C-9C10-064AA25BCA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737BCF-078A-4D8F-BE0A-F78CC3D204E4}"/>
              </a:ext>
            </a:extLst>
          </p:cNvPr>
          <p:cNvSpPr>
            <a:spLocks noGrp="1"/>
          </p:cNvSpPr>
          <p:nvPr>
            <p:ph type="dt" sz="half" idx="10"/>
          </p:nvPr>
        </p:nvSpPr>
        <p:spPr/>
        <p:txBody>
          <a:bodyPr/>
          <a:lstStyle/>
          <a:p>
            <a:fld id="{02FD269B-766A-4814-B619-120D118BC062}" type="datetimeFigureOut">
              <a:rPr lang="en-GB" smtClean="0"/>
              <a:t>18/08/2025</a:t>
            </a:fld>
            <a:endParaRPr lang="en-GB"/>
          </a:p>
        </p:txBody>
      </p:sp>
      <p:sp>
        <p:nvSpPr>
          <p:cNvPr id="6" name="Footer Placeholder 5">
            <a:extLst>
              <a:ext uri="{FF2B5EF4-FFF2-40B4-BE49-F238E27FC236}">
                <a16:creationId xmlns:a16="http://schemas.microsoft.com/office/drawing/2014/main" id="{8DFAEF18-B6A4-488D-B883-C09E52CD5C2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5E1A36D-CE4A-4114-9430-F9E9A5036919}"/>
              </a:ext>
            </a:extLst>
          </p:cNvPr>
          <p:cNvSpPr>
            <a:spLocks noGrp="1"/>
          </p:cNvSpPr>
          <p:nvPr>
            <p:ph type="sldNum" sz="quarter" idx="12"/>
          </p:nvPr>
        </p:nvSpPr>
        <p:spPr/>
        <p:txBody>
          <a:bodyPr/>
          <a:lstStyle/>
          <a:p>
            <a:fld id="{8E44C0B3-3254-4097-9E93-AE8CD4CEA030}" type="slidenum">
              <a:rPr lang="en-GB" smtClean="0"/>
              <a:t>‹#›</a:t>
            </a:fld>
            <a:endParaRPr lang="en-GB"/>
          </a:p>
        </p:txBody>
      </p:sp>
    </p:spTree>
    <p:extLst>
      <p:ext uri="{BB962C8B-B14F-4D97-AF65-F5344CB8AC3E}">
        <p14:creationId xmlns:p14="http://schemas.microsoft.com/office/powerpoint/2010/main" val="1394198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B3CF8-69E2-476A-99BA-FA6F5E57E1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EBF5376-835E-4EFE-968C-5824051C15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BEA6A12-1890-4345-BB66-747691F968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D367A9-6464-4493-98EE-3AEC1F36765B}"/>
              </a:ext>
            </a:extLst>
          </p:cNvPr>
          <p:cNvSpPr>
            <a:spLocks noGrp="1"/>
          </p:cNvSpPr>
          <p:nvPr>
            <p:ph type="dt" sz="half" idx="10"/>
          </p:nvPr>
        </p:nvSpPr>
        <p:spPr/>
        <p:txBody>
          <a:bodyPr/>
          <a:lstStyle/>
          <a:p>
            <a:fld id="{02FD269B-766A-4814-B619-120D118BC062}" type="datetimeFigureOut">
              <a:rPr lang="en-GB" smtClean="0"/>
              <a:t>18/08/2025</a:t>
            </a:fld>
            <a:endParaRPr lang="en-GB"/>
          </a:p>
        </p:txBody>
      </p:sp>
      <p:sp>
        <p:nvSpPr>
          <p:cNvPr id="6" name="Footer Placeholder 5">
            <a:extLst>
              <a:ext uri="{FF2B5EF4-FFF2-40B4-BE49-F238E27FC236}">
                <a16:creationId xmlns:a16="http://schemas.microsoft.com/office/drawing/2014/main" id="{663B741B-8BC4-495C-B3F5-0A36412A1AA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44433DA-BE56-43E7-A73F-E9E01FEAD740}"/>
              </a:ext>
            </a:extLst>
          </p:cNvPr>
          <p:cNvSpPr>
            <a:spLocks noGrp="1"/>
          </p:cNvSpPr>
          <p:nvPr>
            <p:ph type="sldNum" sz="quarter" idx="12"/>
          </p:nvPr>
        </p:nvSpPr>
        <p:spPr/>
        <p:txBody>
          <a:bodyPr/>
          <a:lstStyle/>
          <a:p>
            <a:fld id="{8E44C0B3-3254-4097-9E93-AE8CD4CEA030}" type="slidenum">
              <a:rPr lang="en-GB" smtClean="0"/>
              <a:t>‹#›</a:t>
            </a:fld>
            <a:endParaRPr lang="en-GB"/>
          </a:p>
        </p:txBody>
      </p:sp>
    </p:spTree>
    <p:extLst>
      <p:ext uri="{BB962C8B-B14F-4D97-AF65-F5344CB8AC3E}">
        <p14:creationId xmlns:p14="http://schemas.microsoft.com/office/powerpoint/2010/main" val="1208486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C2359-E0B4-43B4-BA38-0DC5DF4DB7E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2456795-155A-488B-B7E5-368E3B4DC8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60187FD-618C-4C10-9838-FBE000ECD1A1}"/>
              </a:ext>
            </a:extLst>
          </p:cNvPr>
          <p:cNvSpPr>
            <a:spLocks noGrp="1"/>
          </p:cNvSpPr>
          <p:nvPr>
            <p:ph type="dt" sz="half" idx="10"/>
          </p:nvPr>
        </p:nvSpPr>
        <p:spPr/>
        <p:txBody>
          <a:bodyPr/>
          <a:lstStyle/>
          <a:p>
            <a:fld id="{02FD269B-766A-4814-B619-120D118BC062}" type="datetimeFigureOut">
              <a:rPr lang="en-GB" smtClean="0"/>
              <a:t>18/08/2025</a:t>
            </a:fld>
            <a:endParaRPr lang="en-GB"/>
          </a:p>
        </p:txBody>
      </p:sp>
      <p:sp>
        <p:nvSpPr>
          <p:cNvPr id="5" name="Footer Placeholder 4">
            <a:extLst>
              <a:ext uri="{FF2B5EF4-FFF2-40B4-BE49-F238E27FC236}">
                <a16:creationId xmlns:a16="http://schemas.microsoft.com/office/drawing/2014/main" id="{BF41AAE7-DE0D-46AE-931D-044F2204A1B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AB7875-FC8A-4C62-B8C7-1CC8E1460521}"/>
              </a:ext>
            </a:extLst>
          </p:cNvPr>
          <p:cNvSpPr>
            <a:spLocks noGrp="1"/>
          </p:cNvSpPr>
          <p:nvPr>
            <p:ph type="sldNum" sz="quarter" idx="12"/>
          </p:nvPr>
        </p:nvSpPr>
        <p:spPr/>
        <p:txBody>
          <a:bodyPr/>
          <a:lstStyle/>
          <a:p>
            <a:fld id="{8E44C0B3-3254-4097-9E93-AE8CD4CEA030}" type="slidenum">
              <a:rPr lang="en-GB" smtClean="0"/>
              <a:t>‹#›</a:t>
            </a:fld>
            <a:endParaRPr lang="en-GB"/>
          </a:p>
        </p:txBody>
      </p:sp>
    </p:spTree>
    <p:extLst>
      <p:ext uri="{BB962C8B-B14F-4D97-AF65-F5344CB8AC3E}">
        <p14:creationId xmlns:p14="http://schemas.microsoft.com/office/powerpoint/2010/main" val="1555776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A70011-C611-4A5E-A363-E67DE1A86D2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483FE24-8890-41B6-8E2E-7EABC53013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33898F4-1B62-4F1D-91A7-23488847CCC0}"/>
              </a:ext>
            </a:extLst>
          </p:cNvPr>
          <p:cNvSpPr>
            <a:spLocks noGrp="1"/>
          </p:cNvSpPr>
          <p:nvPr>
            <p:ph type="dt" sz="half" idx="10"/>
          </p:nvPr>
        </p:nvSpPr>
        <p:spPr/>
        <p:txBody>
          <a:bodyPr/>
          <a:lstStyle/>
          <a:p>
            <a:fld id="{02FD269B-766A-4814-B619-120D118BC062}" type="datetimeFigureOut">
              <a:rPr lang="en-GB" smtClean="0"/>
              <a:t>18/08/2025</a:t>
            </a:fld>
            <a:endParaRPr lang="en-GB"/>
          </a:p>
        </p:txBody>
      </p:sp>
      <p:sp>
        <p:nvSpPr>
          <p:cNvPr id="5" name="Footer Placeholder 4">
            <a:extLst>
              <a:ext uri="{FF2B5EF4-FFF2-40B4-BE49-F238E27FC236}">
                <a16:creationId xmlns:a16="http://schemas.microsoft.com/office/drawing/2014/main" id="{E3EBDC73-DA95-49B4-85DA-3EA45ACEED8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3C55EA3-925C-494F-AD16-E4E2BAAA28D7}"/>
              </a:ext>
            </a:extLst>
          </p:cNvPr>
          <p:cNvSpPr>
            <a:spLocks noGrp="1"/>
          </p:cNvSpPr>
          <p:nvPr>
            <p:ph type="sldNum" sz="quarter" idx="12"/>
          </p:nvPr>
        </p:nvSpPr>
        <p:spPr/>
        <p:txBody>
          <a:bodyPr/>
          <a:lstStyle/>
          <a:p>
            <a:fld id="{8E44C0B3-3254-4097-9E93-AE8CD4CEA030}" type="slidenum">
              <a:rPr lang="en-GB" smtClean="0"/>
              <a:t>‹#›</a:t>
            </a:fld>
            <a:endParaRPr lang="en-GB"/>
          </a:p>
        </p:txBody>
      </p:sp>
    </p:spTree>
    <p:extLst>
      <p:ext uri="{BB962C8B-B14F-4D97-AF65-F5344CB8AC3E}">
        <p14:creationId xmlns:p14="http://schemas.microsoft.com/office/powerpoint/2010/main" val="3318892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658DCC-2DEA-423B-B9D0-F610C1420E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D465121-D226-42AA-ADFF-D5C1BC6CF1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B3C9738-7EEC-4B71-BE3C-BEECE4620E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FD269B-766A-4814-B619-120D118BC062}" type="datetimeFigureOut">
              <a:rPr lang="en-GB" smtClean="0"/>
              <a:t>18/08/2025</a:t>
            </a:fld>
            <a:endParaRPr lang="en-GB"/>
          </a:p>
        </p:txBody>
      </p:sp>
      <p:sp>
        <p:nvSpPr>
          <p:cNvPr id="5" name="Footer Placeholder 4">
            <a:extLst>
              <a:ext uri="{FF2B5EF4-FFF2-40B4-BE49-F238E27FC236}">
                <a16:creationId xmlns:a16="http://schemas.microsoft.com/office/drawing/2014/main" id="{874EE937-828E-4366-9312-2E79ECE046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9DFD4228-73FF-419D-A4A5-46D7A7C3E6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44C0B3-3254-4097-9E93-AE8CD4CEA030}" type="slidenum">
              <a:rPr lang="en-GB" smtClean="0"/>
              <a:t>‹#›</a:t>
            </a:fld>
            <a:endParaRPr lang="en-GB"/>
          </a:p>
        </p:txBody>
      </p:sp>
    </p:spTree>
    <p:extLst>
      <p:ext uri="{BB962C8B-B14F-4D97-AF65-F5344CB8AC3E}">
        <p14:creationId xmlns:p14="http://schemas.microsoft.com/office/powerpoint/2010/main" val="2290098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gular@ub.ac.bw"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56477-FC6C-4A2D-A3E5-B0E3FBA80F7E}"/>
              </a:ext>
            </a:extLst>
          </p:cNvPr>
          <p:cNvSpPr>
            <a:spLocks noGrp="1"/>
          </p:cNvSpPr>
          <p:nvPr>
            <p:ph type="ctrTitle"/>
          </p:nvPr>
        </p:nvSpPr>
        <p:spPr/>
        <p:txBody>
          <a:bodyPr>
            <a:normAutofit/>
          </a:bodyPr>
          <a:lstStyle/>
          <a:p>
            <a:r>
              <a:rPr lang="en-US" dirty="0"/>
              <a:t>COM 141/LEC/16</a:t>
            </a:r>
            <a:br>
              <a:rPr lang="en-US" dirty="0"/>
            </a:br>
            <a:r>
              <a:rPr lang="en-US" sz="4000" dirty="0"/>
              <a:t>Communication and Academic Literacy Skills for Science</a:t>
            </a:r>
            <a:endParaRPr lang="en-GB" sz="4000" dirty="0"/>
          </a:p>
        </p:txBody>
      </p:sp>
      <p:sp>
        <p:nvSpPr>
          <p:cNvPr id="3" name="Subtitle 2">
            <a:extLst>
              <a:ext uri="{FF2B5EF4-FFF2-40B4-BE49-F238E27FC236}">
                <a16:creationId xmlns:a16="http://schemas.microsoft.com/office/drawing/2014/main" id="{36F7E931-EABF-428D-A802-B564F7A2D92B}"/>
              </a:ext>
            </a:extLst>
          </p:cNvPr>
          <p:cNvSpPr>
            <a:spLocks noGrp="1"/>
          </p:cNvSpPr>
          <p:nvPr>
            <p:ph type="subTitle" idx="1"/>
          </p:nvPr>
        </p:nvSpPr>
        <p:spPr>
          <a:xfrm>
            <a:off x="1524000" y="3922642"/>
            <a:ext cx="9144000" cy="1683027"/>
          </a:xfrm>
        </p:spPr>
        <p:txBody>
          <a:bodyPr>
            <a:normAutofit lnSpcReduction="10000"/>
          </a:bodyPr>
          <a:lstStyle/>
          <a:p>
            <a:r>
              <a:rPr lang="en-US" b="1" dirty="0"/>
              <a:t>Dr Richmond Ngula</a:t>
            </a:r>
          </a:p>
          <a:p>
            <a:r>
              <a:rPr lang="en-US" b="1" dirty="0"/>
              <a:t>CSSU, University of Botswana</a:t>
            </a:r>
          </a:p>
          <a:p>
            <a:r>
              <a:rPr lang="en-US" b="1" dirty="0"/>
              <a:t>Email: </a:t>
            </a:r>
            <a:r>
              <a:rPr lang="en-US" b="1" dirty="0">
                <a:hlinkClick r:id="rId2"/>
              </a:rPr>
              <a:t>ngular@ub.ac.bw</a:t>
            </a:r>
            <a:endParaRPr lang="en-US" b="1" dirty="0"/>
          </a:p>
          <a:p>
            <a:r>
              <a:rPr lang="en-US" b="1" dirty="0"/>
              <a:t>Office: Block 229; R115</a:t>
            </a:r>
            <a:endParaRPr lang="en-GB" b="1" dirty="0"/>
          </a:p>
        </p:txBody>
      </p:sp>
    </p:spTree>
    <p:extLst>
      <p:ext uri="{BB962C8B-B14F-4D97-AF65-F5344CB8AC3E}">
        <p14:creationId xmlns:p14="http://schemas.microsoft.com/office/powerpoint/2010/main" val="30054157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7E612-45B6-48ED-8ACD-6511288ADD4E}"/>
              </a:ext>
            </a:extLst>
          </p:cNvPr>
          <p:cNvSpPr>
            <a:spLocks noGrp="1"/>
          </p:cNvSpPr>
          <p:nvPr>
            <p:ph type="title"/>
          </p:nvPr>
        </p:nvSpPr>
        <p:spPr/>
        <p:txBody>
          <a:bodyPr/>
          <a:lstStyle/>
          <a:p>
            <a:pPr algn="ctr"/>
            <a:r>
              <a:rPr lang="en-US" dirty="0">
                <a:solidFill>
                  <a:schemeClr val="accent1"/>
                </a:solidFill>
              </a:rPr>
              <a:t>COURSE TITLE AND DESCRIPTION</a:t>
            </a:r>
            <a:endParaRPr lang="en-GB" dirty="0">
              <a:solidFill>
                <a:schemeClr val="accent1"/>
              </a:solidFill>
            </a:endParaRPr>
          </a:p>
        </p:txBody>
      </p:sp>
      <p:sp>
        <p:nvSpPr>
          <p:cNvPr id="3" name="Content Placeholder 2">
            <a:extLst>
              <a:ext uri="{FF2B5EF4-FFF2-40B4-BE49-F238E27FC236}">
                <a16:creationId xmlns:a16="http://schemas.microsoft.com/office/drawing/2014/main" id="{896CF1BC-7764-4F9B-BA25-A08D48FE24A9}"/>
              </a:ext>
            </a:extLst>
          </p:cNvPr>
          <p:cNvSpPr>
            <a:spLocks noGrp="1"/>
          </p:cNvSpPr>
          <p:nvPr>
            <p:ph idx="1"/>
          </p:nvPr>
        </p:nvSpPr>
        <p:spPr>
          <a:xfrm>
            <a:off x="838200" y="1825625"/>
            <a:ext cx="10515600" cy="4667250"/>
          </a:xfrm>
        </p:spPr>
        <p:txBody>
          <a:bodyPr>
            <a:normAutofit/>
          </a:bodyPr>
          <a:lstStyle/>
          <a:p>
            <a:r>
              <a:rPr lang="en-US" sz="3200" dirty="0"/>
              <a:t>Title:</a:t>
            </a:r>
          </a:p>
          <a:p>
            <a:pPr marL="0" indent="0">
              <a:buNone/>
            </a:pPr>
            <a:r>
              <a:rPr lang="en-US" dirty="0"/>
              <a:t>     Communication and Academic Literacy for Science</a:t>
            </a:r>
          </a:p>
          <a:p>
            <a:endParaRPr lang="en-US" dirty="0"/>
          </a:p>
          <a:p>
            <a:r>
              <a:rPr lang="en-US" sz="3200" dirty="0"/>
              <a:t>Description:</a:t>
            </a:r>
          </a:p>
          <a:p>
            <a:pPr marL="457200" lvl="1" indent="0">
              <a:buNone/>
            </a:pPr>
            <a:r>
              <a:rPr lang="en-US" dirty="0"/>
              <a:t>The course </a:t>
            </a:r>
            <a:r>
              <a:rPr lang="en-US" dirty="0">
                <a:effectLst/>
                <a:latin typeface="Times New Roman" panose="02020603050405020304" pitchFamily="18" charset="0"/>
                <a:ea typeface="Calibri" panose="020F0502020204030204" pitchFamily="34" charset="0"/>
              </a:rPr>
              <a:t>introduces science students to the concepts of communication, academic and information literacy skills. It begins with the idea, processes and barriers of communication, and then goes on to focus on academic literacy skills </a:t>
            </a:r>
            <a:r>
              <a:rPr lang="en-US" dirty="0">
                <a:latin typeface="Times New Roman" panose="02020603050405020304" pitchFamily="18" charset="0"/>
                <a:ea typeface="Calibri" panose="020F0502020204030204" pitchFamily="34" charset="0"/>
              </a:rPr>
              <a:t>that aim </a:t>
            </a:r>
            <a:r>
              <a:rPr lang="en-US" dirty="0">
                <a:effectLst/>
                <a:latin typeface="Times New Roman" panose="02020603050405020304" pitchFamily="18" charset="0"/>
                <a:ea typeface="Calibri" panose="020F0502020204030204" pitchFamily="34" charset="0"/>
              </a:rPr>
              <a:t>to make the student an autonomous learner. We will cover topics such as the ability to listen effectively, to take down or make notes, to make an effective oral presentation, to read effectively and to write in a scientific manner.</a:t>
            </a:r>
            <a:endParaRPr lang="en-GB" dirty="0"/>
          </a:p>
        </p:txBody>
      </p:sp>
    </p:spTree>
    <p:extLst>
      <p:ext uri="{BB962C8B-B14F-4D97-AF65-F5344CB8AC3E}">
        <p14:creationId xmlns:p14="http://schemas.microsoft.com/office/powerpoint/2010/main" val="1583631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05C92-40D5-4E14-B3C0-8880FA501B0A}"/>
              </a:ext>
            </a:extLst>
          </p:cNvPr>
          <p:cNvSpPr>
            <a:spLocks noGrp="1"/>
          </p:cNvSpPr>
          <p:nvPr>
            <p:ph type="title"/>
          </p:nvPr>
        </p:nvSpPr>
        <p:spPr/>
        <p:txBody>
          <a:bodyPr/>
          <a:lstStyle/>
          <a:p>
            <a:pPr algn="ctr"/>
            <a:r>
              <a:rPr lang="en-US" dirty="0">
                <a:solidFill>
                  <a:schemeClr val="accent1"/>
                </a:solidFill>
              </a:rPr>
              <a:t>COURSE OBJECTIVES</a:t>
            </a:r>
            <a:endParaRPr lang="en-GB" dirty="0">
              <a:solidFill>
                <a:schemeClr val="accent1"/>
              </a:solidFill>
            </a:endParaRPr>
          </a:p>
        </p:txBody>
      </p:sp>
      <p:sp>
        <p:nvSpPr>
          <p:cNvPr id="3" name="Content Placeholder 2">
            <a:extLst>
              <a:ext uri="{FF2B5EF4-FFF2-40B4-BE49-F238E27FC236}">
                <a16:creationId xmlns:a16="http://schemas.microsoft.com/office/drawing/2014/main" id="{A347411A-9648-4EDC-8639-9F9C056E792D}"/>
              </a:ext>
            </a:extLst>
          </p:cNvPr>
          <p:cNvSpPr>
            <a:spLocks noGrp="1"/>
          </p:cNvSpPr>
          <p:nvPr>
            <p:ph idx="1"/>
          </p:nvPr>
        </p:nvSpPr>
        <p:spPr/>
        <p:txBody>
          <a:bodyPr>
            <a:noAutofit/>
          </a:bodyPr>
          <a:lstStyle/>
          <a:p>
            <a:pPr marL="342900" lvl="0" indent="-342900" algn="just">
              <a:lnSpc>
                <a:spcPct val="115000"/>
              </a:lnSpc>
              <a:spcAft>
                <a:spcPts val="1000"/>
              </a:spcAft>
              <a:buFont typeface="Symbol" panose="05050102010706020507" pitchFamily="18" charset="2"/>
              <a:buChar char=""/>
              <a:tabLst>
                <a:tab pos="31877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apply the language skills of speaking, writing, reading, and listening in all academic communication contexts relevant to the science discipline</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31877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apply principles of communication to both academic and social situations</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31877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select an appropriate medium to communicate ideas </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31877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use information literacy skills for scientific research</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31877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develop and apply critical thinking skills in different situations</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31877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write academic texts that are fluent, accurate and appropriate to the scientific discipline</a:t>
            </a:r>
            <a:endParaRPr lang="en-GB"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318770" algn="l"/>
              </a:tabLst>
            </a:pPr>
            <a:r>
              <a:rPr lang="en-US" sz="2000" dirty="0">
                <a:effectLst/>
                <a:latin typeface="Times New Roman" panose="02020603050405020304" pitchFamily="18" charset="0"/>
                <a:ea typeface="Calibri" panose="020F0502020204030204" pitchFamily="34" charset="0"/>
              </a:rPr>
              <a:t>use information technology to enhance the students’ communication skills</a:t>
            </a:r>
            <a:endParaRPr lang="en-GB" sz="2000" dirty="0"/>
          </a:p>
        </p:txBody>
      </p:sp>
    </p:spTree>
    <p:extLst>
      <p:ext uri="{BB962C8B-B14F-4D97-AF65-F5344CB8AC3E}">
        <p14:creationId xmlns:p14="http://schemas.microsoft.com/office/powerpoint/2010/main" val="976482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D9987-1AF7-4CA6-ADD8-613682F5D20D}"/>
              </a:ext>
            </a:extLst>
          </p:cNvPr>
          <p:cNvSpPr>
            <a:spLocks noGrp="1"/>
          </p:cNvSpPr>
          <p:nvPr>
            <p:ph type="title"/>
          </p:nvPr>
        </p:nvSpPr>
        <p:spPr/>
        <p:txBody>
          <a:bodyPr/>
          <a:lstStyle/>
          <a:p>
            <a:pPr algn="ctr"/>
            <a:r>
              <a:rPr lang="en-US" dirty="0">
                <a:solidFill>
                  <a:schemeClr val="accent1"/>
                </a:solidFill>
              </a:rPr>
              <a:t>Understanding Human Communication</a:t>
            </a:r>
            <a:endParaRPr lang="en-GB" dirty="0">
              <a:solidFill>
                <a:schemeClr val="accent1"/>
              </a:solidFill>
            </a:endParaRPr>
          </a:p>
        </p:txBody>
      </p:sp>
      <p:sp>
        <p:nvSpPr>
          <p:cNvPr id="3" name="Content Placeholder 2">
            <a:extLst>
              <a:ext uri="{FF2B5EF4-FFF2-40B4-BE49-F238E27FC236}">
                <a16:creationId xmlns:a16="http://schemas.microsoft.com/office/drawing/2014/main" id="{6544E3F7-0AA5-4AD3-A99A-0D1BBE20B946}"/>
              </a:ext>
            </a:extLst>
          </p:cNvPr>
          <p:cNvSpPr>
            <a:spLocks noGrp="1"/>
          </p:cNvSpPr>
          <p:nvPr>
            <p:ph idx="1"/>
          </p:nvPr>
        </p:nvSpPr>
        <p:spPr/>
        <p:txBody>
          <a:bodyPr>
            <a:normAutofit/>
          </a:bodyPr>
          <a:lstStyle/>
          <a:p>
            <a:r>
              <a:rPr lang="en-US" dirty="0"/>
              <a:t>Can you imagine your life without communication?</a:t>
            </a:r>
          </a:p>
          <a:p>
            <a:r>
              <a:rPr lang="en-US" dirty="0"/>
              <a:t>Does being alone even suggests that no communication takes place?</a:t>
            </a:r>
          </a:p>
          <a:p>
            <a:r>
              <a:rPr lang="en-US" dirty="0"/>
              <a:t>Communication shapes and get shaped by human relationships.</a:t>
            </a:r>
          </a:p>
          <a:p>
            <a:r>
              <a:rPr lang="en-US" dirty="0"/>
              <a:t>Defining communication</a:t>
            </a:r>
          </a:p>
          <a:p>
            <a:pPr lvl="1"/>
            <a:r>
              <a:rPr lang="en-US" sz="2800" dirty="0">
                <a:solidFill>
                  <a:schemeClr val="accent1"/>
                </a:solidFill>
              </a:rPr>
              <a:t>We may define communication by reflecting on the original Latin meaning of the word: ‘communicare’, meaning ‘to share’.</a:t>
            </a:r>
          </a:p>
          <a:p>
            <a:pPr lvl="1"/>
            <a:r>
              <a:rPr lang="en-US" sz="2800" dirty="0">
                <a:solidFill>
                  <a:schemeClr val="accent1"/>
                </a:solidFill>
              </a:rPr>
              <a:t>Thus communication is the ‘sharing’ of information between two or more individuals or a group to reach a common understanding.</a:t>
            </a:r>
          </a:p>
          <a:p>
            <a:pPr lvl="1"/>
            <a:endParaRPr lang="en-US" dirty="0">
              <a:solidFill>
                <a:schemeClr val="accent1"/>
              </a:solidFill>
            </a:endParaRPr>
          </a:p>
          <a:p>
            <a:pPr marL="0" indent="0">
              <a:buNone/>
            </a:pPr>
            <a:endParaRPr lang="en-GB" dirty="0"/>
          </a:p>
        </p:txBody>
      </p:sp>
    </p:spTree>
    <p:extLst>
      <p:ext uri="{BB962C8B-B14F-4D97-AF65-F5344CB8AC3E}">
        <p14:creationId xmlns:p14="http://schemas.microsoft.com/office/powerpoint/2010/main" val="167329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E919C-2349-4215-BE84-362F450855BE}"/>
              </a:ext>
            </a:extLst>
          </p:cNvPr>
          <p:cNvSpPr>
            <a:spLocks noGrp="1"/>
          </p:cNvSpPr>
          <p:nvPr>
            <p:ph type="title"/>
          </p:nvPr>
        </p:nvSpPr>
        <p:spPr/>
        <p:txBody>
          <a:bodyPr/>
          <a:lstStyle/>
          <a:p>
            <a:pPr algn="ctr"/>
            <a:r>
              <a:rPr lang="en-US" dirty="0">
                <a:solidFill>
                  <a:schemeClr val="accent1"/>
                </a:solidFill>
              </a:rPr>
              <a:t>Understanding Human Communication</a:t>
            </a:r>
            <a:endParaRPr lang="en-GB" dirty="0">
              <a:solidFill>
                <a:schemeClr val="accent1"/>
              </a:solidFill>
            </a:endParaRPr>
          </a:p>
        </p:txBody>
      </p:sp>
      <p:sp>
        <p:nvSpPr>
          <p:cNvPr id="3" name="Content Placeholder 2">
            <a:extLst>
              <a:ext uri="{FF2B5EF4-FFF2-40B4-BE49-F238E27FC236}">
                <a16:creationId xmlns:a16="http://schemas.microsoft.com/office/drawing/2014/main" id="{AE8F8566-252E-46B6-84A5-29660E7494DE}"/>
              </a:ext>
            </a:extLst>
          </p:cNvPr>
          <p:cNvSpPr>
            <a:spLocks noGrp="1"/>
          </p:cNvSpPr>
          <p:nvPr>
            <p:ph idx="1"/>
          </p:nvPr>
        </p:nvSpPr>
        <p:spPr>
          <a:xfrm>
            <a:off x="838200" y="1879600"/>
            <a:ext cx="10515600" cy="4613275"/>
          </a:xfrm>
        </p:spPr>
        <p:txBody>
          <a:bodyPr>
            <a:normAutofit fontScale="92500" lnSpcReduction="20000"/>
          </a:bodyPr>
          <a:lstStyle/>
          <a:p>
            <a:r>
              <a:rPr lang="en-US" dirty="0"/>
              <a:t>But ‘information sharing’ may be just the primary function of communication; it serves several other needs as we relate with other people and with ourselves:</a:t>
            </a:r>
          </a:p>
          <a:p>
            <a:r>
              <a:rPr lang="en-US" dirty="0">
                <a:solidFill>
                  <a:schemeClr val="accent1"/>
                </a:solidFill>
              </a:rPr>
              <a:t>Physical needs</a:t>
            </a:r>
            <a:r>
              <a:rPr lang="en-US" dirty="0"/>
              <a:t> – communication helps us maintain physical and mental well-being.</a:t>
            </a:r>
          </a:p>
          <a:p>
            <a:r>
              <a:rPr lang="en-US" dirty="0">
                <a:solidFill>
                  <a:schemeClr val="accent1"/>
                </a:solidFill>
              </a:rPr>
              <a:t>Relational needs </a:t>
            </a:r>
            <a:r>
              <a:rPr lang="en-US" dirty="0"/>
              <a:t>– communication helps us form social and personal relationships.</a:t>
            </a:r>
          </a:p>
          <a:p>
            <a:r>
              <a:rPr lang="en-US" dirty="0"/>
              <a:t> </a:t>
            </a:r>
            <a:r>
              <a:rPr lang="en-US" dirty="0">
                <a:solidFill>
                  <a:schemeClr val="accent1"/>
                </a:solidFill>
              </a:rPr>
              <a:t>Identity needs </a:t>
            </a:r>
            <a:r>
              <a:rPr lang="en-US" dirty="0"/>
              <a:t>– communication helps us decide who we are and who we want to be.</a:t>
            </a:r>
          </a:p>
          <a:p>
            <a:r>
              <a:rPr lang="en-US" dirty="0">
                <a:solidFill>
                  <a:schemeClr val="accent1"/>
                </a:solidFill>
              </a:rPr>
              <a:t>Ideological or spiritual needs </a:t>
            </a:r>
            <a:r>
              <a:rPr lang="en-US" dirty="0"/>
              <a:t>– communication lets us share our beliefs and values with others.</a:t>
            </a:r>
          </a:p>
          <a:p>
            <a:r>
              <a:rPr lang="en-US" dirty="0">
                <a:solidFill>
                  <a:schemeClr val="accent1"/>
                </a:solidFill>
              </a:rPr>
              <a:t>Instrumental needs </a:t>
            </a:r>
            <a:r>
              <a:rPr lang="en-US" dirty="0"/>
              <a:t>– communication helps us accomplish many day-to-day tasks.</a:t>
            </a:r>
          </a:p>
          <a:p>
            <a:endParaRPr lang="en-US" dirty="0"/>
          </a:p>
          <a:p>
            <a:endParaRPr lang="en-GB" dirty="0"/>
          </a:p>
        </p:txBody>
      </p:sp>
    </p:spTree>
    <p:extLst>
      <p:ext uri="{BB962C8B-B14F-4D97-AF65-F5344CB8AC3E}">
        <p14:creationId xmlns:p14="http://schemas.microsoft.com/office/powerpoint/2010/main" val="208099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8D216-674B-4B44-A393-E730CD4CD039}"/>
              </a:ext>
            </a:extLst>
          </p:cNvPr>
          <p:cNvSpPr>
            <a:spLocks noGrp="1"/>
          </p:cNvSpPr>
          <p:nvPr>
            <p:ph type="title"/>
          </p:nvPr>
        </p:nvSpPr>
        <p:spPr/>
        <p:txBody>
          <a:bodyPr/>
          <a:lstStyle/>
          <a:p>
            <a:r>
              <a:rPr lang="en-US" dirty="0"/>
              <a:t>   </a:t>
            </a:r>
            <a:r>
              <a:rPr lang="en-US" dirty="0">
                <a:solidFill>
                  <a:schemeClr val="accent1"/>
                </a:solidFill>
              </a:rPr>
              <a:t>Elements of Communication</a:t>
            </a:r>
            <a:endParaRPr lang="en-GB" dirty="0">
              <a:solidFill>
                <a:schemeClr val="accent1"/>
              </a:solidFill>
            </a:endParaRPr>
          </a:p>
        </p:txBody>
      </p:sp>
      <p:sp>
        <p:nvSpPr>
          <p:cNvPr id="3" name="Content Placeholder 2">
            <a:extLst>
              <a:ext uri="{FF2B5EF4-FFF2-40B4-BE49-F238E27FC236}">
                <a16:creationId xmlns:a16="http://schemas.microsoft.com/office/drawing/2014/main" id="{6451736E-C784-4828-8FCB-28A853751D2C}"/>
              </a:ext>
            </a:extLst>
          </p:cNvPr>
          <p:cNvSpPr>
            <a:spLocks noGrp="1"/>
          </p:cNvSpPr>
          <p:nvPr>
            <p:ph idx="1"/>
          </p:nvPr>
        </p:nvSpPr>
        <p:spPr>
          <a:xfrm>
            <a:off x="371061" y="1934817"/>
            <a:ext cx="10982739" cy="4558058"/>
          </a:xfrm>
        </p:spPr>
        <p:txBody>
          <a:bodyPr>
            <a:normAutofit/>
          </a:bodyPr>
          <a:lstStyle/>
          <a:p>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r>
              <a:rPr lang="en-US" dirty="0"/>
              <a:t>Exchange of information involves</a:t>
            </a:r>
          </a:p>
          <a:p>
            <a:pPr lvl="1"/>
            <a:r>
              <a:rPr lang="en-US" dirty="0">
                <a:solidFill>
                  <a:schemeClr val="accent1"/>
                </a:solidFill>
              </a:rPr>
              <a:t>giving information – productive skills (speaking and writing)</a:t>
            </a:r>
          </a:p>
          <a:p>
            <a:pPr lvl="1"/>
            <a:r>
              <a:rPr lang="en-US" dirty="0">
                <a:solidFill>
                  <a:schemeClr val="accent1"/>
                </a:solidFill>
              </a:rPr>
              <a:t>receiving information – receptive skills (listening and reading) </a:t>
            </a:r>
          </a:p>
          <a:p>
            <a:pPr marL="0" indent="0">
              <a:buNone/>
            </a:pPr>
            <a:endParaRPr lang="en-GB" dirty="0"/>
          </a:p>
        </p:txBody>
      </p:sp>
      <p:pic>
        <p:nvPicPr>
          <p:cNvPr id="4" name="Picture 3">
            <a:extLst>
              <a:ext uri="{FF2B5EF4-FFF2-40B4-BE49-F238E27FC236}">
                <a16:creationId xmlns:a16="http://schemas.microsoft.com/office/drawing/2014/main" id="{5D6113BF-D27E-43E1-A3D9-6CF30B66B7A9}"/>
              </a:ext>
            </a:extLst>
          </p:cNvPr>
          <p:cNvPicPr>
            <a:picLocks noChangeAspect="1"/>
          </p:cNvPicPr>
          <p:nvPr/>
        </p:nvPicPr>
        <p:blipFill>
          <a:blip r:embed="rId2"/>
          <a:stretch>
            <a:fillRect/>
          </a:stretch>
        </p:blipFill>
        <p:spPr>
          <a:xfrm>
            <a:off x="1245704" y="1510748"/>
            <a:ext cx="6851374" cy="3286539"/>
          </a:xfrm>
          <a:prstGeom prst="rect">
            <a:avLst/>
          </a:prstGeom>
        </p:spPr>
      </p:pic>
    </p:spTree>
    <p:extLst>
      <p:ext uri="{BB962C8B-B14F-4D97-AF65-F5344CB8AC3E}">
        <p14:creationId xmlns:p14="http://schemas.microsoft.com/office/powerpoint/2010/main" val="1210448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AD479-03F5-4930-B80E-C68D18779F3E}"/>
              </a:ext>
            </a:extLst>
          </p:cNvPr>
          <p:cNvSpPr>
            <a:spLocks noGrp="1"/>
          </p:cNvSpPr>
          <p:nvPr>
            <p:ph type="title"/>
          </p:nvPr>
        </p:nvSpPr>
        <p:spPr/>
        <p:txBody>
          <a:bodyPr/>
          <a:lstStyle/>
          <a:p>
            <a:pPr algn="ctr"/>
            <a:r>
              <a:rPr lang="en-US" dirty="0">
                <a:solidFill>
                  <a:schemeClr val="accent1"/>
                </a:solidFill>
              </a:rPr>
              <a:t>Modes of Communication</a:t>
            </a:r>
            <a:endParaRPr lang="en-GB" dirty="0">
              <a:solidFill>
                <a:schemeClr val="accent1"/>
              </a:solidFill>
            </a:endParaRPr>
          </a:p>
        </p:txBody>
      </p:sp>
      <p:sp>
        <p:nvSpPr>
          <p:cNvPr id="3" name="Content Placeholder 2">
            <a:extLst>
              <a:ext uri="{FF2B5EF4-FFF2-40B4-BE49-F238E27FC236}">
                <a16:creationId xmlns:a16="http://schemas.microsoft.com/office/drawing/2014/main" id="{77562CC2-E73B-4420-9AFB-726C9720DE71}"/>
              </a:ext>
            </a:extLst>
          </p:cNvPr>
          <p:cNvSpPr>
            <a:spLocks noGrp="1"/>
          </p:cNvSpPr>
          <p:nvPr>
            <p:ph idx="1"/>
          </p:nvPr>
        </p:nvSpPr>
        <p:spPr/>
        <p:txBody>
          <a:bodyPr>
            <a:normAutofit fontScale="92500"/>
          </a:bodyPr>
          <a:lstStyle/>
          <a:p>
            <a:r>
              <a:rPr lang="en-US" sz="3600" dirty="0">
                <a:solidFill>
                  <a:schemeClr val="accent1"/>
                </a:solidFill>
              </a:rPr>
              <a:t>Verbal</a:t>
            </a:r>
            <a:r>
              <a:rPr lang="en-US" sz="3600" dirty="0"/>
              <a:t> (linguistic modes – spoken or written): any types?</a:t>
            </a:r>
          </a:p>
          <a:p>
            <a:r>
              <a:rPr lang="en-US" sz="3600" dirty="0">
                <a:solidFill>
                  <a:schemeClr val="accent1"/>
                </a:solidFill>
              </a:rPr>
              <a:t>Non-verbal</a:t>
            </a:r>
            <a:r>
              <a:rPr lang="en-US" sz="3600" dirty="0"/>
              <a:t> (no words or language – para linguistic modes: facial expression, gesture, eye contact, body posture, movement, touch, etc.) </a:t>
            </a:r>
          </a:p>
          <a:p>
            <a:r>
              <a:rPr lang="en-US" sz="3600" dirty="0">
                <a:solidFill>
                  <a:schemeClr val="accent1"/>
                </a:solidFill>
              </a:rPr>
              <a:t>Visual</a:t>
            </a:r>
            <a:r>
              <a:rPr lang="en-US" sz="3600" dirty="0"/>
              <a:t> (the use of images, pictures): examples, traffic lights, sign for slippery surface, road signs, images in ads, etc.</a:t>
            </a:r>
          </a:p>
          <a:p>
            <a:r>
              <a:rPr lang="en-US" sz="3600" dirty="0"/>
              <a:t>To what extent do these work independently of each other or collectively in a single communicative event?</a:t>
            </a:r>
            <a:endParaRPr lang="en-GB" sz="3600" dirty="0"/>
          </a:p>
        </p:txBody>
      </p:sp>
    </p:spTree>
    <p:extLst>
      <p:ext uri="{BB962C8B-B14F-4D97-AF65-F5344CB8AC3E}">
        <p14:creationId xmlns:p14="http://schemas.microsoft.com/office/powerpoint/2010/main" val="713624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62FC7-C485-49A7-B8DD-02F45E0AACEC}"/>
              </a:ext>
            </a:extLst>
          </p:cNvPr>
          <p:cNvSpPr>
            <a:spLocks noGrp="1"/>
          </p:cNvSpPr>
          <p:nvPr>
            <p:ph type="title"/>
          </p:nvPr>
        </p:nvSpPr>
        <p:spPr/>
        <p:txBody>
          <a:bodyPr/>
          <a:lstStyle/>
          <a:p>
            <a:pPr algn="ctr"/>
            <a:r>
              <a:rPr lang="en-US" dirty="0">
                <a:solidFill>
                  <a:schemeClr val="accent1"/>
                </a:solidFill>
              </a:rPr>
              <a:t>Effective Communication</a:t>
            </a:r>
            <a:endParaRPr lang="en-GB" dirty="0">
              <a:solidFill>
                <a:schemeClr val="accent1"/>
              </a:solidFill>
            </a:endParaRPr>
          </a:p>
        </p:txBody>
      </p:sp>
      <p:sp>
        <p:nvSpPr>
          <p:cNvPr id="3" name="Content Placeholder 2">
            <a:extLst>
              <a:ext uri="{FF2B5EF4-FFF2-40B4-BE49-F238E27FC236}">
                <a16:creationId xmlns:a16="http://schemas.microsoft.com/office/drawing/2014/main" id="{60324A48-E35F-4747-B4BE-CACE468F65CE}"/>
              </a:ext>
            </a:extLst>
          </p:cNvPr>
          <p:cNvSpPr>
            <a:spLocks noGrp="1"/>
          </p:cNvSpPr>
          <p:nvPr>
            <p:ph idx="1"/>
          </p:nvPr>
        </p:nvSpPr>
        <p:spPr>
          <a:xfrm>
            <a:off x="838200" y="1485900"/>
            <a:ext cx="10515600" cy="4691063"/>
          </a:xfrm>
        </p:spPr>
        <p:txBody>
          <a:bodyPr>
            <a:normAutofit/>
          </a:bodyPr>
          <a:lstStyle/>
          <a:p>
            <a:r>
              <a:rPr lang="en-US" sz="2400" dirty="0"/>
              <a:t>Effective communication happens when people involved in the communication achieve shared understanding and meaning of messages.</a:t>
            </a:r>
          </a:p>
          <a:p>
            <a:r>
              <a:rPr lang="en-US" sz="2400" dirty="0"/>
              <a:t>Apply basic principles of communication skills for effective communication – 7 Cs:</a:t>
            </a:r>
          </a:p>
          <a:p>
            <a:pPr lvl="1"/>
            <a:r>
              <a:rPr lang="en-US" dirty="0">
                <a:solidFill>
                  <a:schemeClr val="accent1"/>
                </a:solidFill>
              </a:rPr>
              <a:t>clear</a:t>
            </a:r>
            <a:r>
              <a:rPr lang="en-US" dirty="0"/>
              <a:t> – be clear about what you want to say or write.</a:t>
            </a:r>
          </a:p>
          <a:p>
            <a:pPr lvl="1"/>
            <a:r>
              <a:rPr lang="en-US" dirty="0">
                <a:solidFill>
                  <a:schemeClr val="accent1"/>
                </a:solidFill>
              </a:rPr>
              <a:t>concise</a:t>
            </a:r>
            <a:r>
              <a:rPr lang="en-US" dirty="0"/>
              <a:t> – use simple words and say only what is needed.</a:t>
            </a:r>
          </a:p>
          <a:p>
            <a:pPr lvl="1"/>
            <a:r>
              <a:rPr lang="en-US" dirty="0">
                <a:solidFill>
                  <a:schemeClr val="accent1"/>
                </a:solidFill>
              </a:rPr>
              <a:t>concrete</a:t>
            </a:r>
            <a:r>
              <a:rPr lang="en-US" dirty="0"/>
              <a:t> – use exact words, phrases, and use facts and figures.</a:t>
            </a:r>
          </a:p>
          <a:p>
            <a:pPr lvl="1"/>
            <a:r>
              <a:rPr lang="en-US" dirty="0">
                <a:solidFill>
                  <a:schemeClr val="accent1"/>
                </a:solidFill>
              </a:rPr>
              <a:t>correct</a:t>
            </a:r>
            <a:r>
              <a:rPr lang="en-US" dirty="0"/>
              <a:t> – use correct spellings, language and grammar</a:t>
            </a:r>
          </a:p>
          <a:p>
            <a:pPr lvl="1"/>
            <a:r>
              <a:rPr lang="en-US" dirty="0">
                <a:solidFill>
                  <a:schemeClr val="accent1"/>
                </a:solidFill>
              </a:rPr>
              <a:t>coherent</a:t>
            </a:r>
            <a:r>
              <a:rPr lang="en-US" dirty="0"/>
              <a:t> – your words should make sense and be related to the main topic of </a:t>
            </a:r>
            <a:r>
              <a:rPr lang="en-US" dirty="0">
                <a:solidFill>
                  <a:schemeClr val="accent1"/>
                </a:solidFill>
              </a:rPr>
              <a:t>discussion</a:t>
            </a:r>
            <a:r>
              <a:rPr lang="en-US" dirty="0"/>
              <a:t>.</a:t>
            </a:r>
          </a:p>
          <a:p>
            <a:pPr lvl="1"/>
            <a:r>
              <a:rPr lang="en-US" dirty="0">
                <a:solidFill>
                  <a:schemeClr val="accent1"/>
                </a:solidFill>
              </a:rPr>
              <a:t>complete</a:t>
            </a:r>
            <a:r>
              <a:rPr lang="en-US" dirty="0"/>
              <a:t> – your message should have all the needed information.</a:t>
            </a:r>
          </a:p>
          <a:p>
            <a:pPr lvl="1"/>
            <a:r>
              <a:rPr lang="en-US" dirty="0">
                <a:solidFill>
                  <a:schemeClr val="accent1"/>
                </a:solidFill>
              </a:rPr>
              <a:t>courteous</a:t>
            </a:r>
            <a:r>
              <a:rPr lang="en-US" dirty="0"/>
              <a:t> – be respectful, friendly and honest.   </a:t>
            </a:r>
            <a:endParaRPr lang="en-GB" dirty="0"/>
          </a:p>
        </p:txBody>
      </p:sp>
    </p:spTree>
    <p:extLst>
      <p:ext uri="{BB962C8B-B14F-4D97-AF65-F5344CB8AC3E}">
        <p14:creationId xmlns:p14="http://schemas.microsoft.com/office/powerpoint/2010/main" val="23436411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E9596-4321-42A0-ACA6-DB80E5F8B902}"/>
              </a:ext>
            </a:extLst>
          </p:cNvPr>
          <p:cNvSpPr>
            <a:spLocks noGrp="1"/>
          </p:cNvSpPr>
          <p:nvPr>
            <p:ph type="title"/>
          </p:nvPr>
        </p:nvSpPr>
        <p:spPr/>
        <p:txBody>
          <a:bodyPr/>
          <a:lstStyle/>
          <a:p>
            <a:pPr algn="ctr"/>
            <a:r>
              <a:rPr lang="en-US" dirty="0">
                <a:solidFill>
                  <a:schemeClr val="accent1"/>
                </a:solidFill>
              </a:rPr>
              <a:t>Barriers of Effective Communication</a:t>
            </a:r>
            <a:endParaRPr lang="en-GB" dirty="0">
              <a:solidFill>
                <a:schemeClr val="accent1"/>
              </a:solidFill>
            </a:endParaRPr>
          </a:p>
        </p:txBody>
      </p:sp>
      <p:sp>
        <p:nvSpPr>
          <p:cNvPr id="3" name="Content Placeholder 2">
            <a:extLst>
              <a:ext uri="{FF2B5EF4-FFF2-40B4-BE49-F238E27FC236}">
                <a16:creationId xmlns:a16="http://schemas.microsoft.com/office/drawing/2014/main" id="{4A5020D6-10D8-4769-9D6E-490C6B97E171}"/>
              </a:ext>
            </a:extLst>
          </p:cNvPr>
          <p:cNvSpPr>
            <a:spLocks noGrp="1"/>
          </p:cNvSpPr>
          <p:nvPr>
            <p:ph idx="1"/>
          </p:nvPr>
        </p:nvSpPr>
        <p:spPr>
          <a:xfrm>
            <a:off x="838200" y="1409700"/>
            <a:ext cx="10515600" cy="4988559"/>
          </a:xfrm>
        </p:spPr>
        <p:txBody>
          <a:bodyPr>
            <a:normAutofit/>
          </a:bodyPr>
          <a:lstStyle/>
          <a:p>
            <a:r>
              <a:rPr lang="en-US" dirty="0"/>
              <a:t>A barrier to interpersonal communication is anything that </a:t>
            </a:r>
            <a:r>
              <a:rPr lang="en-US" u="sng" dirty="0"/>
              <a:t>prevents</a:t>
            </a:r>
            <a:r>
              <a:rPr lang="en-US" dirty="0"/>
              <a:t>, </a:t>
            </a:r>
            <a:r>
              <a:rPr lang="en-US" u="sng" dirty="0"/>
              <a:t>restricts</a:t>
            </a:r>
            <a:r>
              <a:rPr lang="en-US" dirty="0"/>
              <a:t> or </a:t>
            </a:r>
            <a:r>
              <a:rPr lang="en-US" u="sng" dirty="0"/>
              <a:t>impedes</a:t>
            </a:r>
            <a:r>
              <a:rPr lang="en-US" dirty="0"/>
              <a:t> the sharing and understanding of messages between and among the interactants.</a:t>
            </a:r>
          </a:p>
          <a:p>
            <a:r>
              <a:rPr lang="en-US" dirty="0"/>
              <a:t>Barriers </a:t>
            </a:r>
          </a:p>
          <a:p>
            <a:endParaRPr lang="en-US" dirty="0"/>
          </a:p>
          <a:p>
            <a:pPr marL="457200" lvl="1" indent="0">
              <a:buNone/>
            </a:pPr>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GB" dirty="0"/>
          </a:p>
        </p:txBody>
      </p:sp>
      <p:graphicFrame>
        <p:nvGraphicFramePr>
          <p:cNvPr id="7" name="Table 7">
            <a:extLst>
              <a:ext uri="{FF2B5EF4-FFF2-40B4-BE49-F238E27FC236}">
                <a16:creationId xmlns:a16="http://schemas.microsoft.com/office/drawing/2014/main" id="{B42E22C7-6CC0-4843-A915-A0FE8499B5EB}"/>
              </a:ext>
            </a:extLst>
          </p:cNvPr>
          <p:cNvGraphicFramePr>
            <a:graphicFrameLocks noGrp="1"/>
          </p:cNvGraphicFramePr>
          <p:nvPr>
            <p:extLst>
              <p:ext uri="{D42A27DB-BD31-4B8C-83A1-F6EECF244321}">
                <p14:modId xmlns:p14="http://schemas.microsoft.com/office/powerpoint/2010/main" val="1199369272"/>
              </p:ext>
            </p:extLst>
          </p:nvPr>
        </p:nvGraphicFramePr>
        <p:xfrm>
          <a:off x="1181100" y="3162300"/>
          <a:ext cx="9639300" cy="3235960"/>
        </p:xfrm>
        <a:graphic>
          <a:graphicData uri="http://schemas.openxmlformats.org/drawingml/2006/table">
            <a:tbl>
              <a:tblPr firstRow="1" bandRow="1">
                <a:tableStyleId>{5C22544A-7EE6-4342-B048-85BDC9FD1C3A}</a:tableStyleId>
              </a:tblPr>
              <a:tblGrid>
                <a:gridCol w="5219700">
                  <a:extLst>
                    <a:ext uri="{9D8B030D-6E8A-4147-A177-3AD203B41FA5}">
                      <a16:colId xmlns:a16="http://schemas.microsoft.com/office/drawing/2014/main" val="1934713585"/>
                    </a:ext>
                  </a:extLst>
                </a:gridCol>
                <a:gridCol w="4419600">
                  <a:extLst>
                    <a:ext uri="{9D8B030D-6E8A-4147-A177-3AD203B41FA5}">
                      <a16:colId xmlns:a16="http://schemas.microsoft.com/office/drawing/2014/main" val="2982892221"/>
                    </a:ext>
                  </a:extLst>
                </a:gridCol>
              </a:tblGrid>
              <a:tr h="3235960">
                <a:tc>
                  <a:txBody>
                    <a:bodyPr/>
                    <a:lstStyle/>
                    <a:p>
                      <a:pPr marL="342900" indent="-342900">
                        <a:buFont typeface="Arial" panose="020B0604020202020204" pitchFamily="34" charset="0"/>
                        <a:buChar char="•"/>
                      </a:pPr>
                      <a:r>
                        <a:rPr lang="en-US" sz="2400" dirty="0"/>
                        <a:t>language</a:t>
                      </a:r>
                    </a:p>
                    <a:p>
                      <a:pPr marL="342900" indent="-342900">
                        <a:buFont typeface="Arial" panose="020B0604020202020204" pitchFamily="34" charset="0"/>
                        <a:buChar char="•"/>
                      </a:pPr>
                      <a:r>
                        <a:rPr lang="en-US" sz="2400" dirty="0"/>
                        <a:t>too many questions and arguments</a:t>
                      </a:r>
                    </a:p>
                    <a:p>
                      <a:pPr marL="342900" indent="-342900">
                        <a:buFont typeface="Arial" panose="020B0604020202020204" pitchFamily="34" charset="0"/>
                        <a:buChar char="•"/>
                      </a:pPr>
                      <a:r>
                        <a:rPr lang="en-GB" sz="2400" dirty="0"/>
                        <a:t>discomfort with the topic</a:t>
                      </a:r>
                    </a:p>
                    <a:p>
                      <a:pPr marL="342900" indent="-342900">
                        <a:buFont typeface="Arial" panose="020B0604020202020204" pitchFamily="34" charset="0"/>
                        <a:buChar char="•"/>
                      </a:pPr>
                      <a:r>
                        <a:rPr lang="en-GB" sz="2400" dirty="0"/>
                        <a:t>lack of interest </a:t>
                      </a:r>
                    </a:p>
                    <a:p>
                      <a:pPr marL="342900" indent="-342900">
                        <a:buFont typeface="Arial" panose="020B0604020202020204" pitchFamily="34" charset="0"/>
                        <a:buChar char="•"/>
                      </a:pPr>
                      <a:r>
                        <a:rPr lang="en-GB" sz="2400" dirty="0"/>
                        <a:t>emotions and attitudes</a:t>
                      </a:r>
                    </a:p>
                    <a:p>
                      <a:pPr marL="342900" indent="-342900">
                        <a:buFont typeface="Arial" panose="020B0604020202020204" pitchFamily="34" charset="0"/>
                        <a:buChar char="•"/>
                      </a:pPr>
                      <a:r>
                        <a:rPr lang="en-GB" sz="2400" dirty="0"/>
                        <a:t>prejudice </a:t>
                      </a:r>
                    </a:p>
                    <a:p>
                      <a:r>
                        <a:rPr lang="en-GB" sz="2400" dirty="0"/>
                        <a:t> </a:t>
                      </a:r>
                    </a:p>
                  </a:txBody>
                  <a:tcPr/>
                </a:tc>
                <a:tc>
                  <a:txBody>
                    <a:bodyPr/>
                    <a:lstStyle/>
                    <a:p>
                      <a:pPr marL="342900" indent="-342900">
                        <a:buFont typeface="Arial" panose="020B0604020202020204" pitchFamily="34" charset="0"/>
                        <a:buChar char="•"/>
                      </a:pPr>
                      <a:r>
                        <a:rPr lang="en-US" sz="2400" dirty="0"/>
                        <a:t>noise</a:t>
                      </a:r>
                    </a:p>
                    <a:p>
                      <a:pPr marL="342900" indent="-342900">
                        <a:buFont typeface="Arial" panose="020B0604020202020204" pitchFamily="34" charset="0"/>
                        <a:buChar char="•"/>
                      </a:pPr>
                      <a:r>
                        <a:rPr lang="en-US" sz="2400" dirty="0"/>
                        <a:t>physical distractions</a:t>
                      </a:r>
                    </a:p>
                    <a:p>
                      <a:pPr marL="342900" indent="-342900">
                        <a:buFont typeface="Arial" panose="020B0604020202020204" pitchFamily="34" charset="0"/>
                        <a:buChar char="•"/>
                      </a:pPr>
                      <a:r>
                        <a:rPr lang="en-US" sz="2400" dirty="0"/>
                        <a:t>culture</a:t>
                      </a:r>
                    </a:p>
                    <a:p>
                      <a:pPr marL="342900" indent="-342900">
                        <a:buFont typeface="Arial" panose="020B0604020202020204" pitchFamily="34" charset="0"/>
                        <a:buChar char="•"/>
                      </a:pPr>
                      <a:r>
                        <a:rPr lang="en-US" sz="2400" dirty="0"/>
                        <a:t>disability</a:t>
                      </a:r>
                    </a:p>
                    <a:p>
                      <a:pPr marL="342900" indent="-342900">
                        <a:buFont typeface="Arial" panose="020B0604020202020204" pitchFamily="34" charset="0"/>
                        <a:buChar char="•"/>
                      </a:pPr>
                      <a:r>
                        <a:rPr lang="en-US" sz="2400" dirty="0"/>
                        <a:t>past experience</a:t>
                      </a:r>
                    </a:p>
                    <a:p>
                      <a:pPr marL="342900" indent="-342900">
                        <a:buFont typeface="Arial" panose="020B0604020202020204" pitchFamily="34" charset="0"/>
                        <a:buChar char="•"/>
                      </a:pPr>
                      <a:r>
                        <a:rPr lang="en-US" sz="2400" dirty="0"/>
                        <a:t>time and space</a:t>
                      </a:r>
                    </a:p>
                    <a:p>
                      <a:endParaRPr lang="en-US" dirty="0"/>
                    </a:p>
                    <a:p>
                      <a:r>
                        <a:rPr lang="en-US" dirty="0"/>
                        <a:t> </a:t>
                      </a:r>
                    </a:p>
                    <a:p>
                      <a:endParaRPr lang="en-GB" dirty="0"/>
                    </a:p>
                  </a:txBody>
                  <a:tcPr/>
                </a:tc>
                <a:extLst>
                  <a:ext uri="{0D108BD9-81ED-4DB2-BD59-A6C34878D82A}">
                    <a16:rowId xmlns:a16="http://schemas.microsoft.com/office/drawing/2014/main" val="2579144023"/>
                  </a:ext>
                </a:extLst>
              </a:tr>
            </a:tbl>
          </a:graphicData>
        </a:graphic>
      </p:graphicFrame>
    </p:spTree>
    <p:extLst>
      <p:ext uri="{BB962C8B-B14F-4D97-AF65-F5344CB8AC3E}">
        <p14:creationId xmlns:p14="http://schemas.microsoft.com/office/powerpoint/2010/main" val="2421369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BEED7-BE95-4178-85C6-69B0B013E93E}"/>
              </a:ext>
            </a:extLst>
          </p:cNvPr>
          <p:cNvSpPr>
            <a:spLocks noGrp="1"/>
          </p:cNvSpPr>
          <p:nvPr>
            <p:ph type="title"/>
          </p:nvPr>
        </p:nvSpPr>
        <p:spPr/>
        <p:txBody>
          <a:bodyPr/>
          <a:lstStyle/>
          <a:p>
            <a:pPr algn="ctr"/>
            <a:r>
              <a:rPr lang="en-US" dirty="0">
                <a:solidFill>
                  <a:schemeClr val="accent1"/>
                </a:solidFill>
              </a:rPr>
              <a:t>Barriers of Effective Communication</a:t>
            </a:r>
            <a:endParaRPr lang="en-GB" dirty="0">
              <a:solidFill>
                <a:schemeClr val="accent1"/>
              </a:solidFill>
            </a:endParaRPr>
          </a:p>
        </p:txBody>
      </p:sp>
      <p:sp>
        <p:nvSpPr>
          <p:cNvPr id="3" name="Content Placeholder 2">
            <a:extLst>
              <a:ext uri="{FF2B5EF4-FFF2-40B4-BE49-F238E27FC236}">
                <a16:creationId xmlns:a16="http://schemas.microsoft.com/office/drawing/2014/main" id="{7CF02C9A-EBFD-41BD-8C34-264C099B0C88}"/>
              </a:ext>
            </a:extLst>
          </p:cNvPr>
          <p:cNvSpPr>
            <a:spLocks noGrp="1"/>
          </p:cNvSpPr>
          <p:nvPr>
            <p:ph idx="1"/>
          </p:nvPr>
        </p:nvSpPr>
        <p:spPr/>
        <p:txBody>
          <a:bodyPr>
            <a:normAutofit/>
          </a:bodyPr>
          <a:lstStyle/>
          <a:p>
            <a:r>
              <a:rPr lang="en-US" sz="3200" dirty="0"/>
              <a:t>Working in pairs, discuss how any one of points listed on the previous slide acts as a barrier to effective communication.</a:t>
            </a:r>
          </a:p>
          <a:p>
            <a:endParaRPr lang="en-US" sz="3200" dirty="0"/>
          </a:p>
          <a:p>
            <a:pPr marL="0" indent="0">
              <a:buNone/>
            </a:pPr>
            <a:endParaRPr lang="en-US" sz="3200" dirty="0"/>
          </a:p>
          <a:p>
            <a:r>
              <a:rPr lang="en-US" sz="3200" dirty="0"/>
              <a:t>In the same pair, explain how that barrier to communication can be overcome.  </a:t>
            </a:r>
            <a:endParaRPr lang="en-GB" sz="3200" dirty="0"/>
          </a:p>
        </p:txBody>
      </p:sp>
    </p:spTree>
    <p:extLst>
      <p:ext uri="{BB962C8B-B14F-4D97-AF65-F5344CB8AC3E}">
        <p14:creationId xmlns:p14="http://schemas.microsoft.com/office/powerpoint/2010/main" val="1213893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9942A-5A30-4B9E-9DA4-C0BE7D8FA751}"/>
              </a:ext>
            </a:extLst>
          </p:cNvPr>
          <p:cNvSpPr>
            <a:spLocks noGrp="1"/>
          </p:cNvSpPr>
          <p:nvPr>
            <p:ph type="title"/>
          </p:nvPr>
        </p:nvSpPr>
        <p:spPr/>
        <p:txBody>
          <a:bodyPr/>
          <a:lstStyle/>
          <a:p>
            <a:pPr algn="ctr"/>
            <a:r>
              <a:rPr lang="en-US" dirty="0">
                <a:solidFill>
                  <a:schemeClr val="accent1"/>
                </a:solidFill>
              </a:rPr>
              <a:t>Communicating in the University Setting</a:t>
            </a:r>
            <a:endParaRPr lang="en-GB" dirty="0">
              <a:solidFill>
                <a:schemeClr val="accent1"/>
              </a:solidFill>
            </a:endParaRPr>
          </a:p>
        </p:txBody>
      </p:sp>
      <p:sp>
        <p:nvSpPr>
          <p:cNvPr id="3" name="Content Placeholder 2">
            <a:extLst>
              <a:ext uri="{FF2B5EF4-FFF2-40B4-BE49-F238E27FC236}">
                <a16:creationId xmlns:a16="http://schemas.microsoft.com/office/drawing/2014/main" id="{F72E2F0E-496C-4D63-98C1-4A066B58E53D}"/>
              </a:ext>
            </a:extLst>
          </p:cNvPr>
          <p:cNvSpPr>
            <a:spLocks noGrp="1"/>
          </p:cNvSpPr>
          <p:nvPr>
            <p:ph idx="1"/>
          </p:nvPr>
        </p:nvSpPr>
        <p:spPr/>
        <p:txBody>
          <a:bodyPr/>
          <a:lstStyle/>
          <a:p>
            <a:r>
              <a:rPr lang="en-US" dirty="0"/>
              <a:t>It’s a new communication environment.</a:t>
            </a:r>
          </a:p>
          <a:p>
            <a:r>
              <a:rPr lang="en-US" dirty="0"/>
              <a:t>You will engage in ‘</a:t>
            </a:r>
            <a:r>
              <a:rPr lang="en-US" dirty="0">
                <a:solidFill>
                  <a:schemeClr val="accent1"/>
                </a:solidFill>
              </a:rPr>
              <a:t>social</a:t>
            </a:r>
            <a:r>
              <a:rPr lang="en-US" dirty="0"/>
              <a:t>’, ‘</a:t>
            </a:r>
            <a:r>
              <a:rPr lang="en-US" dirty="0">
                <a:solidFill>
                  <a:schemeClr val="accent1"/>
                </a:solidFill>
              </a:rPr>
              <a:t>administrative</a:t>
            </a:r>
            <a:r>
              <a:rPr lang="en-US" dirty="0"/>
              <a:t>’ and, most importantly, ‘</a:t>
            </a:r>
            <a:r>
              <a:rPr lang="en-US" dirty="0">
                <a:solidFill>
                  <a:schemeClr val="accent1"/>
                </a:solidFill>
              </a:rPr>
              <a:t>academic</a:t>
            </a:r>
            <a:r>
              <a:rPr lang="en-US" dirty="0"/>
              <a:t>’ communication.</a:t>
            </a:r>
          </a:p>
          <a:p>
            <a:r>
              <a:rPr lang="en-US" dirty="0"/>
              <a:t>The academic community requires you to be able to communicate in effective and proficient ways, especially with regards to academic communicative styles. One of our main aims in this course, therefore, is to introduce you to academic communicative skills in your discipline.</a:t>
            </a:r>
          </a:p>
          <a:p>
            <a:r>
              <a:rPr lang="en-US" dirty="0"/>
              <a:t> Key communicative/language skills to develop: </a:t>
            </a:r>
            <a:r>
              <a:rPr lang="en-US" dirty="0">
                <a:solidFill>
                  <a:schemeClr val="accent1"/>
                </a:solidFill>
              </a:rPr>
              <a:t>listening</a:t>
            </a:r>
            <a:r>
              <a:rPr lang="en-US" dirty="0"/>
              <a:t>, </a:t>
            </a:r>
            <a:r>
              <a:rPr lang="en-US" dirty="0">
                <a:solidFill>
                  <a:schemeClr val="accent1"/>
                </a:solidFill>
              </a:rPr>
              <a:t>reading</a:t>
            </a:r>
            <a:r>
              <a:rPr lang="en-US" dirty="0"/>
              <a:t>, </a:t>
            </a:r>
            <a:r>
              <a:rPr lang="en-US" dirty="0">
                <a:solidFill>
                  <a:schemeClr val="accent1"/>
                </a:solidFill>
              </a:rPr>
              <a:t>speaking</a:t>
            </a:r>
            <a:r>
              <a:rPr lang="en-US" dirty="0"/>
              <a:t>, </a:t>
            </a:r>
            <a:r>
              <a:rPr lang="en-US" dirty="0">
                <a:solidFill>
                  <a:schemeClr val="accent1"/>
                </a:solidFill>
              </a:rPr>
              <a:t>writing</a:t>
            </a:r>
            <a:r>
              <a:rPr lang="en-US" dirty="0"/>
              <a:t>, and</a:t>
            </a:r>
            <a:r>
              <a:rPr lang="en-US" dirty="0">
                <a:solidFill>
                  <a:schemeClr val="accent1"/>
                </a:solidFill>
              </a:rPr>
              <a:t> critical thinking</a:t>
            </a:r>
            <a:r>
              <a:rPr lang="en-US" dirty="0"/>
              <a:t>. </a:t>
            </a:r>
            <a:endParaRPr lang="en-GB" dirty="0"/>
          </a:p>
        </p:txBody>
      </p:sp>
    </p:spTree>
    <p:extLst>
      <p:ext uri="{BB962C8B-B14F-4D97-AF65-F5344CB8AC3E}">
        <p14:creationId xmlns:p14="http://schemas.microsoft.com/office/powerpoint/2010/main" val="977394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039DF-692D-49B8-AE8F-67F0DE198EF8}"/>
              </a:ext>
            </a:extLst>
          </p:cNvPr>
          <p:cNvSpPr>
            <a:spLocks noGrp="1"/>
          </p:cNvSpPr>
          <p:nvPr>
            <p:ph type="title"/>
          </p:nvPr>
        </p:nvSpPr>
        <p:spPr/>
        <p:txBody>
          <a:bodyPr/>
          <a:lstStyle/>
          <a:p>
            <a:pPr algn="ctr"/>
            <a:r>
              <a:rPr lang="en-US" dirty="0">
                <a:solidFill>
                  <a:schemeClr val="accent1"/>
                </a:solidFill>
              </a:rPr>
              <a:t>Communicating in the University Setting</a:t>
            </a:r>
            <a:endParaRPr lang="en-GB" dirty="0">
              <a:solidFill>
                <a:schemeClr val="accent1"/>
              </a:solidFill>
            </a:endParaRPr>
          </a:p>
        </p:txBody>
      </p:sp>
      <p:sp>
        <p:nvSpPr>
          <p:cNvPr id="3" name="Content Placeholder 2">
            <a:extLst>
              <a:ext uri="{FF2B5EF4-FFF2-40B4-BE49-F238E27FC236}">
                <a16:creationId xmlns:a16="http://schemas.microsoft.com/office/drawing/2014/main" id="{DCEFCD21-CA0C-4D14-89AC-1091A806B465}"/>
              </a:ext>
            </a:extLst>
          </p:cNvPr>
          <p:cNvSpPr>
            <a:spLocks noGrp="1"/>
          </p:cNvSpPr>
          <p:nvPr>
            <p:ph idx="1"/>
          </p:nvPr>
        </p:nvSpPr>
        <p:spPr>
          <a:xfrm>
            <a:off x="838200" y="1825625"/>
            <a:ext cx="10515600" cy="4667250"/>
          </a:xfrm>
        </p:spPr>
        <p:txBody>
          <a:bodyPr>
            <a:normAutofit fontScale="92500" lnSpcReduction="20000"/>
          </a:bodyPr>
          <a:lstStyle/>
          <a:p>
            <a:r>
              <a:rPr lang="en-US" dirty="0"/>
              <a:t>Communication text types (genres) you will be encountering.</a:t>
            </a:r>
          </a:p>
          <a:p>
            <a:r>
              <a:rPr lang="en-US" dirty="0"/>
              <a:t>Spoken texts </a:t>
            </a:r>
          </a:p>
          <a:p>
            <a:pPr lvl="1"/>
            <a:r>
              <a:rPr lang="en-US" sz="2200" dirty="0">
                <a:solidFill>
                  <a:schemeClr val="accent1"/>
                </a:solidFill>
              </a:rPr>
              <a:t>lectures, </a:t>
            </a:r>
          </a:p>
          <a:p>
            <a:pPr lvl="1"/>
            <a:r>
              <a:rPr lang="en-US" sz="2200" dirty="0">
                <a:solidFill>
                  <a:schemeClr val="accent1"/>
                </a:solidFill>
              </a:rPr>
              <a:t>in-class presentations, </a:t>
            </a:r>
          </a:p>
          <a:p>
            <a:pPr lvl="1"/>
            <a:r>
              <a:rPr lang="en-US" sz="2200" dirty="0">
                <a:solidFill>
                  <a:schemeClr val="accent1"/>
                </a:solidFill>
              </a:rPr>
              <a:t>group discussions, </a:t>
            </a:r>
          </a:p>
          <a:p>
            <a:pPr lvl="1"/>
            <a:r>
              <a:rPr lang="en-US" sz="2200" dirty="0">
                <a:solidFill>
                  <a:schemeClr val="accent1"/>
                </a:solidFill>
              </a:rPr>
              <a:t>seminar presentations, </a:t>
            </a:r>
          </a:p>
          <a:p>
            <a:pPr lvl="1"/>
            <a:r>
              <a:rPr lang="en-US" sz="2200" dirty="0">
                <a:solidFill>
                  <a:schemeClr val="accent1"/>
                </a:solidFill>
              </a:rPr>
              <a:t>lecturer-student advisory sessions</a:t>
            </a:r>
            <a:r>
              <a:rPr lang="en-US" sz="2000" dirty="0"/>
              <a:t>, etc. </a:t>
            </a:r>
          </a:p>
          <a:p>
            <a:r>
              <a:rPr lang="en-US" dirty="0"/>
              <a:t>Written texts</a:t>
            </a:r>
          </a:p>
          <a:p>
            <a:pPr lvl="1"/>
            <a:r>
              <a:rPr lang="en-US" sz="2200" dirty="0">
                <a:solidFill>
                  <a:schemeClr val="accent1"/>
                </a:solidFill>
              </a:rPr>
              <a:t>textbooks</a:t>
            </a:r>
          </a:p>
          <a:p>
            <a:pPr lvl="1"/>
            <a:r>
              <a:rPr lang="en-US" sz="2200" dirty="0">
                <a:solidFill>
                  <a:schemeClr val="accent1"/>
                </a:solidFill>
              </a:rPr>
              <a:t>research monographs/books</a:t>
            </a:r>
          </a:p>
          <a:p>
            <a:pPr lvl="1"/>
            <a:r>
              <a:rPr lang="en-US" sz="2200" dirty="0">
                <a:solidFill>
                  <a:schemeClr val="accent1"/>
                </a:solidFill>
              </a:rPr>
              <a:t>research articles</a:t>
            </a:r>
          </a:p>
          <a:p>
            <a:pPr lvl="1"/>
            <a:r>
              <a:rPr lang="en-US" sz="2200" dirty="0">
                <a:solidFill>
                  <a:schemeClr val="accent1"/>
                </a:solidFill>
              </a:rPr>
              <a:t>technical reports</a:t>
            </a:r>
          </a:p>
          <a:p>
            <a:pPr lvl="1"/>
            <a:r>
              <a:rPr lang="en-US" sz="2200" dirty="0">
                <a:solidFill>
                  <a:schemeClr val="accent1"/>
                </a:solidFill>
              </a:rPr>
              <a:t>student essays</a:t>
            </a:r>
          </a:p>
          <a:p>
            <a:pPr lvl="1"/>
            <a:r>
              <a:rPr lang="en-US" sz="2200" dirty="0">
                <a:solidFill>
                  <a:schemeClr val="accent1"/>
                </a:solidFill>
              </a:rPr>
              <a:t>case evaluations</a:t>
            </a:r>
          </a:p>
          <a:p>
            <a:pPr lvl="1"/>
            <a:r>
              <a:rPr lang="en-US" sz="2200" dirty="0">
                <a:solidFill>
                  <a:schemeClr val="accent1"/>
                </a:solidFill>
              </a:rPr>
              <a:t>student (mini) research projects</a:t>
            </a:r>
            <a:r>
              <a:rPr lang="en-US" dirty="0"/>
              <a:t>, etc. </a:t>
            </a:r>
          </a:p>
          <a:p>
            <a:pPr lvl="1"/>
            <a:endParaRPr lang="en-US" dirty="0"/>
          </a:p>
          <a:p>
            <a:pPr lvl="1"/>
            <a:endParaRPr lang="en-GB" dirty="0"/>
          </a:p>
        </p:txBody>
      </p:sp>
    </p:spTree>
    <p:extLst>
      <p:ext uri="{BB962C8B-B14F-4D97-AF65-F5344CB8AC3E}">
        <p14:creationId xmlns:p14="http://schemas.microsoft.com/office/powerpoint/2010/main" val="23842353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921</TotalTime>
  <Words>893</Words>
  <Application>Microsoft Office PowerPoint</Application>
  <PresentationFormat>Widescreen</PresentationFormat>
  <Paragraphs>109</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Symbol</vt:lpstr>
      <vt:lpstr>Times New Roman</vt:lpstr>
      <vt:lpstr>Office Theme</vt:lpstr>
      <vt:lpstr>COM 141/LEC/16 Communication and Academic Literacy Skills for Science</vt:lpstr>
      <vt:lpstr>COURSE TITLE AND DESCRIPTION</vt:lpstr>
      <vt:lpstr>COURSE OBJECTIVES</vt:lpstr>
      <vt:lpstr>Understanding Human Communication</vt:lpstr>
      <vt:lpstr>Understanding Human Communication</vt:lpstr>
      <vt:lpstr>   Elements of Communication</vt:lpstr>
      <vt:lpstr>Modes of Communication</vt:lpstr>
      <vt:lpstr>Effective Communication</vt:lpstr>
      <vt:lpstr>Barriers of Effective Communication</vt:lpstr>
      <vt:lpstr>Barriers of Effective Communication</vt:lpstr>
      <vt:lpstr>Communicating in the University Setting</vt:lpstr>
      <vt:lpstr>Communicating in the University Setting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 151/LEC/04</dc:title>
  <dc:creator>Dr. Ngula</dc:creator>
  <cp:lastModifiedBy>Richmond Ngula (Dr.)</cp:lastModifiedBy>
  <cp:revision>40</cp:revision>
  <dcterms:created xsi:type="dcterms:W3CDTF">2021-09-20T04:20:53Z</dcterms:created>
  <dcterms:modified xsi:type="dcterms:W3CDTF">2025-08-18T17:39:10Z</dcterms:modified>
</cp:coreProperties>
</file>