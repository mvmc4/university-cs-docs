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4" y="-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C808-590E-2036-BC92-4CA1CD5BE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6E1A12-1309-C69B-B10A-4E7F7A8ED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E1A14-7606-F165-FE63-BF97A2A7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5EBF4-47EA-3C3A-2F1B-B3546D69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76F94-68EF-AE06-1496-4F079A1F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3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68D1-BA27-F131-3A30-61AD8544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40EE9-48D0-4244-BE23-77F9FCD42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ADF7E-03DA-D9F7-7B34-41BF13515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0EFDC-B58A-FE65-4C51-C48B09961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C5CD3-A771-A697-D91D-B0B42C4D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2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61FD-7DB4-14B6-177C-05BC7C64D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E44F5-0E8C-37D4-E947-2EB7AADF7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932BB-CF48-4462-D59D-0F877CB9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ABFA3-F6FB-4B11-D908-08FCFB34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E286C-17C8-C792-D3B8-490FBE60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25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7C7AE-3798-84E8-6E4E-EFC4EA42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8EC50-65C5-B67A-13F8-70FB6B256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1547D-3135-79C0-760A-E507E5AAF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BEB2C-BEC6-6DEF-290E-BD581D64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ADB43-4CA5-C6C7-077F-780A4D5F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58D69-3D7F-166D-4BC4-D62396B0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4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B66C-BCBD-AD40-2C2A-3F15C8EE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DAE22-DDFD-41EE-0BC0-4DBDF1A8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22D0F-D067-1414-5EFD-50A4BFA45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CAA972-5E54-DDC6-7900-0E2A342F6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3C1BB-BB90-D1D9-82B7-C05C74FD7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5A75E7-2E29-C418-DB39-79E769E2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298AB-E319-16C3-0EA6-81884C165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085F40-D867-4F3B-F1D8-82574FAFB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1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B999-D790-65A5-B658-B6DD1C12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0ECA9-58B2-47C7-7E29-98014B49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AD128-A9A7-3FA4-8D78-C29D9618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E2E36-301B-BFE1-F3C7-4858A0C3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6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AED5D-865C-5BEE-24C9-A3F608F7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AA60C-DA38-CDB5-AFB8-F2FEF3A43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1EC2C-CCB0-7AC0-1885-DF740A27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69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D1C9-6850-92E9-F83F-3BB2894B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8E998-E694-FD3A-C154-B6451A0A5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C19A8-E8BE-9166-FB72-20C98E6DC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67DD8-DF21-D9A5-7F50-7EB1A803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42A71-C831-A79C-BA86-85638E38D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9AE36-D615-4AFE-4140-DAF9F673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7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9D23-2D81-FA15-A48B-CB5DB583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E2140B-7E44-4E72-86B5-DE7A44C29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49776-5B06-6D2E-286E-DE4777D21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7F3F0-9E0A-5F89-2951-C2375F78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A7B5D-D143-9B8D-2B92-8284C5FC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78556-64A4-C682-92DA-1FE4DB29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BACB-8E6D-2E70-9B85-0179B8BA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C19E6-E3A0-3FFE-1402-605A1F122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A56BE-7DF4-AD60-BA97-7E2A41587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18F2B-1605-38E8-495D-5F14A7F2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471B-EDA5-9FE9-D4FB-F35A4DFC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3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8DEC9-FEAE-F75A-CEB4-E24C8AEFE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64843-2B22-7467-D1B1-4C0729F07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5A76A-444C-AEA7-AE75-D05ADBDA0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A4188-BB16-897D-5F9D-17707877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D02BC-DC78-15AF-D46B-93CF0D64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5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1CF8A-3344-14E8-C891-B8782DEE9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84B3B-2023-5A59-F657-F5F0B1474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AF9CC-4E46-8B63-6911-9C588A804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A63B3-3512-4AB9-875D-728A22B8465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6740C-10F6-A475-F5FF-9DEC0B2370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3AB6D-561A-FF09-C14E-FD10275D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94200-F038-4BAF-B75C-4F9BC5BB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82C7-4934-AF9B-C271-75343F50BB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Haskell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63442-4489-C36A-7F8D-49A2A544F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30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F102-DFEC-14EE-268A-195EAEE5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Structure(syntax)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43655-856B-D717-4C21-9170F1A4F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functionName</a:t>
            </a:r>
            <a:r>
              <a:rPr lang="en-US" dirty="0"/>
              <a:t> :: </a:t>
            </a:r>
            <a:r>
              <a:rPr lang="en-US" dirty="0" err="1"/>
              <a:t>TypeSignature</a:t>
            </a:r>
            <a:r>
              <a:rPr lang="en-US" dirty="0"/>
              <a:t>            – -- type declaration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functionName</a:t>
            </a:r>
            <a:r>
              <a:rPr lang="en-US" dirty="0"/>
              <a:t> parameters = expression</a:t>
            </a:r>
          </a:p>
          <a:p>
            <a:r>
              <a:rPr lang="en-US" dirty="0"/>
              <a:t>Examples:</a:t>
            </a:r>
          </a:p>
          <a:p>
            <a:pPr marL="0" indent="0">
              <a:buNone/>
            </a:pPr>
            <a:r>
              <a:rPr lang="en-US" dirty="0"/>
              <a:t>     Square :: Int </a:t>
            </a:r>
            <a:r>
              <a:rPr lang="en-US" dirty="0">
                <a:sym typeface="Wingdings" panose="05000000000000000000" pitchFamily="2" charset="2"/>
              </a:rPr>
              <a:t> Int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Square x = x * x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Add :: Int  Int  Int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Add x y = x + y</a:t>
            </a:r>
          </a:p>
          <a:p>
            <a:r>
              <a:rPr lang="en-US" dirty="0">
                <a:sym typeface="Wingdings" panose="05000000000000000000" pitchFamily="2" charset="2"/>
              </a:rPr>
              <a:t>Type signature is optional but recommended. Provides documentation, helps in error checking and clarity.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93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409C-D9B6-CBF4-4DE1-8B83646E1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F7536-B967-C227-72E2-13302FD17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Polymorphic types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ListLen</a:t>
            </a:r>
            <a:r>
              <a:rPr lang="en-US" dirty="0"/>
              <a:t> :: [a] </a:t>
            </a:r>
            <a:r>
              <a:rPr lang="en-US" dirty="0">
                <a:sym typeface="Wingdings" panose="05000000000000000000" pitchFamily="2" charset="2"/>
              </a:rPr>
              <a:t> Int     --- a is any type</a:t>
            </a:r>
          </a:p>
          <a:p>
            <a:r>
              <a:rPr lang="en-US" dirty="0">
                <a:sym typeface="Wingdings" panose="05000000000000000000" pitchFamily="2" charset="2"/>
              </a:rPr>
              <a:t>Pattern matching against values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-- matches specific values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</a:t>
            </a:r>
            <a:r>
              <a:rPr lang="en-US" dirty="0" err="1">
                <a:sym typeface="Wingdings" panose="05000000000000000000" pitchFamily="2" charset="2"/>
              </a:rPr>
              <a:t>isZero</a:t>
            </a:r>
            <a:r>
              <a:rPr lang="en-US" dirty="0">
                <a:sym typeface="Wingdings" panose="05000000000000000000" pitchFamily="2" charset="2"/>
              </a:rPr>
              <a:t> :: Int  Bool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</a:t>
            </a:r>
            <a:r>
              <a:rPr lang="en-US" dirty="0" err="1">
                <a:sym typeface="Wingdings" panose="05000000000000000000" pitchFamily="2" charset="2"/>
              </a:rPr>
              <a:t>isZero</a:t>
            </a:r>
            <a:r>
              <a:rPr lang="en-US" dirty="0">
                <a:sym typeface="Wingdings" panose="05000000000000000000" pitchFamily="2" charset="2"/>
              </a:rPr>
              <a:t> 0 = True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</a:t>
            </a:r>
            <a:r>
              <a:rPr lang="en-US" dirty="0" err="1">
                <a:sym typeface="Wingdings" panose="05000000000000000000" pitchFamily="2" charset="2"/>
              </a:rPr>
              <a:t>isZero</a:t>
            </a:r>
            <a:r>
              <a:rPr lang="en-US" dirty="0">
                <a:sym typeface="Wingdings" panose="05000000000000000000" pitchFamily="2" charset="2"/>
              </a:rPr>
              <a:t> _ = False        --- _ is anything else.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4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0F1CA-ECA1-5CC8-D13F-3588B75C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2E6F-594B-CE71-D3E6-383409EA8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Multiple patterns</a:t>
            </a:r>
          </a:p>
          <a:p>
            <a:pPr marL="0" indent="0">
              <a:buNone/>
            </a:pPr>
            <a:r>
              <a:rPr lang="en-US" dirty="0" err="1"/>
              <a:t>dayName</a:t>
            </a:r>
            <a:r>
              <a:rPr lang="en-US" dirty="0"/>
              <a:t> :: Int </a:t>
            </a:r>
            <a:r>
              <a:rPr lang="en-US" dirty="0">
                <a:sym typeface="Wingdings" panose="05000000000000000000" pitchFamily="2" charset="2"/>
              </a:rPr>
              <a:t> String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dayName</a:t>
            </a:r>
            <a:r>
              <a:rPr lang="en-US" dirty="0">
                <a:sym typeface="Wingdings" panose="05000000000000000000" pitchFamily="2" charset="2"/>
              </a:rPr>
              <a:t> 1 = “Monday”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dayName</a:t>
            </a:r>
            <a:r>
              <a:rPr lang="en-US" dirty="0">
                <a:sym typeface="Wingdings" panose="05000000000000000000" pitchFamily="2" charset="2"/>
              </a:rPr>
              <a:t> 2 = “Tuesday”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……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dayName</a:t>
            </a:r>
            <a:r>
              <a:rPr lang="en-US" dirty="0">
                <a:sym typeface="Wingdings" panose="05000000000000000000" pitchFamily="2" charset="2"/>
              </a:rPr>
              <a:t> 7 = “Sunday”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8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01A6-C3BB-D771-4123-02B9873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7F647-CEA8-DA34-AA10-4ABBD4E5C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Pattern matching on data structures</a:t>
            </a:r>
          </a:p>
          <a:p>
            <a:pPr marL="0" indent="0">
              <a:buNone/>
            </a:pPr>
            <a:r>
              <a:rPr lang="en-US" dirty="0"/>
              <a:t>--lists</a:t>
            </a:r>
          </a:p>
          <a:p>
            <a:pPr marL="0" indent="0">
              <a:buNone/>
            </a:pPr>
            <a:r>
              <a:rPr lang="en-US" dirty="0"/>
              <a:t>head1 :: [a] </a:t>
            </a:r>
            <a:r>
              <a:rPr lang="en-US" dirty="0">
                <a:sym typeface="Wingdings" panose="05000000000000000000" pitchFamily="2" charset="2"/>
              </a:rPr>
              <a:t> a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head1 (x:_) = x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head1 [ ] = error “Empty list”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45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591C-8031-47A8-C7F6-6CFC24F69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808A-D129-4AB0-E9F5-392D43626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Custom data types</a:t>
            </a:r>
          </a:p>
          <a:p>
            <a:pPr marL="0" indent="0">
              <a:buNone/>
            </a:pPr>
            <a:r>
              <a:rPr lang="en-US" dirty="0"/>
              <a:t>data shape = circle </a:t>
            </a:r>
            <a:r>
              <a:rPr lang="en-US" dirty="0" err="1"/>
              <a:t>Float|Rectangle</a:t>
            </a:r>
            <a:r>
              <a:rPr lang="en-US" dirty="0"/>
              <a:t>  Float </a:t>
            </a:r>
            <a:r>
              <a:rPr lang="en-US" dirty="0" err="1"/>
              <a:t>Float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area :: shape </a:t>
            </a:r>
            <a:r>
              <a:rPr lang="en-US" dirty="0">
                <a:sym typeface="Wingdings" panose="05000000000000000000" pitchFamily="2" charset="2"/>
              </a:rPr>
              <a:t> Float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area (Circle r) = pi*r*r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area (Rectangle w l) = w*l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61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EEE7-44BC-7146-060A-7AD282376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761"/>
            <a:ext cx="10515600" cy="551820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Guards (conditional logic)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functionName</a:t>
            </a:r>
            <a:r>
              <a:rPr lang="en-US" dirty="0"/>
              <a:t> parameters</a:t>
            </a:r>
          </a:p>
          <a:p>
            <a:pPr marL="0" indent="0">
              <a:buNone/>
            </a:pPr>
            <a:r>
              <a:rPr lang="en-US" dirty="0"/>
              <a:t>          | condition1 = result1</a:t>
            </a:r>
          </a:p>
          <a:p>
            <a:pPr marL="0" indent="0">
              <a:buNone/>
            </a:pPr>
            <a:r>
              <a:rPr lang="en-US" dirty="0"/>
              <a:t>          | condition2 = result2 </a:t>
            </a:r>
          </a:p>
          <a:p>
            <a:pPr marL="0" indent="0">
              <a:buNone/>
            </a:pPr>
            <a:r>
              <a:rPr lang="en-US" dirty="0"/>
              <a:t>          | otherwise = </a:t>
            </a:r>
            <a:r>
              <a:rPr lang="en-US" dirty="0" err="1"/>
              <a:t>defaultResult</a:t>
            </a:r>
            <a:endParaRPr lang="en-US" dirty="0"/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  grade :: Int </a:t>
            </a:r>
            <a:r>
              <a:rPr lang="en-US" dirty="0">
                <a:sym typeface="Wingdings" panose="05000000000000000000" pitchFamily="2" charset="2"/>
              </a:rPr>
              <a:t> String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grade score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|score &gt;= 90 = “A”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|score &gt;= 80 = “B”</a:t>
            </a:r>
          </a:p>
          <a:p>
            <a:pPr marL="0" indent="0">
              <a:buNone/>
            </a:pPr>
            <a:r>
              <a:rPr lang="en-US" dirty="0"/>
              <a:t>     |score &gt;= 70 = “C”</a:t>
            </a:r>
          </a:p>
          <a:p>
            <a:pPr marL="0" indent="0">
              <a:buNone/>
            </a:pPr>
            <a:r>
              <a:rPr lang="en-US" dirty="0"/>
              <a:t>     | otherwise = “F”</a:t>
            </a:r>
          </a:p>
        </p:txBody>
      </p:sp>
    </p:spTree>
    <p:extLst>
      <p:ext uri="{BB962C8B-B14F-4D97-AF65-F5344CB8AC3E}">
        <p14:creationId xmlns:p14="http://schemas.microsoft.com/office/powerpoint/2010/main" val="294179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DA5C-56E8-2E6D-9599-320736B0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3C01-4251-28DB-407D-8B08E7D92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isAdult</a:t>
            </a:r>
            <a:r>
              <a:rPr lang="en-US" dirty="0"/>
              <a:t> :: Int </a:t>
            </a:r>
            <a:r>
              <a:rPr lang="en-US" dirty="0">
                <a:sym typeface="Wingdings" panose="05000000000000000000" pitchFamily="2" charset="2"/>
              </a:rPr>
              <a:t> Bool</a:t>
            </a:r>
          </a:p>
          <a:p>
            <a:r>
              <a:rPr lang="en-US" dirty="0" err="1">
                <a:sym typeface="Wingdings" panose="05000000000000000000" pitchFamily="2" charset="2"/>
              </a:rPr>
              <a:t>isAdult</a:t>
            </a:r>
            <a:r>
              <a:rPr lang="en-US" dirty="0">
                <a:sym typeface="Wingdings" panose="05000000000000000000" pitchFamily="2" charset="2"/>
              </a:rPr>
              <a:t> age </a:t>
            </a:r>
          </a:p>
          <a:p>
            <a:r>
              <a:rPr lang="en-US" dirty="0">
                <a:sym typeface="Wingdings" panose="05000000000000000000" pitchFamily="2" charset="2"/>
              </a:rPr>
              <a:t>|age &gt;= 18 &amp;&amp; age &lt; 65 = True</a:t>
            </a:r>
          </a:p>
          <a:p>
            <a:r>
              <a:rPr lang="en-US" dirty="0">
                <a:sym typeface="Wingdings" panose="05000000000000000000" pitchFamily="2" charset="2"/>
              </a:rPr>
              <a:t>| otherwise =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38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66FE-D9D2-F363-83EC-BA1E0C26E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clauses (local definitions)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A8D7F-010D-820B-E874-AA46DE479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functionName</a:t>
            </a:r>
            <a:r>
              <a:rPr lang="en-US" dirty="0"/>
              <a:t> parameters = </a:t>
            </a:r>
            <a:r>
              <a:rPr lang="en-US" dirty="0" err="1"/>
              <a:t>mainExpression</a:t>
            </a:r>
            <a:endParaRPr lang="en-US" dirty="0"/>
          </a:p>
          <a:p>
            <a:r>
              <a:rPr lang="en-US" dirty="0"/>
              <a:t>where </a:t>
            </a:r>
          </a:p>
          <a:p>
            <a:pPr marL="0" indent="0">
              <a:buNone/>
            </a:pPr>
            <a:r>
              <a:rPr lang="en-US" dirty="0"/>
              <a:t>      local var = expression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localFunction</a:t>
            </a:r>
            <a:r>
              <a:rPr lang="en-US" dirty="0"/>
              <a:t> </a:t>
            </a:r>
            <a:r>
              <a:rPr lang="en-US" dirty="0" err="1"/>
              <a:t>args</a:t>
            </a:r>
            <a:r>
              <a:rPr lang="en-US" dirty="0"/>
              <a:t> = expression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 err="1"/>
              <a:t>bmiTell</a:t>
            </a:r>
            <a:r>
              <a:rPr lang="en-US" dirty="0"/>
              <a:t> :: Double </a:t>
            </a:r>
            <a:r>
              <a:rPr lang="en-US" dirty="0">
                <a:sym typeface="Wingdings" panose="05000000000000000000" pitchFamily="2" charset="2"/>
              </a:rPr>
              <a:t> Double  String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bmiTell</a:t>
            </a:r>
            <a:r>
              <a:rPr lang="en-US" dirty="0">
                <a:sym typeface="Wingdings" panose="05000000000000000000" pitchFamily="2" charset="2"/>
              </a:rPr>
              <a:t> weight height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| </a:t>
            </a:r>
            <a:r>
              <a:rPr lang="en-US" dirty="0" err="1">
                <a:sym typeface="Wingdings" panose="05000000000000000000" pitchFamily="2" charset="2"/>
              </a:rPr>
              <a:t>bmi</a:t>
            </a:r>
            <a:r>
              <a:rPr lang="en-US" dirty="0">
                <a:sym typeface="Wingdings" panose="05000000000000000000" pitchFamily="2" charset="2"/>
              </a:rPr>
              <a:t> &lt;= 18.5 = “underweight”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|</a:t>
            </a:r>
            <a:r>
              <a:rPr lang="en-US" dirty="0" err="1">
                <a:sym typeface="Wingdings" panose="05000000000000000000" pitchFamily="2" charset="2"/>
              </a:rPr>
              <a:t>bmi</a:t>
            </a:r>
            <a:r>
              <a:rPr lang="en-US" dirty="0">
                <a:sym typeface="Wingdings" panose="05000000000000000000" pitchFamily="2" charset="2"/>
              </a:rPr>
              <a:t> &lt;= 25.0 = “normal weight”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|</a:t>
            </a:r>
            <a:r>
              <a:rPr lang="en-US" dirty="0" err="1">
                <a:sym typeface="Wingdings" panose="05000000000000000000" pitchFamily="2" charset="2"/>
              </a:rPr>
              <a:t>bmi</a:t>
            </a:r>
            <a:r>
              <a:rPr lang="en-US" dirty="0">
                <a:sym typeface="Wingdings" panose="05000000000000000000" pitchFamily="2" charset="2"/>
              </a:rPr>
              <a:t> &lt;= 30.0 = “over weight”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| otherwise = “obese”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where </a:t>
            </a:r>
            <a:r>
              <a:rPr lang="en-US" dirty="0" err="1">
                <a:sym typeface="Wingdings" panose="05000000000000000000" pitchFamily="2" charset="2"/>
              </a:rPr>
              <a:t>bmi</a:t>
            </a:r>
            <a:r>
              <a:rPr lang="en-US" dirty="0">
                <a:sym typeface="Wingdings" panose="05000000000000000000" pitchFamily="2" charset="2"/>
              </a:rPr>
              <a:t> = weight / (height^2)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760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9D80-B8E2-F687-6E30-09606B07A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Let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E5157-5827-B967-1E89-C32FEADF8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581"/>
            <a:ext cx="10515600" cy="539038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Let expression</a:t>
            </a:r>
            <a:r>
              <a:rPr lang="en-US" dirty="0"/>
              <a:t> is used to bind local variables or intermediate values within a specific scope.</a:t>
            </a:r>
          </a:p>
          <a:p>
            <a:r>
              <a:rPr lang="en-US" dirty="0" err="1"/>
              <a:t>FunctionName</a:t>
            </a:r>
            <a:r>
              <a:rPr lang="en-US" dirty="0"/>
              <a:t>  parameters =</a:t>
            </a:r>
          </a:p>
          <a:p>
            <a:pPr marL="0" indent="0">
              <a:buNone/>
            </a:pPr>
            <a:r>
              <a:rPr lang="en-US" dirty="0"/>
              <a:t>      let</a:t>
            </a:r>
          </a:p>
          <a:p>
            <a:pPr marL="0" indent="0">
              <a:buNone/>
            </a:pPr>
            <a:r>
              <a:rPr lang="en-US" dirty="0"/>
              <a:t>        binding1 = expression1</a:t>
            </a:r>
          </a:p>
          <a:p>
            <a:pPr marL="0" indent="0">
              <a:buNone/>
            </a:pPr>
            <a:r>
              <a:rPr lang="en-US" dirty="0"/>
              <a:t>         binding2 = expression2</a:t>
            </a:r>
          </a:p>
          <a:p>
            <a:pPr marL="0" indent="0">
              <a:buNone/>
            </a:pPr>
            <a:r>
              <a:rPr lang="en-US" dirty="0"/>
              <a:t>    in</a:t>
            </a:r>
          </a:p>
          <a:p>
            <a:pPr marL="0" indent="0">
              <a:buNone/>
            </a:pPr>
            <a:r>
              <a:rPr lang="en-US" dirty="0"/>
              <a:t>        expression using bindings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 err="1"/>
              <a:t>cylinderVolume</a:t>
            </a:r>
            <a:r>
              <a:rPr lang="en-US" dirty="0"/>
              <a:t> :: Float </a:t>
            </a:r>
            <a:r>
              <a:rPr lang="en-US" dirty="0">
                <a:sym typeface="Wingdings" panose="05000000000000000000" pitchFamily="2" charset="2"/>
              </a:rPr>
              <a:t> Float  Float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cylinderVolume</a:t>
            </a:r>
            <a:r>
              <a:rPr lang="en-US" dirty="0">
                <a:sym typeface="Wingdings" panose="05000000000000000000" pitchFamily="2" charset="2"/>
              </a:rPr>
              <a:t> r h =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let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  pi = 3.14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  area = pi*r^2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in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area*h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234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617D-F783-A683-330C-17F0A170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/>
          <a:lstStyle/>
          <a:p>
            <a:r>
              <a:rPr lang="en-US" dirty="0" err="1"/>
              <a:t>recurssion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56A2-05E8-3787-1570-485D9CDC7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387"/>
            <a:ext cx="10515600" cy="5144576"/>
          </a:xfrm>
        </p:spPr>
        <p:txBody>
          <a:bodyPr/>
          <a:lstStyle/>
          <a:p>
            <a:r>
              <a:rPr lang="en-US" dirty="0"/>
              <a:t>Basic recursion</a:t>
            </a:r>
          </a:p>
          <a:p>
            <a:pPr marL="0" indent="0">
              <a:buNone/>
            </a:pPr>
            <a:r>
              <a:rPr lang="en-US" dirty="0"/>
              <a:t>   factorial :: Integer </a:t>
            </a:r>
            <a:r>
              <a:rPr lang="en-US" dirty="0">
                <a:sym typeface="Wingdings" panose="05000000000000000000" pitchFamily="2" charset="2"/>
              </a:rPr>
              <a:t> Integer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factorial 0 = 1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factorial n = n*factorial (n-1)</a:t>
            </a:r>
          </a:p>
          <a:p>
            <a:r>
              <a:rPr lang="en-US" dirty="0">
                <a:sym typeface="Wingdings" panose="05000000000000000000" pitchFamily="2" charset="2"/>
              </a:rPr>
              <a:t>List processing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sum :: [Int]  Int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sum [ ] = 0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sum (</a:t>
            </a:r>
            <a:r>
              <a:rPr lang="en-US" dirty="0" err="1">
                <a:sym typeface="Wingdings" panose="05000000000000000000" pitchFamily="2" charset="2"/>
              </a:rPr>
              <a:t>x:xs</a:t>
            </a:r>
            <a:r>
              <a:rPr lang="en-US" dirty="0">
                <a:sym typeface="Wingdings" panose="05000000000000000000" pitchFamily="2" charset="2"/>
              </a:rPr>
              <a:t>) = x + sum </a:t>
            </a:r>
            <a:r>
              <a:rPr lang="en-US" dirty="0" err="1">
                <a:sym typeface="Wingdings" panose="05000000000000000000" pitchFamily="2" charset="2"/>
              </a:rPr>
              <a:t>xs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2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5373-D441-B585-DB48-DE7B4BA4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1120"/>
          </a:xfrm>
        </p:spPr>
        <p:txBody>
          <a:bodyPr>
            <a:normAutofit fontScale="90000"/>
          </a:bodyPr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0781-1073-DCAC-50D4-8E32DF162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568"/>
            <a:ext cx="10515600" cy="5272395"/>
          </a:xfrm>
        </p:spPr>
        <p:txBody>
          <a:bodyPr/>
          <a:lstStyle/>
          <a:p>
            <a:r>
              <a:rPr lang="en-US" dirty="0"/>
              <a:t>Are homogeneous data structures (same type)</a:t>
            </a:r>
          </a:p>
          <a:p>
            <a:r>
              <a:rPr lang="en-US" dirty="0"/>
              <a:t>Type signatures </a:t>
            </a:r>
          </a:p>
          <a:p>
            <a:r>
              <a:rPr lang="en-US" dirty="0"/>
              <a:t>[Int] – list of Integers</a:t>
            </a:r>
          </a:p>
          <a:p>
            <a:r>
              <a:rPr lang="en-US" dirty="0"/>
              <a:t>[a] – list of any type</a:t>
            </a:r>
          </a:p>
          <a:p>
            <a:r>
              <a:rPr lang="en-US" dirty="0"/>
              <a:t>[[Int]] – nested lists (list of lists)</a:t>
            </a:r>
          </a:p>
          <a:p>
            <a:r>
              <a:rPr lang="en-US" dirty="0"/>
              <a:t>[[a]] – </a:t>
            </a:r>
            <a:r>
              <a:rPr lang="en-US" dirty="0" err="1"/>
              <a:t>lis</a:t>
            </a:r>
            <a:r>
              <a:rPr lang="en-US" dirty="0"/>
              <a:t> of lists of any type</a:t>
            </a:r>
          </a:p>
          <a:p>
            <a:r>
              <a:rPr lang="en-US" dirty="0"/>
              <a:t>List construction – list are built recursively using : operator</a:t>
            </a:r>
          </a:p>
          <a:p>
            <a:r>
              <a:rPr lang="en-US" dirty="0"/>
              <a:t>1:[] , 1:2:[]</a:t>
            </a:r>
          </a:p>
          <a:p>
            <a:r>
              <a:rPr lang="en-US" dirty="0"/>
              <a:t>1:2:3:[] is equivalent to [1,2,3]</a:t>
            </a:r>
          </a:p>
          <a:p>
            <a:r>
              <a:rPr lang="en-US" dirty="0"/>
              <a:t>[1,2,3], 1:[2,3], 1:2:[3], 1:2:3:[]</a:t>
            </a:r>
          </a:p>
        </p:txBody>
      </p:sp>
    </p:spTree>
    <p:extLst>
      <p:ext uri="{BB962C8B-B14F-4D97-AF65-F5344CB8AC3E}">
        <p14:creationId xmlns:p14="http://schemas.microsoft.com/office/powerpoint/2010/main" val="1265906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C791-E463-2BC1-1375-D60728FE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list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85C41-B440-3E2A-727F-9AEF1D48A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703"/>
            <a:ext cx="10515600" cy="49872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length [1,2,3] -- 3</a:t>
            </a:r>
          </a:p>
          <a:p>
            <a:pPr marL="0" indent="0">
              <a:buNone/>
            </a:pPr>
            <a:r>
              <a:rPr lang="en-US" dirty="0"/>
              <a:t>length and null checks</a:t>
            </a:r>
          </a:p>
          <a:p>
            <a:pPr marL="0" indent="0">
              <a:buNone/>
            </a:pPr>
            <a:r>
              <a:rPr lang="en-US" dirty="0"/>
              <a:t>length :: [a] </a:t>
            </a:r>
            <a:r>
              <a:rPr lang="en-US" dirty="0">
                <a:sym typeface="Wingdings" panose="05000000000000000000" pitchFamily="2" charset="2"/>
              </a:rPr>
              <a:t> Int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length [ ] = 0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length (_:</a:t>
            </a:r>
            <a:r>
              <a:rPr lang="en-US" dirty="0" err="1">
                <a:sym typeface="Wingdings" panose="05000000000000000000" pitchFamily="2" charset="2"/>
              </a:rPr>
              <a:t>xs</a:t>
            </a:r>
            <a:r>
              <a:rPr lang="en-US" dirty="0">
                <a:sym typeface="Wingdings" panose="05000000000000000000" pitchFamily="2" charset="2"/>
              </a:rPr>
              <a:t>) = 1 + length </a:t>
            </a:r>
            <a:r>
              <a:rPr lang="en-US" dirty="0" err="1">
                <a:sym typeface="Wingdings" panose="05000000000000000000" pitchFamily="2" charset="2"/>
              </a:rPr>
              <a:t>xs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Range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[1..5] – [1,2,3,4,5]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[1,3,..10] – [1,3,5,7,9] (steps of 2)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[‘</a:t>
            </a:r>
            <a:r>
              <a:rPr lang="en-US" dirty="0" err="1">
                <a:sym typeface="Wingdings" panose="05000000000000000000" pitchFamily="2" charset="2"/>
              </a:rPr>
              <a:t>a’..’z</a:t>
            </a:r>
            <a:r>
              <a:rPr lang="en-US" dirty="0">
                <a:sym typeface="Wingdings" panose="05000000000000000000" pitchFamily="2" charset="2"/>
              </a:rPr>
              <a:t>’]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[‘</a:t>
            </a:r>
            <a:r>
              <a:rPr lang="en-US" dirty="0" err="1">
                <a:sym typeface="Wingdings" panose="05000000000000000000" pitchFamily="2" charset="2"/>
              </a:rPr>
              <a:t>a’,’c’..’z</a:t>
            </a:r>
            <a:r>
              <a:rPr lang="en-US" dirty="0">
                <a:sym typeface="Wingdings" panose="05000000000000000000" pitchFamily="2" charset="2"/>
              </a:rPr>
              <a:t>’]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[1..] – infinite list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[10,9..1]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16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5D45-82AA-2251-7AAC-0B312BB2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61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2A533-A835-ABDE-3FD7-5D200E664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548"/>
            <a:ext cx="10515600" cy="5095415"/>
          </a:xfrm>
        </p:spPr>
        <p:txBody>
          <a:bodyPr/>
          <a:lstStyle/>
          <a:p>
            <a:r>
              <a:rPr lang="en-US" dirty="0"/>
              <a:t>head [1,2,3]  -- 1</a:t>
            </a:r>
          </a:p>
          <a:p>
            <a:r>
              <a:rPr lang="en-US" dirty="0"/>
              <a:t>tail [1,2,3] – [2,3]</a:t>
            </a:r>
          </a:p>
          <a:p>
            <a:r>
              <a:rPr lang="en-US" dirty="0" err="1"/>
              <a:t>init</a:t>
            </a:r>
            <a:r>
              <a:rPr lang="en-US" dirty="0"/>
              <a:t> [1,2,3]  --- [1,2]</a:t>
            </a:r>
          </a:p>
          <a:p>
            <a:r>
              <a:rPr lang="en-US" dirty="0"/>
              <a:t>last [1,2,3]  -- 3</a:t>
            </a:r>
          </a:p>
          <a:p>
            <a:r>
              <a:rPr lang="en-US" dirty="0"/>
              <a:t>null [ ] --- True</a:t>
            </a:r>
          </a:p>
          <a:p>
            <a:r>
              <a:rPr lang="en-US" dirty="0"/>
              <a:t>reverse [1,2,3]  --  [3,2,1]</a:t>
            </a:r>
          </a:p>
          <a:p>
            <a:r>
              <a:rPr lang="en-US" dirty="0"/>
              <a:t>[1,2,3,4] !! 2  ---- 3 (zero indexed)</a:t>
            </a:r>
          </a:p>
        </p:txBody>
      </p:sp>
    </p:spTree>
    <p:extLst>
      <p:ext uri="{BB962C8B-B14F-4D97-AF65-F5344CB8AC3E}">
        <p14:creationId xmlns:p14="http://schemas.microsoft.com/office/powerpoint/2010/main" val="3958929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710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Haskell Functions</vt:lpstr>
      <vt:lpstr>Structure(syntax)</vt:lpstr>
      <vt:lpstr>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clauses (local definitions)</vt:lpstr>
      <vt:lpstr>Let clause</vt:lpstr>
      <vt:lpstr>recurssion</vt:lpstr>
      <vt:lpstr>Lists</vt:lpstr>
      <vt:lpstr>Basic list operations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MALEMAG</dc:creator>
  <cp:lastModifiedBy>MALEMAG</cp:lastModifiedBy>
  <cp:revision>13</cp:revision>
  <dcterms:created xsi:type="dcterms:W3CDTF">2026-08-10T05:59:11Z</dcterms:created>
  <dcterms:modified xsi:type="dcterms:W3CDTF">2026-08-11T22:29:17Z</dcterms:modified>
</cp:coreProperties>
</file>