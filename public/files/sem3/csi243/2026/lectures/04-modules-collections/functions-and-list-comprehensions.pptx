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78" r:id="rId6"/>
    <p:sldId id="280" r:id="rId7"/>
    <p:sldId id="281" r:id="rId8"/>
    <p:sldId id="304" r:id="rId9"/>
    <p:sldId id="284" r:id="rId10"/>
    <p:sldId id="285" r:id="rId11"/>
    <p:sldId id="283" r:id="rId12"/>
    <p:sldId id="286" r:id="rId13"/>
    <p:sldId id="287" r:id="rId14"/>
    <p:sldId id="294" r:id="rId15"/>
    <p:sldId id="302" r:id="rId16"/>
    <p:sldId id="3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0FFA9-47CE-4238-A43D-029C1091F3F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2E47DC-15FD-4326-A8B1-9DAD0E032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29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E47DC-15FD-4326-A8B1-9DAD0E0324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20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E47DC-15FD-4326-A8B1-9DAD0E0324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79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E47DC-15FD-4326-A8B1-9DAD0E0324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32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10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8826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8826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8826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8826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8826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882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882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882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882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8826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BA9C81-019E-7E4E-B8E9-C842A2F3222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pPr marL="0" marR="0" lvl="0" indent="0" algn="r" defTabSz="8826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E47DC-15FD-4326-A8B1-9DAD0E0324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3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FE3F-8FA9-491B-9C17-F9B664540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58582-74C7-CD85-2A50-5D9DC5185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7FBF2-AD33-A363-5F75-0A89C6F5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84707-A569-3C81-DA0C-2232082A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83492-10C6-6310-AF04-F79611A8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14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8C13-C586-41BB-755F-A13DA7BB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57A71-1E0B-8856-81A4-327449C62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BA1C3-ECC7-CB42-8DA1-7309CDC82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C97C9-A86C-148E-1FFA-B83E192E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FB22B-FB07-9561-2958-1359C9AD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5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CECE8-37C5-E16B-FDD2-90DC0E88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D66F9-4788-E37A-5EC2-3C18B1ED4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E122C-35B2-5CA0-B21A-9BF37B07D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D441D-A114-D5ED-7EF3-E4A5B0BB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7F9F5-07ED-9EBF-BAF8-3B13CF5F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35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42BD-6A8D-4E6B-5D8D-CEF6973A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0EB0-233B-189C-2407-C46593A2D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38EBE-82C6-1333-5100-25F573661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32DB1-1FC3-E93C-16A3-2E02275E7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058B5-ABA3-22A8-1755-09C5213AA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D1202-ACC2-8A4B-0A8D-8840F044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2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3DCE1-AEAB-800F-6C4D-66E95BD9F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5F31C-24BC-6E49-F0C7-6185CF187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5A276-05BC-96CA-9B79-631A5F8D6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4FF594-B593-D60E-B5D3-AB8FA5D1C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ACA32-D98F-5637-7905-77082B4BA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8D7D40-0DDC-4C02-E4C4-CB52BA75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4D4D84-6895-E961-0449-ADB0C349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30DE30-130F-9585-1FE6-7ED6EECF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63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EA9E0-DEA0-207E-8FFE-996D15B0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398BA7-F14D-C811-4E5C-DED1F3A08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16244-B2CC-275D-5F25-52B00FD0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F5898-8EFC-BA2E-9E58-766DC093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9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D7A2F-E08B-1247-8660-DB166FB5F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7ABCF-D0BE-86F4-CB4C-3B7E481A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A49DC-AECE-351C-5D7A-16A9762F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32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ECEB-E92D-0194-EB37-050CE558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E55E1-6D89-5FCC-65EA-EE959E06F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4BB69-E8AC-A119-41BA-AC21B6395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308D8-8768-07A9-7751-5B998C457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3C63B-D5AB-0019-ED4C-2EFD6B926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554F8-BB20-BB31-BCBE-EB422C11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0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20AC-B55D-C525-294C-698334DC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DE7BB-9B10-B8DA-C664-C51826488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1E962-531C-1221-8E88-D01EC7754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9EB48-C1E7-74AE-74C3-1FB59D078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DF43D-1F35-592B-22EE-37FAEA3B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24B96-3580-66FF-2CA4-AB444205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68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1AD11-DA55-99FF-2AFD-6C6B87268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DA554-F470-4FDC-A23F-2B2AD1501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E4E71-C402-6E9A-8C9E-1AE76B67A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BE048-0DA3-01B1-BB91-7819FE5F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2BDAE-4FCA-1ACD-9C3A-DF5C78CB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67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730DAB-FDCF-87D0-34C0-1ECFD852D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58C2A-C3AD-9354-4A84-9472C50A4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AA3C8-4B64-B58D-CE2C-AEB85F17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3743E-B931-6E41-150F-A6807BB6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DA907-9988-DCF7-5B96-F1D37DCF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12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/>
          <p:cNvSpPr txBox="1">
            <a:spLocks noChangeArrowheads="1"/>
          </p:cNvSpPr>
          <p:nvPr userDrawn="1"/>
        </p:nvSpPr>
        <p:spPr bwMode="auto">
          <a:xfrm>
            <a:off x="954618" y="1039813"/>
            <a:ext cx="10458449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600" b="1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3" name="Rectangle 11"/>
          <p:cNvSpPr>
            <a:spLocks noGrp="1" noChangeArrowheads="1"/>
          </p:cNvSpPr>
          <p:nvPr userDrawn="1"/>
        </p:nvSpPr>
        <p:spPr bwMode="auto">
          <a:xfrm>
            <a:off x="749300" y="5087938"/>
            <a:ext cx="10871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200"/>
              <a:t>Chapter 6 - List Comprehensions</a:t>
            </a:r>
          </a:p>
        </p:txBody>
      </p:sp>
      <p:pic>
        <p:nvPicPr>
          <p:cNvPr id="4" name="Picture 12" descr="C:\Documents and Settings\gmh.POLIHALE\Desktop\HaskellLogo_2.jpg"/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567" y="2266950"/>
            <a:ext cx="3132667" cy="223520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742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086EE-2306-114E-B592-A20E8DA936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72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285DE-A95B-594D-B03B-85B0E4A53C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4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524000"/>
            <a:ext cx="5350933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5334" y="1524000"/>
            <a:ext cx="5350933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C68024-3AF8-C842-A3C7-A05010F2C7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43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0CB9C-1E17-524C-8419-9DCEF2E838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13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B4433C-DA95-0442-8811-B3EBF2CF49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749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F1807-43C9-FD48-8BD8-9E3656F318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519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23FF4-DE3C-CF42-B10F-3DE819948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684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71704-EAF2-C54E-9532-E611244D8A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89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D9394-4345-7848-A8CC-FD34D8A3AE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148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81000"/>
            <a:ext cx="2777067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81000"/>
            <a:ext cx="81280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0930E-02DA-A947-8476-43050C9296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3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85D2D-B68E-3FAC-DDB1-4A8EA277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EC070-A824-F270-D1D5-2EEE02231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16A18-782D-53FE-4E2D-FE9D2FE5B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E7A3F-4D28-40FD-9FEF-E5AE2856C71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D48D2-540B-BF0E-E8F3-1BC627FB6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BD74C-2D54-D9E7-50B7-CA2626B59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665E1-2EC3-4FF3-87B0-BAC55AE29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0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3810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524000"/>
            <a:ext cx="1090506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76000" y="6400800"/>
            <a:ext cx="81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0854742-D8E1-CD4E-AAF1-C3553525B4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2606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ＭＳ Ｐゴシック" pitchFamily="-1" charset="-128"/>
          <a:cs typeface="ＭＳ Ｐゴシック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itchFamily="-1" charset="0"/>
          <a:ea typeface="ＭＳ Ｐゴシック" pitchFamily="-1" charset="-128"/>
          <a:cs typeface="ＭＳ Ｐゴシック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itchFamily="-1" charset="0"/>
          <a:ea typeface="ＭＳ Ｐゴシック" pitchFamily="-1" charset="-128"/>
          <a:cs typeface="ＭＳ Ｐゴシック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itchFamily="-1" charset="0"/>
          <a:ea typeface="ＭＳ Ｐゴシック" pitchFamily="-1" charset="-128"/>
          <a:cs typeface="ＭＳ Ｐゴシック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itchFamily="-1" charset="0"/>
          <a:ea typeface="ＭＳ Ｐゴシック" pitchFamily="-1" charset="-128"/>
          <a:cs typeface="ＭＳ Ｐゴシック" pitchFamily="-1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itchFamily="-1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itchFamily="-1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itchFamily="-1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 Black" pitchFamily="-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charset="0"/>
        <a:buChar char="z"/>
        <a:defRPr kumimoji="1" sz="2800">
          <a:solidFill>
            <a:schemeClr val="tx1"/>
          </a:solidFill>
          <a:latin typeface="+mn-lt"/>
          <a:ea typeface="ＭＳ Ｐゴシック" pitchFamily="-1" charset="-128"/>
          <a:cs typeface="ＭＳ Ｐゴシック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charset="0"/>
        <a:buChar char="y"/>
        <a:defRPr kumimoji="1" sz="2400">
          <a:solidFill>
            <a:schemeClr val="tx1"/>
          </a:solidFill>
          <a:latin typeface="+mn-lt"/>
          <a:ea typeface="ＭＳ Ｐゴシック" pitchFamily="-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charset="0"/>
        <a:buChar char="x"/>
        <a:defRPr kumimoji="1" sz="2000">
          <a:solidFill>
            <a:schemeClr val="tx1"/>
          </a:solidFill>
          <a:latin typeface="+mn-lt"/>
          <a:ea typeface="ＭＳ Ｐゴシック" pitchFamily="-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>
          <a:solidFill>
            <a:schemeClr val="tx1"/>
          </a:solidFill>
          <a:latin typeface="+mn-lt"/>
          <a:ea typeface="ＭＳ Ｐゴシック" pitchFamily="-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>
          <a:solidFill>
            <a:schemeClr val="tx1"/>
          </a:solidFill>
          <a:latin typeface="+mn-lt"/>
          <a:ea typeface="ＭＳ Ｐゴシック" pitchFamily="-1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>
          <a:solidFill>
            <a:schemeClr val="tx1"/>
          </a:solidFill>
          <a:latin typeface="+mn-lt"/>
          <a:ea typeface="ＭＳ Ｐゴシック" pitchFamily="-1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>
          <a:solidFill>
            <a:schemeClr val="tx1"/>
          </a:solidFill>
          <a:latin typeface="+mn-lt"/>
          <a:ea typeface="ＭＳ Ｐゴシック" pitchFamily="-1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>
          <a:solidFill>
            <a:schemeClr val="tx1"/>
          </a:solidFill>
          <a:latin typeface="+mn-lt"/>
          <a:ea typeface="ＭＳ Ｐゴシック" pitchFamily="-1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>
          <a:solidFill>
            <a:schemeClr val="tx1"/>
          </a:solidFill>
          <a:latin typeface="+mn-lt"/>
          <a:ea typeface="ＭＳ Ｐゴシック" pitchFamily="-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A2A9-C54B-D880-15AD-A51966288A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 &amp; List Comprehensions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0E07A-453B-A11A-4CD0-686ED48393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8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5EA5-3FE1-47EB-74DB-04689B1A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05F0F-CBD2-65CE-3D46-3397D4A95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Factorial function</a:t>
            </a:r>
          </a:p>
          <a:p>
            <a:pPr marL="0" indent="0">
              <a:buNone/>
            </a:pPr>
            <a:r>
              <a:rPr lang="en-US" dirty="0"/>
              <a:t>f1 :: Int </a:t>
            </a:r>
            <a:r>
              <a:rPr lang="en-US" dirty="0">
                <a:sym typeface="Wingdings" panose="05000000000000000000" pitchFamily="2" charset="2"/>
              </a:rPr>
              <a:t> Int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f1 n = if n == 0 then 1 else n*f1 (n-1)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f2 :: Int  Int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f2 0 = 1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f2 n = n * f2 (n-1)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f3::Int  Int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f3 n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| n == 0 = 1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|otherwise = n * f3 (n-1)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669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7DC40-5970-53C3-68CA-CF074210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81810-89BC-ED6C-B3B5-A350B33A0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 XOR takes 2 Booleans and returns the XOR of the 2 values.</a:t>
            </a:r>
          </a:p>
          <a:p>
            <a:r>
              <a:rPr lang="en-US" dirty="0"/>
              <a:t>Mult – computes product of x and y using addition.</a:t>
            </a:r>
          </a:p>
          <a:p>
            <a:r>
              <a:rPr lang="en-US" dirty="0"/>
              <a:t>Max – outputs max between x and y.</a:t>
            </a:r>
          </a:p>
          <a:p>
            <a:r>
              <a:rPr lang="en-US" dirty="0" err="1"/>
              <a:t>isNeg</a:t>
            </a:r>
            <a:r>
              <a:rPr lang="en-US" dirty="0"/>
              <a:t> – outputs True is number is –</a:t>
            </a:r>
            <a:r>
              <a:rPr lang="en-US" dirty="0" err="1"/>
              <a:t>ve</a:t>
            </a:r>
            <a:r>
              <a:rPr lang="en-US" dirty="0"/>
              <a:t> else False.</a:t>
            </a:r>
          </a:p>
        </p:txBody>
      </p:sp>
    </p:spTree>
    <p:extLst>
      <p:ext uri="{BB962C8B-B14F-4D97-AF65-F5344CB8AC3E}">
        <p14:creationId xmlns:p14="http://schemas.microsoft.com/office/powerpoint/2010/main" val="4232835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21F4343-AE5B-FD4D-A163-10D8D1322E39}" type="slidenum">
              <a:rPr lang="en-US" sz="140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List Comprehensions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951038" y="1573213"/>
            <a:ext cx="81851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FFFF"/>
                </a:solidFill>
              </a:rPr>
              <a:t>In mathematics, the </a:t>
            </a:r>
            <a:r>
              <a:rPr lang="en-US" u="sng" dirty="0">
                <a:solidFill>
                  <a:srgbClr val="FFFFFF"/>
                </a:solidFill>
              </a:rPr>
              <a:t>comprehension</a:t>
            </a:r>
            <a:r>
              <a:rPr lang="en-US" dirty="0">
                <a:solidFill>
                  <a:srgbClr val="FFFFFF"/>
                </a:solidFill>
              </a:rPr>
              <a:t> notation can be used to construct new sets from old sets.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3003550" y="3468688"/>
            <a:ext cx="3087688" cy="5191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FFFF"/>
                </a:solidFill>
              </a:rPr>
              <a:t>{x</a:t>
            </a:r>
            <a:r>
              <a:rPr lang="en-US" baseline="30000" dirty="0">
                <a:solidFill>
                  <a:srgbClr val="FFFFFF"/>
                </a:solidFill>
              </a:rPr>
              <a:t>2 </a:t>
            </a:r>
            <a:r>
              <a:rPr lang="en-US" dirty="0">
                <a:solidFill>
                  <a:srgbClr val="FFFFFF"/>
                </a:solidFill>
              </a:rPr>
              <a:t> |  x </a:t>
            </a:r>
            <a:r>
              <a:rPr lang="en-US" dirty="0">
                <a:solidFill>
                  <a:srgbClr val="FFFFFF"/>
                </a:solidFill>
                <a:sym typeface="Symbol" charset="0"/>
              </a:rPr>
              <a:t> </a:t>
            </a:r>
            <a:r>
              <a:rPr lang="en-US" dirty="0">
                <a:solidFill>
                  <a:srgbClr val="FFFFFF"/>
                </a:solidFill>
              </a:rPr>
              <a:t>{1...5}}</a:t>
            </a:r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>
            <a:off x="2209800" y="4914146"/>
            <a:ext cx="7545388" cy="1055608"/>
          </a:xfrm>
          <a:prstGeom prst="wedgeRoundRectCallout">
            <a:avLst>
              <a:gd name="adj1" fmla="val -21384"/>
              <a:gd name="adj2" fmla="val -93542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The set {1,4,9,16,25} of all numbers x</a:t>
            </a:r>
            <a:r>
              <a:rPr lang="en-US" sz="2800" baseline="30000">
                <a:solidFill>
                  <a:srgbClr val="FFFFFF"/>
                </a:solidFill>
                <a:latin typeface="Tahoma" charset="0"/>
                <a:ea typeface="ＭＳ Ｐゴシック" charset="0"/>
              </a:rPr>
              <a:t>2</a:t>
            </a: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 such that x is an element of the set {1…5}.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8672337-B0CB-C54C-B317-4A07879599A5}" type="slidenum">
              <a:rPr lang="en-US" sz="140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Lists Comprehensions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963738" y="1570038"/>
            <a:ext cx="82978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In Haskell, a similar comprehension notation can be used to construct new </a:t>
            </a:r>
            <a:r>
              <a:rPr lang="en-US" u="sng">
                <a:solidFill>
                  <a:srgbClr val="FFFFFF"/>
                </a:solidFill>
              </a:rPr>
              <a:t>lists</a:t>
            </a:r>
            <a:r>
              <a:rPr lang="en-US">
                <a:solidFill>
                  <a:srgbClr val="FFFFFF"/>
                </a:solidFill>
              </a:rPr>
              <a:t> from old lists.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065463" y="3478924"/>
            <a:ext cx="3648756" cy="46371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[x^2 | x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[1..5]]</a:t>
            </a:r>
          </a:p>
        </p:txBody>
      </p:sp>
      <p:sp>
        <p:nvSpPr>
          <p:cNvPr id="17413" name="AutoShape 6"/>
          <p:cNvSpPr>
            <a:spLocks noChangeArrowheads="1"/>
          </p:cNvSpPr>
          <p:nvPr/>
        </p:nvSpPr>
        <p:spPr bwMode="auto">
          <a:xfrm>
            <a:off x="2246313" y="4917321"/>
            <a:ext cx="7402512" cy="1055608"/>
          </a:xfrm>
          <a:prstGeom prst="wedgeRoundRectCallout">
            <a:avLst>
              <a:gd name="adj1" fmla="val -22144"/>
              <a:gd name="adj2" fmla="val -98347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The list [1,4,9,16,25] of all numbers x^2</a:t>
            </a:r>
            <a:r>
              <a:rPr lang="en-US" sz="2800" baseline="30000">
                <a:solidFill>
                  <a:srgbClr val="FFFFFF"/>
                </a:solidFill>
                <a:latin typeface="Tahoma" charset="0"/>
                <a:ea typeface="ＭＳ Ｐゴシック" charset="0"/>
              </a:rPr>
              <a:t> </a:t>
            </a: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such that x is an element of the list [1..5].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A909AA4-27DB-B14F-ADD9-C96E58A869C3}" type="slidenum">
              <a:rPr lang="en-US" sz="140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876425" y="409576"/>
            <a:ext cx="104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Note: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962150" y="1450975"/>
            <a:ext cx="81788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Font typeface="Monotype Sorts" charset="0"/>
              <a:buChar char="z"/>
            </a:pPr>
            <a:r>
              <a:rPr kumimoji="1" lang="en-US" sz="2800" dirty="0">
                <a:solidFill>
                  <a:srgbClr val="FFFFFF"/>
                </a:solidFill>
                <a:latin typeface="Tahoma" charset="0"/>
                <a:ea typeface="ＭＳ Ｐゴシック" charset="0"/>
              </a:rPr>
              <a:t>The expression x </a:t>
            </a:r>
            <a:r>
              <a:rPr kumimoji="1" lang="en-US" sz="2800" dirty="0">
                <a:solidFill>
                  <a:srgbClr val="FFFFFF"/>
                </a:solidFill>
                <a:latin typeface="Lucida Sans Typewriter" charset="0"/>
                <a:ea typeface="ＭＳ Ｐゴシック" charset="0"/>
                <a:sym typeface="Symbol" charset="0"/>
              </a:rPr>
              <a:t></a:t>
            </a:r>
            <a:r>
              <a:rPr kumimoji="1" lang="en-US" sz="2800" dirty="0">
                <a:solidFill>
                  <a:srgbClr val="FFFFFF"/>
                </a:solidFill>
                <a:latin typeface="Tahoma" charset="0"/>
                <a:ea typeface="ＭＳ Ｐゴシック" charset="0"/>
              </a:rPr>
              <a:t> [1..5] is called a </a:t>
            </a:r>
            <a:r>
              <a:rPr kumimoji="1" lang="en-US" sz="2800" u="sng" dirty="0">
                <a:solidFill>
                  <a:srgbClr val="FFFFFF"/>
                </a:solidFill>
                <a:latin typeface="Tahoma" charset="0"/>
                <a:ea typeface="ＭＳ Ｐゴシック" charset="0"/>
              </a:rPr>
              <a:t>generator</a:t>
            </a:r>
            <a:r>
              <a:rPr kumimoji="1" lang="en-US" sz="2800" dirty="0">
                <a:solidFill>
                  <a:srgbClr val="FFFFFF"/>
                </a:solidFill>
                <a:latin typeface="Tahoma" charset="0"/>
                <a:ea typeface="ＭＳ Ｐゴシック" charset="0"/>
              </a:rPr>
              <a:t>, as it states how to generate values for x.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Font typeface="Monotype Sorts" charset="0"/>
              <a:buChar char="z"/>
            </a:pPr>
            <a:endParaRPr kumimoji="1" lang="en-US" sz="2800" dirty="0">
              <a:solidFill>
                <a:srgbClr val="FFFFFF"/>
              </a:solidFill>
              <a:latin typeface="Tahoma" charset="0"/>
              <a:ea typeface="ＭＳ Ｐゴシック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Font typeface="Monotype Sorts" charset="0"/>
              <a:buChar char="z"/>
            </a:pPr>
            <a:r>
              <a:rPr kumimoji="1" lang="en-US" sz="2800" dirty="0">
                <a:solidFill>
                  <a:srgbClr val="FFFFFF"/>
                </a:solidFill>
                <a:latin typeface="Tahoma" charset="0"/>
                <a:ea typeface="ＭＳ Ｐゴシック" charset="0"/>
              </a:rPr>
              <a:t>Comprehensions can have </a:t>
            </a:r>
            <a:r>
              <a:rPr kumimoji="1" lang="en-US" sz="2800" u="sng" dirty="0">
                <a:solidFill>
                  <a:srgbClr val="FFFFFF"/>
                </a:solidFill>
                <a:latin typeface="Tahoma" charset="0"/>
                <a:ea typeface="ＭＳ Ｐゴシック" charset="0"/>
              </a:rPr>
              <a:t>multiple</a:t>
            </a:r>
            <a:r>
              <a:rPr kumimoji="1" lang="en-US" sz="2800" dirty="0">
                <a:solidFill>
                  <a:srgbClr val="FFFFFF"/>
                </a:solidFill>
                <a:latin typeface="Tahoma" charset="0"/>
                <a:ea typeface="ＭＳ Ｐゴシック" charset="0"/>
              </a:rPr>
              <a:t> generators, separated by commas.  For example: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717801" y="4521112"/>
            <a:ext cx="7064755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&gt; [(x,y) | x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[1,2,3], y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[4,5]]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latin typeface="Lucida Sans Typewriter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[(1,4),(1,5),(2,4),(2,5),(3,4),(3,5)]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3AEF8-7983-BFFB-86F0-1180D2A6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F75B3-E257-A7F2-8D80-310C5F84E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structure :: [expr | generator, predicate]</a:t>
            </a:r>
          </a:p>
          <a:p>
            <a:r>
              <a:rPr lang="en-US" dirty="0"/>
              <a:t>Generator  :  x </a:t>
            </a:r>
            <a:r>
              <a:rPr lang="en-US" dirty="0">
                <a:sym typeface="Wingdings" panose="05000000000000000000" pitchFamily="2" charset="2"/>
              </a:rPr>
              <a:t> list</a:t>
            </a:r>
          </a:p>
          <a:p>
            <a:r>
              <a:rPr lang="en-US" dirty="0">
                <a:sym typeface="Wingdings" panose="05000000000000000000" pitchFamily="2" charset="2"/>
              </a:rPr>
              <a:t>Predicate : condition</a:t>
            </a:r>
          </a:p>
          <a:p>
            <a:r>
              <a:rPr lang="en-US" dirty="0">
                <a:sym typeface="Wingdings" panose="05000000000000000000" pitchFamily="2" charset="2"/>
              </a:rPr>
              <a:t>Simple transformations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Squares = [x^2| x  [1..5]]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Doubled = [x*2| x  [1..5]]</a:t>
            </a:r>
          </a:p>
          <a:p>
            <a:r>
              <a:rPr lang="en-US" dirty="0">
                <a:sym typeface="Wingdings" panose="05000000000000000000" pitchFamily="2" charset="2"/>
              </a:rPr>
              <a:t>Filtering with predicates (guards)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Evens = [x| x  [1..20], even x]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Filtered = [</a:t>
            </a:r>
            <a:r>
              <a:rPr lang="en-US" dirty="0" err="1">
                <a:sym typeface="Wingdings" panose="05000000000000000000" pitchFamily="2" charset="2"/>
              </a:rPr>
              <a:t>x|x</a:t>
            </a:r>
            <a:r>
              <a:rPr lang="en-US" dirty="0">
                <a:sym typeface="Wingdings" panose="05000000000000000000" pitchFamily="2" charset="2"/>
              </a:rPr>
              <a:t> [1..20], x &gt; 5, odd x]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931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6998535-2959-8D44-855C-3289E6072AA7}" type="slidenum">
              <a:rPr lang="en-US" sz="140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Dependant Generators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939926" y="1619250"/>
            <a:ext cx="80994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Later generators can </a:t>
            </a:r>
            <a:r>
              <a:rPr lang="en-US" u="sng">
                <a:solidFill>
                  <a:srgbClr val="FFFFFF"/>
                </a:solidFill>
              </a:rPr>
              <a:t>depend</a:t>
            </a:r>
            <a:r>
              <a:rPr lang="en-US">
                <a:solidFill>
                  <a:srgbClr val="FFFFFF"/>
                </a:solidFill>
              </a:rPr>
              <a:t> on the variables that are introduced by earlier generators.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024189" y="3358274"/>
            <a:ext cx="6369051" cy="46371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[(x,y) | x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[1..3], y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[x..3]]</a:t>
            </a:r>
          </a:p>
        </p:txBody>
      </p:sp>
      <p:sp>
        <p:nvSpPr>
          <p:cNvPr id="21509" name="AutoShape 5"/>
          <p:cNvSpPr>
            <a:spLocks noChangeArrowheads="1"/>
          </p:cNvSpPr>
          <p:nvPr/>
        </p:nvSpPr>
        <p:spPr bwMode="auto">
          <a:xfrm>
            <a:off x="2298701" y="4713090"/>
            <a:ext cx="7516813" cy="1532334"/>
          </a:xfrm>
          <a:prstGeom prst="wedgeRoundRectCallout">
            <a:avLst>
              <a:gd name="adj1" fmla="val -21088"/>
              <a:gd name="adj2" fmla="val -83190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The list [(1,1),(1,2),(1,3),(2,2),(2,3),(3,3)]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of all pairs of numbers (x,y) such that x,y are elements of the list [1..3] and y </a:t>
            </a: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  <a:sym typeface="Symbol" charset="0"/>
              </a:rPr>
              <a:t></a:t>
            </a: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 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211E36E-CFD2-8E42-8274-BC738F456C36}" type="slidenum">
              <a:rPr lang="en-US" sz="140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0482" name="Text Box 12"/>
          <p:cNvSpPr txBox="1">
            <a:spLocks noChangeArrowheads="1"/>
          </p:cNvSpPr>
          <p:nvPr/>
        </p:nvSpPr>
        <p:spPr bwMode="auto">
          <a:xfrm>
            <a:off x="2743201" y="1741400"/>
            <a:ext cx="7064755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&gt; [(x,y) | y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[4,5], x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[1,2,3]]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latin typeface="Lucida Sans Typewriter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[(1,4),(2,4),(3,4),(1,5),(2,5),(3,5)]</a:t>
            </a:r>
          </a:p>
        </p:txBody>
      </p:sp>
      <p:sp>
        <p:nvSpPr>
          <p:cNvPr id="20483" name="Rectangle 13"/>
          <p:cNvSpPr>
            <a:spLocks noChangeArrowheads="1"/>
          </p:cNvSpPr>
          <p:nvPr/>
        </p:nvSpPr>
        <p:spPr bwMode="auto">
          <a:xfrm>
            <a:off x="1979613" y="571500"/>
            <a:ext cx="2844800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Font typeface="Monotype Sorts" charset="0"/>
              <a:buChar char="z"/>
            </a:pPr>
            <a:r>
              <a:rPr kumimoji="1"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For example:</a:t>
            </a:r>
          </a:p>
        </p:txBody>
      </p:sp>
      <p:sp>
        <p:nvSpPr>
          <p:cNvPr id="20484" name="AutoShape 44"/>
          <p:cNvSpPr>
            <a:spLocks noChangeArrowheads="1"/>
          </p:cNvSpPr>
          <p:nvPr/>
        </p:nvSpPr>
        <p:spPr bwMode="auto">
          <a:xfrm>
            <a:off x="3060700" y="4595615"/>
            <a:ext cx="6426200" cy="1532334"/>
          </a:xfrm>
          <a:prstGeom prst="wedgeRoundRectCallout">
            <a:avLst>
              <a:gd name="adj1" fmla="val -21986"/>
              <a:gd name="adj2" fmla="val -40181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x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ea typeface="ＭＳ Ｐゴシック" charset="0"/>
                <a:sym typeface="Symbol" charset="0"/>
              </a:rPr>
              <a:t></a:t>
            </a: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 [1,2,3] is the last generator, so the value of the x component of each pair changes most frequently.</a:t>
            </a:r>
          </a:p>
        </p:txBody>
      </p:sp>
      <p:sp>
        <p:nvSpPr>
          <p:cNvPr id="20485" name="Line 65"/>
          <p:cNvSpPr>
            <a:spLocks noChangeShapeType="1"/>
          </p:cNvSpPr>
          <p:nvPr/>
        </p:nvSpPr>
        <p:spPr bwMode="auto">
          <a:xfrm flipV="1">
            <a:off x="3292475" y="3079750"/>
            <a:ext cx="0" cy="4953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86" name="Line 66"/>
          <p:cNvSpPr>
            <a:spLocks noChangeShapeType="1"/>
          </p:cNvSpPr>
          <p:nvPr/>
        </p:nvSpPr>
        <p:spPr bwMode="auto">
          <a:xfrm flipV="1">
            <a:off x="4384675" y="3079750"/>
            <a:ext cx="0" cy="4953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87" name="Line 67"/>
          <p:cNvSpPr>
            <a:spLocks noChangeShapeType="1"/>
          </p:cNvSpPr>
          <p:nvPr/>
        </p:nvSpPr>
        <p:spPr bwMode="auto">
          <a:xfrm flipV="1">
            <a:off x="5489575" y="3079750"/>
            <a:ext cx="0" cy="4953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88" name="Line 68"/>
          <p:cNvSpPr>
            <a:spLocks noChangeShapeType="1"/>
          </p:cNvSpPr>
          <p:nvPr/>
        </p:nvSpPr>
        <p:spPr bwMode="auto">
          <a:xfrm flipV="1">
            <a:off x="6619875" y="3079750"/>
            <a:ext cx="0" cy="4953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89" name="Line 69"/>
          <p:cNvSpPr>
            <a:spLocks noChangeShapeType="1"/>
          </p:cNvSpPr>
          <p:nvPr/>
        </p:nvSpPr>
        <p:spPr bwMode="auto">
          <a:xfrm flipV="1">
            <a:off x="7699375" y="3079750"/>
            <a:ext cx="0" cy="4953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90" name="Line 70"/>
          <p:cNvSpPr>
            <a:spLocks noChangeShapeType="1"/>
          </p:cNvSpPr>
          <p:nvPr/>
        </p:nvSpPr>
        <p:spPr bwMode="auto">
          <a:xfrm flipV="1">
            <a:off x="8805863" y="3079750"/>
            <a:ext cx="0" cy="4953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91" name="Line 71"/>
          <p:cNvSpPr>
            <a:spLocks noChangeShapeType="1"/>
          </p:cNvSpPr>
          <p:nvPr/>
        </p:nvSpPr>
        <p:spPr bwMode="auto">
          <a:xfrm flipH="1" flipV="1">
            <a:off x="3292475" y="3575051"/>
            <a:ext cx="2846388" cy="10398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92" name="Line 72"/>
          <p:cNvSpPr>
            <a:spLocks noChangeShapeType="1"/>
          </p:cNvSpPr>
          <p:nvPr/>
        </p:nvSpPr>
        <p:spPr bwMode="auto">
          <a:xfrm>
            <a:off x="4381501" y="3575051"/>
            <a:ext cx="1744663" cy="10398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93" name="Line 73"/>
          <p:cNvSpPr>
            <a:spLocks noChangeShapeType="1"/>
          </p:cNvSpPr>
          <p:nvPr/>
        </p:nvSpPr>
        <p:spPr bwMode="auto">
          <a:xfrm>
            <a:off x="5494339" y="3587751"/>
            <a:ext cx="631825" cy="10271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94" name="Line 74"/>
          <p:cNvSpPr>
            <a:spLocks noChangeShapeType="1"/>
          </p:cNvSpPr>
          <p:nvPr/>
        </p:nvSpPr>
        <p:spPr bwMode="auto">
          <a:xfrm flipH="1">
            <a:off x="6126163" y="3575051"/>
            <a:ext cx="495300" cy="10398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95" name="Line 75"/>
          <p:cNvSpPr>
            <a:spLocks noChangeShapeType="1"/>
          </p:cNvSpPr>
          <p:nvPr/>
        </p:nvSpPr>
        <p:spPr bwMode="auto">
          <a:xfrm flipV="1">
            <a:off x="6126164" y="3575051"/>
            <a:ext cx="1570037" cy="10398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96" name="Line 76"/>
          <p:cNvSpPr>
            <a:spLocks noChangeShapeType="1"/>
          </p:cNvSpPr>
          <p:nvPr/>
        </p:nvSpPr>
        <p:spPr bwMode="auto">
          <a:xfrm flipV="1">
            <a:off x="6126163" y="3587751"/>
            <a:ext cx="2684462" cy="10271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2BDEFCF-0FB4-D544-86FA-341B0086AC91}" type="slidenum">
              <a:rPr lang="en-US" sz="140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954213" y="603251"/>
            <a:ext cx="8178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Font typeface="Monotype Sorts" charset="0"/>
              <a:buChar char="z"/>
            </a:pPr>
            <a:r>
              <a:rPr kumimoji="1"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Changing the </a:t>
            </a:r>
            <a:r>
              <a:rPr kumimoji="1" lang="en-US" sz="2800" u="sng">
                <a:solidFill>
                  <a:srgbClr val="FFFFFF"/>
                </a:solidFill>
                <a:latin typeface="Tahoma" charset="0"/>
                <a:ea typeface="ＭＳ Ｐゴシック" charset="0"/>
              </a:rPr>
              <a:t>order</a:t>
            </a:r>
            <a:r>
              <a:rPr kumimoji="1"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 of the generators changes the order of the elements in the final list: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741614" y="2422437"/>
            <a:ext cx="7064755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&gt; [(x,y) | y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[4,5], x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[1,2,3]]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latin typeface="Lucida Sans Typewriter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[(1,4),(2,4),(3,4),(1,5),(2,5),(3,5)]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954214" y="4384676"/>
            <a:ext cx="82645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Font typeface="Monotype Sorts" charset="0"/>
              <a:buChar char="z"/>
            </a:pPr>
            <a:r>
              <a:rPr kumimoji="1"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Multiple generators are like </a:t>
            </a:r>
            <a:r>
              <a:rPr kumimoji="1" lang="en-US" sz="2800" u="sng">
                <a:solidFill>
                  <a:srgbClr val="FFFFFF"/>
                </a:solidFill>
                <a:latin typeface="Tahoma" charset="0"/>
                <a:ea typeface="ＭＳ Ｐゴシック" charset="0"/>
              </a:rPr>
              <a:t>nested loops</a:t>
            </a:r>
            <a:r>
              <a:rPr kumimoji="1"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, with later generators as more deeply nested loops whose variables change value more frequently.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B8429BB-C141-CC4E-AF2C-1B777CB4FE98}" type="slidenum">
              <a:rPr lang="en-US" sz="140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Guards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974851" y="1631950"/>
            <a:ext cx="82089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List comprehensions can use </a:t>
            </a:r>
            <a:r>
              <a:rPr lang="en-US" u="sng">
                <a:solidFill>
                  <a:srgbClr val="FFFFFF"/>
                </a:solidFill>
              </a:rPr>
              <a:t>guards</a:t>
            </a:r>
            <a:r>
              <a:rPr lang="en-US">
                <a:solidFill>
                  <a:srgbClr val="FFFFFF"/>
                </a:solidFill>
              </a:rPr>
              <a:t> to restrict the values produced by earlier generators.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3052763" y="3380499"/>
            <a:ext cx="4950394" cy="46371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[x | x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[1..10], even x]</a:t>
            </a:r>
          </a:p>
        </p:txBody>
      </p:sp>
      <p:sp>
        <p:nvSpPr>
          <p:cNvPr id="23557" name="AutoShape 5"/>
          <p:cNvSpPr>
            <a:spLocks noChangeArrowheads="1"/>
          </p:cNvSpPr>
          <p:nvPr/>
        </p:nvSpPr>
        <p:spPr bwMode="auto">
          <a:xfrm>
            <a:off x="2481264" y="4718050"/>
            <a:ext cx="6010275" cy="1531938"/>
          </a:xfrm>
          <a:prstGeom prst="wedgeRoundRectCallout">
            <a:avLst>
              <a:gd name="adj1" fmla="val -22162"/>
              <a:gd name="adj2" fmla="val -78176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The list [2,4,6,8,10] of all numbers x such that x is an element of the list [1..10] and x is even.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08FD34C-E4B7-6F48-B7EA-2EA7458A9341}" type="slidenum">
              <a:rPr lang="en-US" sz="140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2830514" y="2066925"/>
            <a:ext cx="6745287" cy="12969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factors :: Int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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[Int]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factors n =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  [x | x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[1..n], n `mod` x == 0]</a:t>
            </a:r>
          </a:p>
        </p:txBody>
      </p:sp>
      <p:sp>
        <p:nvSpPr>
          <p:cNvPr id="24579" name="Text Box 7"/>
          <p:cNvSpPr txBox="1">
            <a:spLocks noChangeArrowheads="1"/>
          </p:cNvSpPr>
          <p:nvPr/>
        </p:nvSpPr>
        <p:spPr bwMode="auto">
          <a:xfrm>
            <a:off x="1935163" y="581025"/>
            <a:ext cx="82089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Using a guard we can define a function that maps a positive integer to its list of </a:t>
            </a:r>
            <a:r>
              <a:rPr lang="en-US" u="sng">
                <a:solidFill>
                  <a:srgbClr val="FFFFFF"/>
                </a:solidFill>
              </a:rPr>
              <a:t>factors</a:t>
            </a:r>
            <a:r>
              <a:rPr lang="en-US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24580" name="Text Box 8"/>
          <p:cNvSpPr txBox="1">
            <a:spLocks noChangeArrowheads="1"/>
          </p:cNvSpPr>
          <p:nvPr/>
        </p:nvSpPr>
        <p:spPr bwMode="auto">
          <a:xfrm>
            <a:off x="1935163" y="3927476"/>
            <a:ext cx="2381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For example:</a:t>
            </a:r>
          </a:p>
        </p:txBody>
      </p:sp>
      <p:sp>
        <p:nvSpPr>
          <p:cNvPr id="24581" name="Text Box 9"/>
          <p:cNvSpPr txBox="1">
            <a:spLocks noChangeArrowheads="1"/>
          </p:cNvSpPr>
          <p:nvPr/>
        </p:nvSpPr>
        <p:spPr bwMode="auto">
          <a:xfrm>
            <a:off x="2830513" y="5005300"/>
            <a:ext cx="2416046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&gt; factors 15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latin typeface="Lucida Sans Typewriter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[1,3,5,15]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0C6DC88-D0FE-4749-AAC7-B778BC577D57}" type="slidenum">
              <a:rPr lang="en-US" sz="140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String Comprehensions</a:t>
            </a:r>
          </a:p>
        </p:txBody>
      </p:sp>
      <p:sp>
        <p:nvSpPr>
          <p:cNvPr id="32771" name="Text Box 8"/>
          <p:cNvSpPr txBox="1">
            <a:spLocks noChangeArrowheads="1"/>
          </p:cNvSpPr>
          <p:nvPr/>
        </p:nvSpPr>
        <p:spPr bwMode="auto">
          <a:xfrm>
            <a:off x="1978025" y="1647825"/>
            <a:ext cx="8364538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A </a:t>
            </a:r>
            <a:r>
              <a:rPr lang="en-US" u="sng">
                <a:solidFill>
                  <a:srgbClr val="FFFFFF"/>
                </a:solidFill>
              </a:rPr>
              <a:t>string</a:t>
            </a:r>
            <a:r>
              <a:rPr lang="en-US">
                <a:solidFill>
                  <a:srgbClr val="FFFFFF"/>
                </a:solidFill>
              </a:rPr>
              <a:t> is a sequence of characters enclosed in double quotes.  Internally, however, strings are represented as lists of characters.</a:t>
            </a:r>
          </a:p>
        </p:txBody>
      </p:sp>
      <p:sp>
        <p:nvSpPr>
          <p:cNvPr id="32772" name="Text Box 10"/>
          <p:cNvSpPr txBox="1">
            <a:spLocks noChangeArrowheads="1"/>
          </p:cNvSpPr>
          <p:nvPr/>
        </p:nvSpPr>
        <p:spPr bwMode="auto">
          <a:xfrm>
            <a:off x="3421064" y="3880497"/>
            <a:ext cx="2973891" cy="4638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"abc" :: String</a:t>
            </a:r>
          </a:p>
        </p:txBody>
      </p:sp>
      <p:sp>
        <p:nvSpPr>
          <p:cNvPr id="32773" name="AutoShape 12"/>
          <p:cNvSpPr>
            <a:spLocks noChangeArrowheads="1"/>
          </p:cNvSpPr>
          <p:nvPr/>
        </p:nvSpPr>
        <p:spPr bwMode="auto">
          <a:xfrm>
            <a:off x="2651126" y="5397500"/>
            <a:ext cx="5565775" cy="579438"/>
          </a:xfrm>
          <a:prstGeom prst="wedgeRoundRectCallout">
            <a:avLst>
              <a:gd name="adj1" fmla="val -22759"/>
              <a:gd name="adj2" fmla="val -147685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Means [</a:t>
            </a:r>
            <a:r>
              <a:rPr lang="ja-JP" alt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’</a:t>
            </a:r>
            <a:r>
              <a:rPr lang="en-US" altLang="ja-JP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a</a:t>
            </a:r>
            <a:r>
              <a:rPr lang="ja-JP" alt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’</a:t>
            </a:r>
            <a:r>
              <a:rPr lang="en-US" altLang="ja-JP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, </a:t>
            </a:r>
            <a:r>
              <a:rPr lang="ja-JP" alt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’</a:t>
            </a:r>
            <a:r>
              <a:rPr lang="en-US" altLang="ja-JP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b</a:t>
            </a:r>
            <a:r>
              <a:rPr lang="ja-JP" alt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’</a:t>
            </a:r>
            <a:r>
              <a:rPr lang="en-US" altLang="ja-JP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, </a:t>
            </a:r>
            <a:r>
              <a:rPr lang="ja-JP" alt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’</a:t>
            </a:r>
            <a:r>
              <a:rPr lang="en-US" altLang="ja-JP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c</a:t>
            </a:r>
            <a:r>
              <a:rPr lang="ja-JP" altLang="en-US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’</a:t>
            </a:r>
            <a:r>
              <a:rPr lang="en-US" altLang="ja-JP" sz="2800">
                <a:solidFill>
                  <a:srgbClr val="FFFFFF"/>
                </a:solidFill>
                <a:latin typeface="Tahoma" charset="0"/>
                <a:ea typeface="ＭＳ Ｐゴシック" charset="0"/>
              </a:rPr>
              <a:t>] :: [Char].</a:t>
            </a:r>
            <a:endParaRPr lang="en-US" sz="2800">
              <a:solidFill>
                <a:srgbClr val="FFFFFF"/>
              </a:solidFill>
              <a:latin typeface="Tahoma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437207A-5C4F-4A46-AC53-26D8AA8FCCA8}" type="slidenum">
              <a:rPr lang="en-US" sz="140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963739" y="568325"/>
            <a:ext cx="8174037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Similarly, list comprehensions can also be used to define functions on strings, such counting how many times a character occurs in a string: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232025" y="2619217"/>
            <a:ext cx="8201284" cy="93217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count :: Char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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String 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</a:t>
            </a: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 Int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count x xs = length [x</a:t>
            </a:r>
            <a:r>
              <a:rPr lang="ja-JP" altLang="en-US" sz="2400">
                <a:solidFill>
                  <a:srgbClr val="FFFFFF"/>
                </a:solidFill>
                <a:latin typeface="Lucida Sans Typewriter" charset="0"/>
              </a:rPr>
              <a:t>’</a:t>
            </a:r>
            <a:r>
              <a:rPr lang="en-US" altLang="ja-JP" sz="2400">
                <a:solidFill>
                  <a:srgbClr val="FFFFFF"/>
                </a:solidFill>
                <a:latin typeface="Lucida Sans Typewriter" charset="0"/>
              </a:rPr>
              <a:t> | x</a:t>
            </a:r>
            <a:r>
              <a:rPr lang="ja-JP" altLang="en-US" sz="2400">
                <a:solidFill>
                  <a:srgbClr val="FFFFFF"/>
                </a:solidFill>
                <a:latin typeface="Lucida Sans Typewriter" charset="0"/>
              </a:rPr>
              <a:t>’</a:t>
            </a:r>
            <a:r>
              <a:rPr lang="en-US" altLang="ja-JP" sz="2400">
                <a:solidFill>
                  <a:srgbClr val="FFFFFF"/>
                </a:solidFill>
                <a:latin typeface="Lucida Sans Typewriter" charset="0"/>
              </a:rPr>
              <a:t> </a:t>
            </a:r>
            <a:r>
              <a:rPr lang="en-US" altLang="ja-JP" sz="240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altLang="ja-JP" sz="2400">
                <a:solidFill>
                  <a:srgbClr val="FFFFFF"/>
                </a:solidFill>
                <a:latin typeface="Lucida Sans Typewriter" charset="0"/>
              </a:rPr>
              <a:t> xs, x == x</a:t>
            </a:r>
            <a:r>
              <a:rPr lang="ja-JP" altLang="en-US" sz="2400">
                <a:solidFill>
                  <a:srgbClr val="FFFFFF"/>
                </a:solidFill>
                <a:latin typeface="Lucida Sans Typewriter" charset="0"/>
              </a:rPr>
              <a:t>’</a:t>
            </a:r>
            <a:r>
              <a:rPr lang="en-US" altLang="ja-JP" sz="2400">
                <a:solidFill>
                  <a:srgbClr val="FFFFFF"/>
                </a:solidFill>
                <a:latin typeface="Lucida Sans Typewriter" charset="0"/>
              </a:rPr>
              <a:t>]</a:t>
            </a:r>
            <a:endParaRPr lang="en-US" sz="2400">
              <a:solidFill>
                <a:srgbClr val="FFFFFF"/>
              </a:solidFill>
              <a:latin typeface="Lucida Sans Typewriter" charset="0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963739" y="4216401"/>
            <a:ext cx="8301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For example: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2249489" y="5375275"/>
            <a:ext cx="4821237" cy="8318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&gt; count </a:t>
            </a:r>
            <a:r>
              <a:rPr lang="ja-JP" altLang="en-US" sz="2400">
                <a:solidFill>
                  <a:srgbClr val="FFFFFF"/>
                </a:solidFill>
                <a:latin typeface="Lucida Sans Typewriter" charset="0"/>
              </a:rPr>
              <a:t>’</a:t>
            </a:r>
            <a:r>
              <a:rPr lang="en-US" altLang="ja-JP" sz="2400">
                <a:solidFill>
                  <a:srgbClr val="FFFFFF"/>
                </a:solidFill>
                <a:latin typeface="Lucida Sans Typewriter" charset="0"/>
              </a:rPr>
              <a:t>s</a:t>
            </a:r>
            <a:r>
              <a:rPr lang="ja-JP" altLang="en-US" sz="2400">
                <a:solidFill>
                  <a:srgbClr val="FFFFFF"/>
                </a:solidFill>
                <a:latin typeface="Lucida Sans Typewriter" charset="0"/>
              </a:rPr>
              <a:t>’</a:t>
            </a:r>
            <a:r>
              <a:rPr lang="en-US" altLang="ja-JP" sz="2400">
                <a:solidFill>
                  <a:srgbClr val="FFFFFF"/>
                </a:solidFill>
                <a:latin typeface="Lucida Sans Typewriter" charset="0"/>
              </a:rPr>
              <a:t> "Mississippi"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Lucida Sans Typewriter" charset="0"/>
              </a:rPr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F925D-9937-71D1-1250-BBB15C0A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84AD1-DA98-44BE-3133-33FE06642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Pairs = [(</a:t>
            </a:r>
            <a:r>
              <a:rPr lang="en-US" dirty="0" err="1"/>
              <a:t>x,y</a:t>
            </a:r>
            <a:r>
              <a:rPr lang="en-US" dirty="0"/>
              <a:t>)|x</a:t>
            </a:r>
            <a:r>
              <a:rPr lang="en-US" dirty="0">
                <a:sym typeface="Wingdings" panose="05000000000000000000" pitchFamily="2" charset="2"/>
              </a:rPr>
              <a:t> [1,2,3],y[‘</a:t>
            </a:r>
            <a:r>
              <a:rPr lang="en-US" dirty="0" err="1">
                <a:sym typeface="Wingdings" panose="05000000000000000000" pitchFamily="2" charset="2"/>
              </a:rPr>
              <a:t>a’,’b</a:t>
            </a:r>
            <a:r>
              <a:rPr lang="en-US" dirty="0">
                <a:sym typeface="Wingdings" panose="05000000000000000000" pitchFamily="2" charset="2"/>
              </a:rPr>
              <a:t>’]]</a:t>
            </a:r>
          </a:p>
          <a:p>
            <a:r>
              <a:rPr lang="en-US" dirty="0" err="1">
                <a:sym typeface="Wingdings" panose="05000000000000000000" pitchFamily="2" charset="2"/>
              </a:rPr>
              <a:t>Sumpairs</a:t>
            </a:r>
            <a:r>
              <a:rPr lang="en-US" dirty="0">
                <a:sym typeface="Wingdings" panose="05000000000000000000" pitchFamily="2" charset="2"/>
              </a:rPr>
              <a:t>=[(</a:t>
            </a:r>
            <a:r>
              <a:rPr lang="en-US" dirty="0" err="1">
                <a:sym typeface="Wingdings" panose="05000000000000000000" pitchFamily="2" charset="2"/>
              </a:rPr>
              <a:t>x,y</a:t>
            </a:r>
            <a:r>
              <a:rPr lang="en-US" dirty="0">
                <a:sym typeface="Wingdings" panose="05000000000000000000" pitchFamily="2" charset="2"/>
              </a:rPr>
              <a:t>)|x[1..9],y[1..9],</a:t>
            </a:r>
            <a:r>
              <a:rPr lang="en-US" dirty="0" err="1">
                <a:sym typeface="Wingdings" panose="05000000000000000000" pitchFamily="2" charset="2"/>
              </a:rPr>
              <a:t>x+y</a:t>
            </a:r>
            <a:r>
              <a:rPr lang="en-US" dirty="0">
                <a:sym typeface="Wingdings" panose="05000000000000000000" pitchFamily="2" charset="2"/>
              </a:rPr>
              <a:t>==10]</a:t>
            </a:r>
          </a:p>
          <a:p>
            <a:r>
              <a:rPr lang="en-US" dirty="0" err="1">
                <a:sym typeface="Wingdings" panose="05000000000000000000" pitchFamily="2" charset="2"/>
              </a:rPr>
              <a:t>Multtable</a:t>
            </a:r>
            <a:r>
              <a:rPr lang="en-US" dirty="0">
                <a:sym typeface="Wingdings" panose="05000000000000000000" pitchFamily="2" charset="2"/>
              </a:rPr>
              <a:t> = [[x*</a:t>
            </a:r>
            <a:r>
              <a:rPr lang="en-US" dirty="0" err="1">
                <a:sym typeface="Wingdings" panose="05000000000000000000" pitchFamily="2" charset="2"/>
              </a:rPr>
              <a:t>y|x</a:t>
            </a:r>
            <a:r>
              <a:rPr lang="en-US" dirty="0">
                <a:sym typeface="Wingdings" panose="05000000000000000000" pitchFamily="2" charset="2"/>
              </a:rPr>
              <a:t>[1..5],y[1..5]]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20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UN Template">
  <a:themeElements>
    <a:clrScheme name="FUN Template 6">
      <a:dk1>
        <a:srgbClr val="000000"/>
      </a:dk1>
      <a:lt1>
        <a:srgbClr val="FFFFFF"/>
      </a:lt1>
      <a:dk2>
        <a:srgbClr val="000066"/>
      </a:dk2>
      <a:lt2>
        <a:srgbClr val="FFCC00"/>
      </a:lt2>
      <a:accent1>
        <a:srgbClr val="0066FF"/>
      </a:accent1>
      <a:accent2>
        <a:srgbClr val="33CCCC"/>
      </a:accent2>
      <a:accent3>
        <a:srgbClr val="AAAAB8"/>
      </a:accent3>
      <a:accent4>
        <a:srgbClr val="DADADA"/>
      </a:accent4>
      <a:accent5>
        <a:srgbClr val="AAB8FF"/>
      </a:accent5>
      <a:accent6>
        <a:srgbClr val="2DB9B9"/>
      </a:accent6>
      <a:hlink>
        <a:srgbClr val="FF00FF"/>
      </a:hlink>
      <a:folHlink>
        <a:srgbClr val="9933FF"/>
      </a:folHlink>
    </a:clrScheme>
    <a:fontScheme name="FUN Template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pitchFamily="-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pitchFamily="-1" charset="0"/>
          </a:defRPr>
        </a:defPPr>
      </a:lstStyle>
    </a:lnDef>
  </a:objectDefaults>
  <a:extraClrSchemeLst>
    <a:extraClrScheme>
      <a:clrScheme name="FUN Template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N Template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N 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N Template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N Template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N Template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N Template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897</Words>
  <Application>Microsoft Office PowerPoint</Application>
  <PresentationFormat>Widescreen</PresentationFormat>
  <Paragraphs>101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Monotype Sorts</vt:lpstr>
      <vt:lpstr>Aptos</vt:lpstr>
      <vt:lpstr>Aptos Display</vt:lpstr>
      <vt:lpstr>Arial</vt:lpstr>
      <vt:lpstr>Arial Black</vt:lpstr>
      <vt:lpstr>Lucida Sans Typewriter</vt:lpstr>
      <vt:lpstr>Symbol</vt:lpstr>
      <vt:lpstr>Tahoma</vt:lpstr>
      <vt:lpstr>Times New Roman</vt:lpstr>
      <vt:lpstr>Wingdings</vt:lpstr>
      <vt:lpstr>Office Theme</vt:lpstr>
      <vt:lpstr>FUN Template</vt:lpstr>
      <vt:lpstr>Functions &amp; List Comprehensions</vt:lpstr>
      <vt:lpstr>functions</vt:lpstr>
      <vt:lpstr>function examples</vt:lpstr>
      <vt:lpstr>List Comprehensions</vt:lpstr>
      <vt:lpstr>Lists Comprehensions</vt:lpstr>
      <vt:lpstr>PowerPoint Presentation</vt:lpstr>
      <vt:lpstr>syntax</vt:lpstr>
      <vt:lpstr>Dependant Generators</vt:lpstr>
      <vt:lpstr>PowerPoint Presentation</vt:lpstr>
      <vt:lpstr>PowerPoint Presentation</vt:lpstr>
      <vt:lpstr>Guards</vt:lpstr>
      <vt:lpstr>PowerPoint Presentation</vt:lpstr>
      <vt:lpstr>String Comprehensions</vt:lpstr>
      <vt:lpstr>PowerPoint Presentation</vt:lpstr>
      <vt:lpstr>More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MALEMAG</dc:creator>
  <cp:lastModifiedBy>MALEMAG</cp:lastModifiedBy>
  <cp:revision>11</cp:revision>
  <dcterms:created xsi:type="dcterms:W3CDTF">2026-08-16T05:57:51Z</dcterms:created>
  <dcterms:modified xsi:type="dcterms:W3CDTF">2026-08-18T09:24:58Z</dcterms:modified>
</cp:coreProperties>
</file>