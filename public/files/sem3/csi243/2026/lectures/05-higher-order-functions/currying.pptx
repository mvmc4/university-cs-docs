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DAE0-EA2D-E455-4545-B6C14D325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FB3F7-B932-7762-1FEF-C640DD398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10CBD-06EE-2463-4590-8872E46EC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9F213-DA1B-D8E6-3335-984A3F5C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F54AC-0943-5E1B-07E5-AF3C73EA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20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A0E2-D4D2-8CBF-6F8F-EC612C2D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B5518-046F-8EA2-55AC-1EEEA8E10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CB997-165D-2019-A6E6-A511EF40F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1D3B7-8D86-64F9-25F9-BCC2CB486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88807-F5B0-545E-0434-0CAB13FB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1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3501-5777-765C-5185-E6200195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35F84-F423-F7A0-2045-4DC137C72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47DD7-493A-F8E2-02EE-9AE12A738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8992E-1778-9E2E-E575-D3E24C480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0A9BD-5C18-AB2C-231F-C78F6449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3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FFB0-B44F-E8B5-1D7E-D8915081A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FD773-8F39-4A0B-8350-F0152B2B3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2CEA1-0501-B59E-2BAC-84B19A8A0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B3FD0-8539-6D0C-69D5-C406DF9C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152B6-6566-5BBF-18C8-9B5CDB1F2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3E2EA-A1D7-61F5-CDD3-242C853C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29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9297-D461-039D-33CE-FFAB256E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01BFF-31A0-6EBA-3454-8091E409D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73802-8646-A79F-FC4A-C02E730E0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D13F9-21D7-86CF-FBD2-0E0BF9052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12C53-5C36-E6F4-282A-0CFBAEA18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80210-EE02-6A9B-E826-417D820A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233BB2-3ABA-A91A-D088-0570381E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D89E2-53B9-7B40-0F95-4A7688B4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2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DE57-E5AD-A06F-F464-CE1674CC3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16A0B-E29E-C572-879A-B34FFC16D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2FA9A-6770-4EED-DF09-532FEFC8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AE562-F3D0-C285-F312-1AAA9652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8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B3CBE-8C89-2CA0-F983-2B4138CC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1CEAF6-4912-2FFD-94C9-C50B3566B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BFBAC-EA44-0291-E8D7-BD9371A5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7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F812-63EF-621D-D7E7-F3DD7114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90BCF-7FE2-092C-71D4-D93CFC744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A3A66-4223-7F0C-288B-A6D59C864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6DF8D-2180-BD2B-43EA-8D872DE2C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FCA49-FB76-C11E-AFBE-8669EC14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CEA51-51E3-9A4E-FA0B-DBF4AD49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5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F4A4-8CF5-A9D8-020C-A18DB8830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DA32A-91F9-3D87-9742-E37F3BFD9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8AE64-9759-DB42-B9A8-42D861AD9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4B0B1-E516-ABA2-4B30-0D310AE55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623B1-09C4-7D94-D1F9-414E5744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B182D-BB9B-CEDE-204F-7E41209C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5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D1CF-C980-E620-5402-F418524D1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44612-C723-F13E-891E-BFAFEDA68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BCF25-5A4C-A2E2-6930-9D90084D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73A57-3C20-068C-5A52-20DF4B2C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6F38A-A317-74E8-98E2-D7FD72151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5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5E01A-B26B-3592-5699-1FB42723C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22921-97FC-0952-EA09-5CB8003B5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E4AEF-F0A8-0600-E56E-23147564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5DD45-BB05-E665-77FF-1818FA7E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65F04-8189-955A-6908-EC3569C9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2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8E695-027A-A9EE-7D38-6C46969D1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857CA-2A59-E239-D340-392EBE333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4A3CE-8CBE-3192-79C0-B7330CC7C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015DD-0EF3-4513-AE57-6A9346EF770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9FB39-D546-CACC-DD62-E9408E320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DB70D-5CEC-2948-5D0E-CEA163D4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766-AD19-4E8C-8F99-A6C6591BE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5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BC0E-6446-4830-2672-AF96AA67D9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Currying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5D608-AE1C-DC4E-EEF8-EA978DF7D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1674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 Haskell, </a:t>
            </a:r>
            <a:r>
              <a:rPr lang="en-US" b="1" dirty="0"/>
              <a:t>every function officially takes exactly one parameter.</a:t>
            </a:r>
            <a:r>
              <a:rPr lang="en-US" dirty="0"/>
              <a:t> When you write a function that seems to take multiple parameters, you are actually writing a nested series of single-parameter functions.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The Fundamental Idea:</a:t>
            </a:r>
            <a:br>
              <a:rPr lang="en-US" dirty="0"/>
            </a:br>
            <a:r>
              <a:rPr lang="en-US" dirty="0"/>
              <a:t>A function that takes two arguments (e.g., f(x, y)) is instead represented as a function that takes x and returns a </a:t>
            </a:r>
            <a:r>
              <a:rPr lang="en-US" b="1" dirty="0"/>
              <a:t>new function</a:t>
            </a:r>
            <a:r>
              <a:rPr lang="en-US" dirty="0"/>
              <a:t> that takes y and returns t</a:t>
            </a:r>
          </a:p>
        </p:txBody>
      </p:sp>
    </p:spTree>
    <p:extLst>
      <p:ext uri="{BB962C8B-B14F-4D97-AF65-F5344CB8AC3E}">
        <p14:creationId xmlns:p14="http://schemas.microsoft.com/office/powerpoint/2010/main" val="51673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357EE-C0EA-0388-3781-D4ED16062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645"/>
            <a:ext cx="10515600" cy="598031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The Syntax Deception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add :: Int -&gt; Int -&gt; Int</a:t>
            </a:r>
          </a:p>
          <a:p>
            <a:pPr marL="457200" lvl="1" indent="0">
              <a:buNone/>
            </a:pPr>
            <a:r>
              <a:rPr lang="en-US" dirty="0"/>
              <a:t>add x y = x + y</a:t>
            </a:r>
          </a:p>
          <a:p>
            <a:r>
              <a:rPr lang="en-US" b="1" dirty="0"/>
              <a:t>The Truth: t</a:t>
            </a:r>
            <a:r>
              <a:rPr lang="en-US" dirty="0"/>
              <a:t>he type signature Int -&gt; Int -&gt; Int is </a:t>
            </a:r>
            <a:r>
              <a:rPr lang="en-US" b="1" dirty="0"/>
              <a:t>right-associative</a:t>
            </a:r>
            <a:r>
              <a:rPr lang="en-US" dirty="0"/>
              <a:t>. It is implicitly:</a:t>
            </a:r>
          </a:p>
          <a:p>
            <a:pPr marL="457200" lvl="1" indent="0" latinLnBrk="1">
              <a:buNone/>
            </a:pPr>
            <a:r>
              <a:rPr lang="en-US" dirty="0"/>
              <a:t>add :: Int -&gt; (Int -&gt; Int)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This means:</a:t>
            </a:r>
          </a:p>
          <a:p>
            <a:pPr marL="457200" lvl="1" indent="-342900">
              <a:spcBef>
                <a:spcPts val="1200"/>
              </a:spcBef>
              <a:spcAft>
                <a:spcPts val="1200"/>
              </a:spcAft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add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is a function that takes an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x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457200" lvl="1" indent="-342900">
              <a:spcBef>
                <a:spcPts val="450"/>
              </a:spcBef>
              <a:spcAft>
                <a:spcPts val="1200"/>
              </a:spcAft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It returns a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new function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of type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Int -&gt; Int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457200" lvl="1" indent="-342900">
              <a:spcBef>
                <a:spcPts val="450"/>
              </a:spcBef>
              <a:spcAft>
                <a:spcPts val="1200"/>
              </a:spcAft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This new function takes an 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 and returns the sum 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x + 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r>
              <a:rPr lang="en-US" b="1" dirty="0"/>
              <a:t>The Application Deception:</a:t>
            </a:r>
            <a:br>
              <a:rPr lang="en-US" dirty="0"/>
            </a:br>
            <a:r>
              <a:rPr lang="en-US" dirty="0"/>
              <a:t>When we call add 3 5, it is </a:t>
            </a:r>
            <a:r>
              <a:rPr lang="en-US" b="1" dirty="0"/>
              <a:t>left-associative</a:t>
            </a:r>
            <a:r>
              <a:rPr lang="en-US" dirty="0"/>
              <a:t>. It is implicitly:</a:t>
            </a:r>
          </a:p>
          <a:p>
            <a:pPr lvl="1" latinLnBrk="1"/>
            <a:r>
              <a:rPr lang="en-US" dirty="0"/>
              <a:t>(add 3) 5</a:t>
            </a:r>
          </a:p>
          <a:p>
            <a:pPr lvl="1"/>
            <a:r>
              <a:rPr lang="en-US" dirty="0"/>
              <a:t>add 3 evaluates to a new function that "remembers" x = 3.</a:t>
            </a:r>
          </a:p>
          <a:p>
            <a:pPr lvl="1"/>
            <a:r>
              <a:rPr lang="en-US" dirty="0"/>
              <a:t>This new function is then applied to 5, returning 8.</a:t>
            </a:r>
          </a:p>
          <a:p>
            <a:pPr latinLnBrk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2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45300-50D1-533B-B02A-B8C2459D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Mechanism: Partial Application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8F511-4C2D-7CDB-7747-87C3C7088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Because every function is curried, we can call a function with </a:t>
            </a:r>
            <a:r>
              <a:rPr lang="en-US" b="1" dirty="0"/>
              <a:t>fewer arguments</a:t>
            </a:r>
            <a:r>
              <a:rPr lang="en-US" dirty="0"/>
              <a:t> than it seems to need. This is called </a:t>
            </a:r>
            <a:r>
              <a:rPr lang="en-US" b="1" dirty="0"/>
              <a:t>partial application</a:t>
            </a:r>
            <a:r>
              <a:rPr lang="en-US" dirty="0"/>
              <a:t>. The result is a new function waiting for the remaining arguments.</a:t>
            </a:r>
          </a:p>
          <a:p>
            <a:r>
              <a:rPr lang="en-US" b="1" dirty="0"/>
              <a:t>Example 1: Creating a "Plus 10" function</a:t>
            </a:r>
            <a:endParaRPr lang="en-US" dirty="0"/>
          </a:p>
          <a:p>
            <a:pPr lvl="1" latinLnBrk="1"/>
            <a:r>
              <a:rPr lang="en-US" dirty="0"/>
              <a:t>add :: Int -&gt; Int -&gt; Int</a:t>
            </a:r>
          </a:p>
          <a:p>
            <a:pPr lvl="1" latinLnBrk="1"/>
            <a:r>
              <a:rPr lang="en-US" dirty="0"/>
              <a:t>add x y = x + y</a:t>
            </a:r>
          </a:p>
          <a:p>
            <a:pPr marL="0" indent="0" latinLnBrk="1">
              <a:buNone/>
            </a:pPr>
            <a:r>
              <a:rPr lang="en-US" i="1" dirty="0"/>
              <a:t>-- Partially apply 'add' with only the first argument (10)</a:t>
            </a:r>
            <a:endParaRPr lang="en-US" dirty="0"/>
          </a:p>
          <a:p>
            <a:pPr lvl="1" latinLnBrk="1"/>
            <a:r>
              <a:rPr lang="en-US" dirty="0"/>
              <a:t>add10 :: Int -&gt; Int</a:t>
            </a:r>
          </a:p>
          <a:p>
            <a:pPr lvl="1" latinLnBrk="1"/>
            <a:r>
              <a:rPr lang="en-US" dirty="0"/>
              <a:t>add10 = add 10</a:t>
            </a:r>
          </a:p>
          <a:p>
            <a:pPr marL="0" indent="0" latinLnBrk="1">
              <a:buNone/>
            </a:pPr>
            <a:r>
              <a:rPr lang="en-US" i="1" dirty="0"/>
              <a:t>-- Now use it</a:t>
            </a:r>
            <a:endParaRPr lang="en-US" dirty="0"/>
          </a:p>
          <a:p>
            <a:pPr lvl="1" latinLnBrk="1"/>
            <a:r>
              <a:rPr lang="en-US" dirty="0"/>
              <a:t>result1 = add10 5  </a:t>
            </a:r>
            <a:r>
              <a:rPr lang="en-US" i="1" dirty="0"/>
              <a:t>-- Result: 15</a:t>
            </a:r>
            <a:endParaRPr lang="en-US" dirty="0"/>
          </a:p>
          <a:p>
            <a:pPr lvl="1" latinLnBrk="1"/>
            <a:r>
              <a:rPr lang="en-US" dirty="0"/>
              <a:t>result2 = add10 20 </a:t>
            </a:r>
            <a:r>
              <a:rPr lang="en-US" i="1" dirty="0"/>
              <a:t>-- Result: 30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096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354A3-1FB9-597A-8C25-6485CDAFE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3469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2: A more practical use - Filtering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1D73-A47C-7671-7A49-B559E29B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8594"/>
            <a:ext cx="10515600" cy="61894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-- A simple function to check if a number is greater than a threshold</a:t>
            </a:r>
          </a:p>
          <a:p>
            <a:pPr lvl="1"/>
            <a:r>
              <a:rPr lang="en-US" dirty="0" err="1"/>
              <a:t>greaterThan</a:t>
            </a:r>
            <a:r>
              <a:rPr lang="en-US" dirty="0"/>
              <a:t> :: Int -&gt; Int -&gt; Bool</a:t>
            </a:r>
          </a:p>
          <a:p>
            <a:pPr lvl="1"/>
            <a:r>
              <a:rPr lang="en-US" dirty="0" err="1"/>
              <a:t>greaterThan</a:t>
            </a:r>
            <a:r>
              <a:rPr lang="en-US" dirty="0"/>
              <a:t> threshold x = x &gt; threshold</a:t>
            </a:r>
          </a:p>
          <a:p>
            <a:pPr marL="0" indent="0">
              <a:buNone/>
            </a:pPr>
            <a:r>
              <a:rPr lang="en-US" sz="2400" dirty="0"/>
              <a:t>-- Partially apply it to create specialized functions</a:t>
            </a:r>
          </a:p>
          <a:p>
            <a:pPr lvl="1"/>
            <a:r>
              <a:rPr lang="en-US" dirty="0"/>
              <a:t>greaterThan5 :: Int -&gt; Bool</a:t>
            </a:r>
          </a:p>
          <a:p>
            <a:pPr lvl="1"/>
            <a:r>
              <a:rPr lang="en-US" dirty="0"/>
              <a:t>greaterThan5 = </a:t>
            </a:r>
            <a:r>
              <a:rPr lang="en-US" dirty="0" err="1"/>
              <a:t>greaterThan</a:t>
            </a:r>
            <a:r>
              <a:rPr lang="en-US" dirty="0"/>
              <a:t> 5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greaterThan100 :: Int -&gt; Bool</a:t>
            </a:r>
          </a:p>
          <a:p>
            <a:pPr lvl="1"/>
            <a:r>
              <a:rPr lang="en-US" dirty="0"/>
              <a:t>greaterThan100 = </a:t>
            </a:r>
            <a:r>
              <a:rPr lang="en-US" dirty="0" err="1"/>
              <a:t>greaterThan</a:t>
            </a:r>
            <a:r>
              <a:rPr lang="en-US" dirty="0"/>
              <a:t> 100</a:t>
            </a:r>
          </a:p>
          <a:p>
            <a:pPr marL="0" indent="0">
              <a:buNone/>
            </a:pPr>
            <a:r>
              <a:rPr lang="en-US" sz="2400" dirty="0"/>
              <a:t>-- Use them with the 'filter' function</a:t>
            </a:r>
          </a:p>
          <a:p>
            <a:pPr lvl="1"/>
            <a:r>
              <a:rPr lang="en-US" dirty="0"/>
              <a:t>numbers :: [Int]</a:t>
            </a:r>
          </a:p>
          <a:p>
            <a:pPr lvl="1"/>
            <a:r>
              <a:rPr lang="en-US" dirty="0"/>
              <a:t>numbers = [3, 8, 2, 15, 22, 4]</a:t>
            </a:r>
          </a:p>
          <a:p>
            <a:endParaRPr lang="en-US" sz="2400" dirty="0"/>
          </a:p>
          <a:p>
            <a:r>
              <a:rPr lang="en-US" sz="2400" dirty="0"/>
              <a:t>filtered1 = filter greaterThan5 numbers   -- Result: [8, 15, 22]</a:t>
            </a:r>
          </a:p>
          <a:p>
            <a:r>
              <a:rPr lang="en-US" sz="2400" dirty="0"/>
              <a:t>filtered2 = filter greaterThan100 numbers -- Result: []</a:t>
            </a:r>
          </a:p>
        </p:txBody>
      </p:sp>
    </p:spTree>
    <p:extLst>
      <p:ext uri="{BB962C8B-B14F-4D97-AF65-F5344CB8AC3E}">
        <p14:creationId xmlns:p14="http://schemas.microsoft.com/office/powerpoint/2010/main" val="333515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858C5-053C-74EE-3AFF-DD0C29B85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Currying in Action: The map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52087-0304-3FE0-5B56-0FB6A47EE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4"/>
            <a:ext cx="10515600" cy="511507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 map function has the type (a -&gt; b) -&gt; [a] -&gt; [b]. Remember, this is actually (a -&gt; b) -&gt; ([a] -&gt; [b]). It takes a function and returns a </a:t>
            </a:r>
            <a:r>
              <a:rPr lang="en-US" b="1" dirty="0"/>
              <a:t>new function</a:t>
            </a:r>
            <a:r>
              <a:rPr lang="en-US" dirty="0"/>
              <a:t> that maps that function over a list.</a:t>
            </a:r>
          </a:p>
          <a:p>
            <a:pPr latinLnBrk="1"/>
            <a:r>
              <a:rPr lang="en-US" i="1" dirty="0"/>
              <a:t>-- A function to square a number</a:t>
            </a:r>
            <a:endParaRPr lang="en-US" dirty="0"/>
          </a:p>
          <a:p>
            <a:pPr lvl="1" latinLnBrk="1"/>
            <a:r>
              <a:rPr lang="en-US" dirty="0"/>
              <a:t>square :: Int -&gt; Int</a:t>
            </a:r>
          </a:p>
          <a:p>
            <a:pPr lvl="1" latinLnBrk="1"/>
            <a:r>
              <a:rPr lang="en-US" dirty="0"/>
              <a:t>square x = x * x</a:t>
            </a:r>
          </a:p>
          <a:p>
            <a:pPr marL="0" indent="0" latinLnBrk="1">
              <a:buNone/>
            </a:pPr>
            <a:r>
              <a:rPr lang="en-US" i="1" dirty="0"/>
              <a:t>-- Partially apply 'map' with the 'square' function</a:t>
            </a:r>
            <a:endParaRPr lang="en-US" dirty="0"/>
          </a:p>
          <a:p>
            <a:pPr lvl="1" latinLnBrk="1"/>
            <a:r>
              <a:rPr lang="en-US" dirty="0" err="1"/>
              <a:t>mapSquare</a:t>
            </a:r>
            <a:r>
              <a:rPr lang="en-US" dirty="0"/>
              <a:t> :: [Int] -&gt; [Int]</a:t>
            </a:r>
          </a:p>
          <a:p>
            <a:pPr lvl="1" latinLnBrk="1"/>
            <a:r>
              <a:rPr lang="en-US" dirty="0" err="1"/>
              <a:t>mapSquare</a:t>
            </a:r>
            <a:r>
              <a:rPr lang="en-US" dirty="0"/>
              <a:t> = map square</a:t>
            </a:r>
          </a:p>
          <a:p>
            <a:pPr marL="0" indent="0" latinLnBrk="1">
              <a:buNone/>
            </a:pPr>
            <a:r>
              <a:rPr lang="en-US" i="1" dirty="0"/>
              <a:t>-- Now we can use it</a:t>
            </a:r>
            <a:endParaRPr lang="en-US" dirty="0"/>
          </a:p>
          <a:p>
            <a:pPr latinLnBrk="1"/>
            <a:r>
              <a:rPr lang="en-US" dirty="0" err="1"/>
              <a:t>squaredList</a:t>
            </a:r>
            <a:r>
              <a:rPr lang="en-US" dirty="0"/>
              <a:t> = </a:t>
            </a:r>
            <a:r>
              <a:rPr lang="en-US" dirty="0" err="1"/>
              <a:t>mapSquare</a:t>
            </a:r>
            <a:r>
              <a:rPr lang="en-US" dirty="0"/>
              <a:t> [1, 2, 3, 4] </a:t>
            </a:r>
            <a:r>
              <a:rPr lang="en-US" i="1" dirty="0"/>
              <a:t>-- Result: [1, 4, 9, 16]</a:t>
            </a:r>
            <a:endParaRPr lang="en-US" dirty="0"/>
          </a:p>
          <a:p>
            <a:pPr latinLnBrk="1"/>
            <a:endParaRPr lang="en-US" dirty="0"/>
          </a:p>
          <a:p>
            <a:pPr marL="0" indent="0" latinLnBrk="1">
              <a:buNone/>
            </a:pPr>
            <a:r>
              <a:rPr lang="en-US" i="1" dirty="0"/>
              <a:t>-- Alternatively, use it directly in a pipeline</a:t>
            </a:r>
            <a:endParaRPr lang="en-US" dirty="0"/>
          </a:p>
          <a:p>
            <a:pPr latinLnBrk="1"/>
            <a:r>
              <a:rPr lang="en-US" dirty="0"/>
              <a:t>result = map (+1) [1, 2, 3] </a:t>
            </a:r>
            <a:r>
              <a:rPr lang="en-US" i="1" dirty="0"/>
              <a:t>-- Result: [2, 3, 4]</a:t>
            </a:r>
            <a:endParaRPr lang="en-US" dirty="0"/>
          </a:p>
          <a:p>
            <a:pPr latinLnBrk="1"/>
            <a:r>
              <a:rPr lang="en-US" i="1" dirty="0"/>
              <a:t>-- Here, (+1) is a partially applied operator (which is also a function!)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53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9EDAB-026A-DAE5-A345-6EBFEF79B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US" dirty="0"/>
              <a:t> Defining Functions through Currying (Point-Free Style)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1099F-1B66-7A90-7A13-FE6FB1DA4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Because functions are just values, we can define functions without explicitly mentioning their parameters. This is called point-free style or tacit programming.</a:t>
            </a:r>
          </a:p>
          <a:p>
            <a:pPr marL="0" indent="0" latinLnBrk="1">
              <a:buNone/>
            </a:pPr>
            <a:r>
              <a:rPr lang="en-US" i="1" dirty="0"/>
              <a:t>-- Standard definition</a:t>
            </a:r>
            <a:endParaRPr lang="en-US" dirty="0"/>
          </a:p>
          <a:p>
            <a:pPr lvl="1" latinLnBrk="1"/>
            <a:r>
              <a:rPr lang="en-US" dirty="0" err="1"/>
              <a:t>multiplyByTwo</a:t>
            </a:r>
            <a:r>
              <a:rPr lang="en-US" dirty="0"/>
              <a:t> :: Int -&gt; Int</a:t>
            </a:r>
          </a:p>
          <a:p>
            <a:pPr lvl="1" latinLnBrk="1"/>
            <a:r>
              <a:rPr lang="en-US" dirty="0" err="1"/>
              <a:t>multiplyByTwo</a:t>
            </a:r>
            <a:r>
              <a:rPr lang="en-US" dirty="0"/>
              <a:t> x = x * 2</a:t>
            </a:r>
          </a:p>
          <a:p>
            <a:pPr marL="0" indent="0" latinLnBrk="1">
              <a:buNone/>
            </a:pPr>
            <a:r>
              <a:rPr lang="en-US" i="1" dirty="0"/>
              <a:t>-- Point-free definition (using function composition '.')</a:t>
            </a:r>
            <a:endParaRPr lang="en-US" dirty="0"/>
          </a:p>
          <a:p>
            <a:pPr lvl="1" latinLnBrk="1"/>
            <a:r>
              <a:rPr lang="en-US" dirty="0" err="1"/>
              <a:t>multiplyByTwo</a:t>
            </a:r>
            <a:r>
              <a:rPr lang="en-US" dirty="0"/>
              <a:t>' :: Int -&gt; Int</a:t>
            </a:r>
          </a:p>
          <a:p>
            <a:pPr lvl="1" latinLnBrk="1"/>
            <a:r>
              <a:rPr lang="en-US" dirty="0" err="1"/>
              <a:t>multiplyByTwo</a:t>
            </a:r>
            <a:r>
              <a:rPr lang="en-US" dirty="0"/>
              <a:t>' = (* 2)  </a:t>
            </a:r>
            <a:r>
              <a:rPr lang="en-US" i="1" dirty="0"/>
              <a:t>-- This is a partial application of the * operator</a:t>
            </a:r>
            <a:endParaRPr lang="en-US" dirty="0"/>
          </a:p>
          <a:p>
            <a:pPr marL="0" indent="0" latinLnBrk="1">
              <a:buNone/>
            </a:pPr>
            <a:r>
              <a:rPr lang="en-US" i="1" dirty="0"/>
              <a:t>-- A more complex example: Convert a list of strings to uppercase and sort them</a:t>
            </a:r>
            <a:endParaRPr lang="en-US" dirty="0"/>
          </a:p>
          <a:p>
            <a:pPr marL="0" indent="0" latinLnBrk="1">
              <a:buNone/>
            </a:pPr>
            <a:r>
              <a:rPr lang="en-US" i="1" dirty="0"/>
              <a:t>-- Standard:</a:t>
            </a:r>
            <a:endParaRPr lang="en-US" dirty="0"/>
          </a:p>
          <a:p>
            <a:pPr lvl="1" latinLnBrk="1"/>
            <a:r>
              <a:rPr lang="en-US" dirty="0"/>
              <a:t>process :: [String] -&gt; [String]</a:t>
            </a:r>
          </a:p>
          <a:p>
            <a:pPr lvl="1" latinLnBrk="1"/>
            <a:r>
              <a:rPr lang="en-US" dirty="0"/>
              <a:t>process </a:t>
            </a:r>
            <a:r>
              <a:rPr lang="en-US" dirty="0" err="1"/>
              <a:t>xs</a:t>
            </a:r>
            <a:r>
              <a:rPr lang="en-US" dirty="0"/>
              <a:t> = sort (map </a:t>
            </a:r>
            <a:r>
              <a:rPr lang="en-US" dirty="0" err="1"/>
              <a:t>toUpper</a:t>
            </a:r>
            <a:r>
              <a:rPr lang="en-US" dirty="0"/>
              <a:t> </a:t>
            </a:r>
            <a:r>
              <a:rPr lang="en-US" dirty="0" err="1"/>
              <a:t>xs</a:t>
            </a:r>
            <a:r>
              <a:rPr lang="en-US" dirty="0"/>
              <a:t>)</a:t>
            </a:r>
          </a:p>
          <a:p>
            <a:pPr marL="0" indent="0" latinLnBrk="1">
              <a:buNone/>
            </a:pPr>
            <a:r>
              <a:rPr lang="en-US" i="1" dirty="0"/>
              <a:t>-- Point-free:</a:t>
            </a:r>
            <a:endParaRPr lang="en-US" dirty="0"/>
          </a:p>
          <a:p>
            <a:pPr lvl="1" latinLnBrk="1"/>
            <a:r>
              <a:rPr lang="en-US" dirty="0"/>
              <a:t>process' :: [String] -&gt; [String]</a:t>
            </a:r>
          </a:p>
          <a:p>
            <a:pPr lvl="1" latinLnBrk="1"/>
            <a:r>
              <a:rPr lang="en-US" dirty="0"/>
              <a:t>process' = sort . map </a:t>
            </a:r>
            <a:r>
              <a:rPr lang="en-US" dirty="0" err="1"/>
              <a:t>toUpper</a:t>
            </a:r>
            <a:endParaRPr lang="en-US" dirty="0"/>
          </a:p>
          <a:p>
            <a:pPr marL="0" indent="0" latinLnBrk="1">
              <a:buNone/>
            </a:pPr>
            <a:r>
              <a:rPr lang="en-US" i="1" dirty="0"/>
              <a:t>-- Read as: "compose 'sort' and 'map </a:t>
            </a:r>
            <a:r>
              <a:rPr lang="en-US" i="1" dirty="0" err="1"/>
              <a:t>toUpper</a:t>
            </a:r>
            <a:r>
              <a:rPr lang="en-US" i="1" dirty="0"/>
              <a:t>'"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414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1B872-3682-3CF7-49F6-0E4A0BF8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77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to Think About Currying in Practice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7F67A-E5BC-4847-760F-613ED49B6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904"/>
            <a:ext cx="10515600" cy="5292059"/>
          </a:xfrm>
        </p:spPr>
        <p:txBody>
          <a:bodyPr/>
          <a:lstStyle/>
          <a:p>
            <a:pPr lvl="0"/>
            <a:r>
              <a:rPr lang="en-US" b="1" dirty="0"/>
              <a:t>Every function is a pipeline:</a:t>
            </a:r>
            <a:endParaRPr lang="en-US" dirty="0"/>
          </a:p>
          <a:p>
            <a:pPr lvl="1"/>
            <a:r>
              <a:rPr lang="en-US" dirty="0"/>
              <a:t>f :: a -&gt; b -&gt; c means "give me an a, I'll give you a function (b -&gt; c)".</a:t>
            </a:r>
          </a:p>
          <a:p>
            <a:pPr lvl="1"/>
            <a:r>
              <a:rPr lang="en-US" dirty="0"/>
              <a:t>You feed arguments one at a time.</a:t>
            </a:r>
          </a:p>
          <a:p>
            <a:pPr lvl="0"/>
            <a:r>
              <a:rPr lang="en-US" b="1" dirty="0"/>
              <a:t>Partial application is a tool for abstraction:</a:t>
            </a:r>
            <a:endParaRPr lang="en-US" dirty="0"/>
          </a:p>
          <a:p>
            <a:pPr lvl="1"/>
            <a:r>
              <a:rPr lang="en-US" dirty="0"/>
              <a:t>Instead of writing many specific functions, write general ones and partially apply them.</a:t>
            </a:r>
          </a:p>
          <a:p>
            <a:pPr lvl="0"/>
            <a:r>
              <a:rPr lang="en-US" b="1" dirty="0"/>
              <a:t>Type signatures tell the story:</a:t>
            </a:r>
            <a:endParaRPr lang="en-US" dirty="0"/>
          </a:p>
          <a:p>
            <a:pPr lvl="1"/>
            <a:r>
              <a:rPr lang="en-US" dirty="0"/>
              <a:t>a -&gt; b -&gt; c is different from (a -&gt; b) -&gt; c.</a:t>
            </a:r>
          </a:p>
          <a:p>
            <a:pPr lvl="1"/>
            <a:r>
              <a:rPr lang="en-US" dirty="0"/>
              <a:t>The first is a curried function of two arguments.</a:t>
            </a:r>
          </a:p>
          <a:p>
            <a:pPr lvl="1"/>
            <a:r>
              <a:rPr lang="en-US" dirty="0"/>
              <a:t>The second is a function that takes </a:t>
            </a:r>
            <a:r>
              <a:rPr lang="en-US" i="1" dirty="0"/>
              <a:t>one</a:t>
            </a:r>
            <a:r>
              <a:rPr lang="en-US" dirty="0"/>
              <a:t> argument (which must itself be a function) and returns 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218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B2514-D0A3-717D-278B-509F9FF44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26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Manual Currying and </a:t>
            </a:r>
            <a:r>
              <a:rPr lang="en-US" b="1" dirty="0" err="1"/>
              <a:t>Uncurrying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754CD-D77A-683A-CF0B-18E710D6D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5406"/>
            <a:ext cx="10515600" cy="53215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You can manually convert between a curried function and a function that takes a tuple (</a:t>
            </a:r>
            <a:r>
              <a:rPr lang="en-US" dirty="0" err="1"/>
              <a:t>uncurried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Currying:</a:t>
            </a:r>
            <a:r>
              <a:rPr lang="en-US" dirty="0"/>
              <a:t> Transforming a tuple-taking function into a chain of single-argument functions.</a:t>
            </a:r>
          </a:p>
          <a:p>
            <a:pPr lvl="1"/>
            <a:r>
              <a:rPr lang="en-US" b="1" dirty="0" err="1"/>
              <a:t>Uncurrying</a:t>
            </a:r>
            <a:r>
              <a:rPr lang="en-US" b="1" dirty="0"/>
              <a:t>:</a:t>
            </a:r>
            <a:r>
              <a:rPr lang="en-US" dirty="0"/>
              <a:t> Transforming a chain of single-argument functions into a tuple-taking function.</a:t>
            </a:r>
          </a:p>
          <a:p>
            <a:pPr marL="0" indent="0">
              <a:buNone/>
            </a:pPr>
            <a:r>
              <a:rPr lang="en-US" dirty="0"/>
              <a:t>   Haskell provides built-in functions for this:</a:t>
            </a:r>
          </a:p>
          <a:p>
            <a:pPr lvl="1" latinLnBrk="1"/>
            <a:r>
              <a:rPr lang="en-US" dirty="0" err="1"/>
              <a:t>curriedAdd</a:t>
            </a:r>
            <a:r>
              <a:rPr lang="en-US" dirty="0"/>
              <a:t> :: Int -&gt; Int -&gt; Int</a:t>
            </a:r>
          </a:p>
          <a:p>
            <a:pPr lvl="1" latinLnBrk="1"/>
            <a:r>
              <a:rPr lang="en-US" dirty="0" err="1"/>
              <a:t>curriedAdd</a:t>
            </a:r>
            <a:r>
              <a:rPr lang="en-US" dirty="0"/>
              <a:t> x y = x + y</a:t>
            </a:r>
          </a:p>
          <a:p>
            <a:pPr marL="0" indent="0" latinLnBrk="1">
              <a:buNone/>
            </a:pPr>
            <a:r>
              <a:rPr lang="en-US" i="1" dirty="0"/>
              <a:t>-- An </a:t>
            </a:r>
            <a:r>
              <a:rPr lang="en-US" i="1" dirty="0" err="1"/>
              <a:t>uncurried</a:t>
            </a:r>
            <a:r>
              <a:rPr lang="en-US" i="1" dirty="0"/>
              <a:t> function (takes a tuple)</a:t>
            </a:r>
            <a:endParaRPr lang="en-US" dirty="0"/>
          </a:p>
          <a:p>
            <a:pPr lvl="1" latinLnBrk="1"/>
            <a:r>
              <a:rPr lang="en-US" dirty="0" err="1"/>
              <a:t>uncurriedAdd</a:t>
            </a:r>
            <a:r>
              <a:rPr lang="en-US" dirty="0"/>
              <a:t> :: (Int, Int) -&gt; Int</a:t>
            </a:r>
          </a:p>
          <a:p>
            <a:pPr lvl="1" latinLnBrk="1"/>
            <a:r>
              <a:rPr lang="en-US" dirty="0" err="1"/>
              <a:t>uncurriedAdd</a:t>
            </a:r>
            <a:r>
              <a:rPr lang="en-US" dirty="0"/>
              <a:t> (x, y) = x + y</a:t>
            </a:r>
          </a:p>
          <a:p>
            <a:pPr marL="0" indent="0" latinLnBrk="1">
              <a:buNone/>
            </a:pPr>
            <a:r>
              <a:rPr lang="en-US" i="1" dirty="0"/>
              <a:t>-- Convert curried to </a:t>
            </a:r>
            <a:r>
              <a:rPr lang="en-US" i="1" dirty="0" err="1"/>
              <a:t>uncurried</a:t>
            </a:r>
            <a:endParaRPr lang="en-US" dirty="0"/>
          </a:p>
          <a:p>
            <a:pPr lvl="1" latinLnBrk="1"/>
            <a:r>
              <a:rPr lang="en-US" dirty="0" err="1"/>
              <a:t>addTuple</a:t>
            </a:r>
            <a:r>
              <a:rPr lang="en-US" dirty="0"/>
              <a:t> :: (Int, Int) -&gt; Int</a:t>
            </a:r>
          </a:p>
          <a:p>
            <a:pPr lvl="1" latinLnBrk="1"/>
            <a:r>
              <a:rPr lang="en-US" dirty="0" err="1"/>
              <a:t>addTuple</a:t>
            </a:r>
            <a:r>
              <a:rPr lang="en-US" dirty="0"/>
              <a:t> = </a:t>
            </a:r>
            <a:r>
              <a:rPr lang="en-US" dirty="0" err="1"/>
              <a:t>uncurry</a:t>
            </a:r>
            <a:r>
              <a:rPr lang="en-US" dirty="0"/>
              <a:t> </a:t>
            </a:r>
            <a:r>
              <a:rPr lang="en-US" dirty="0" err="1"/>
              <a:t>curriedAdd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80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3D62-5606-9666-9BC0-EFB34005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A6B61-DA94-F209-1951-147D321A2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i="1" dirty="0"/>
              <a:t>-- Convert </a:t>
            </a:r>
            <a:r>
              <a:rPr lang="en-US" i="1" dirty="0" err="1"/>
              <a:t>uncurried</a:t>
            </a:r>
            <a:r>
              <a:rPr lang="en-US" i="1" dirty="0"/>
              <a:t> to curried</a:t>
            </a:r>
            <a:endParaRPr lang="en-US" dirty="0"/>
          </a:p>
          <a:p>
            <a:pPr latinLnBrk="1"/>
            <a:r>
              <a:rPr lang="en-US" dirty="0" err="1"/>
              <a:t>addCurried</a:t>
            </a:r>
            <a:r>
              <a:rPr lang="en-US" dirty="0"/>
              <a:t> :: Int -&gt; Int -&gt; Int</a:t>
            </a:r>
          </a:p>
          <a:p>
            <a:pPr latinLnBrk="1"/>
            <a:r>
              <a:rPr lang="en-US" dirty="0" err="1"/>
              <a:t>addCurried</a:t>
            </a:r>
            <a:r>
              <a:rPr lang="en-US" dirty="0"/>
              <a:t> = curry </a:t>
            </a:r>
            <a:r>
              <a:rPr lang="en-US" dirty="0" err="1"/>
              <a:t>uncurriedAdd</a:t>
            </a:r>
            <a:endParaRPr lang="en-US" dirty="0"/>
          </a:p>
          <a:p>
            <a:pPr latinLnBrk="1"/>
            <a:endParaRPr lang="en-US" dirty="0"/>
          </a:p>
          <a:p>
            <a:pPr latinLnBrk="1"/>
            <a:r>
              <a:rPr lang="en-US" i="1" dirty="0"/>
              <a:t>-- Example of using </a:t>
            </a:r>
            <a:r>
              <a:rPr lang="en-US" i="1" dirty="0" err="1"/>
              <a:t>uncurry</a:t>
            </a:r>
            <a:r>
              <a:rPr lang="en-US" i="1" dirty="0"/>
              <a:t> with a list</a:t>
            </a:r>
            <a:endParaRPr lang="en-US" dirty="0"/>
          </a:p>
          <a:p>
            <a:pPr latinLnBrk="1"/>
            <a:r>
              <a:rPr lang="en-US" dirty="0"/>
              <a:t>pairs = [(1, 2), (3, 4), (5, 6)]</a:t>
            </a:r>
          </a:p>
          <a:p>
            <a:pPr latinLnBrk="1"/>
            <a:r>
              <a:rPr lang="en-US" dirty="0" err="1"/>
              <a:t>sumPairs</a:t>
            </a:r>
            <a:r>
              <a:rPr lang="en-US" dirty="0"/>
              <a:t> = map (</a:t>
            </a:r>
            <a:r>
              <a:rPr lang="en-US" dirty="0" err="1"/>
              <a:t>uncurry</a:t>
            </a:r>
            <a:r>
              <a:rPr lang="en-US" dirty="0"/>
              <a:t> (+)) pairs </a:t>
            </a:r>
            <a:r>
              <a:rPr lang="en-US" i="1" dirty="0"/>
              <a:t>-- Result: [3, 7, 11]</a:t>
            </a:r>
            <a:endParaRPr lang="en-US" dirty="0"/>
          </a:p>
          <a:p>
            <a:pPr marL="0" indent="0" latinLnBrk="1">
              <a:buNone/>
            </a:pPr>
            <a:r>
              <a:rPr lang="en-US" i="1" dirty="0"/>
              <a:t>-- </a:t>
            </a:r>
            <a:r>
              <a:rPr lang="en-US" i="1" dirty="0" err="1"/>
              <a:t>uncurry</a:t>
            </a:r>
            <a:r>
              <a:rPr lang="en-US" i="1" dirty="0"/>
              <a:t> (+) converts (+) into a function that takes a tuple.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701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1083</Words>
  <Application>Microsoft Office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Menlo</vt:lpstr>
      <vt:lpstr>quote-cjk-patch</vt:lpstr>
      <vt:lpstr>Aptos</vt:lpstr>
      <vt:lpstr>Aptos Display</vt:lpstr>
      <vt:lpstr>Arial</vt:lpstr>
      <vt:lpstr>Office Theme</vt:lpstr>
      <vt:lpstr>Currying</vt:lpstr>
      <vt:lpstr>PowerPoint Presentation</vt:lpstr>
      <vt:lpstr>The Mechanism: Partial Application </vt:lpstr>
      <vt:lpstr>Example 2: A more practical use - Filtering a list</vt:lpstr>
      <vt:lpstr>Currying in Action: The map Function</vt:lpstr>
      <vt:lpstr> Defining Functions through Currying (Point-Free Style) </vt:lpstr>
      <vt:lpstr>How to Think About Currying in Practice </vt:lpstr>
      <vt:lpstr>Manual Currying and Uncurrying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MALEMAG</dc:creator>
  <cp:lastModifiedBy>MALEMAG</cp:lastModifiedBy>
  <cp:revision>11</cp:revision>
  <dcterms:created xsi:type="dcterms:W3CDTF">2026-08-31T15:11:36Z</dcterms:created>
  <dcterms:modified xsi:type="dcterms:W3CDTF">2026-08-31T19:56:04Z</dcterms:modified>
</cp:coreProperties>
</file>