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9"/>
  </p:notesMasterIdLst>
  <p:handoutMasterIdLst>
    <p:handoutMasterId r:id="rId30"/>
  </p:handoutMasterIdLst>
  <p:sldIdLst>
    <p:sldId id="372" r:id="rId2"/>
    <p:sldId id="371" r:id="rId3"/>
    <p:sldId id="262" r:id="rId4"/>
    <p:sldId id="263" r:id="rId5"/>
    <p:sldId id="264" r:id="rId6"/>
    <p:sldId id="265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370" r:id="rId27"/>
    <p:sldId id="288" r:id="rId28"/>
  </p:sldIdLst>
  <p:sldSz cx="9144000" cy="6858000" type="screen4x3"/>
  <p:notesSz cx="6934200" cy="92837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4">
          <p15:clr>
            <a:srgbClr val="A4A3A4"/>
          </p15:clr>
        </p15:guide>
        <p15:guide id="2" pos="218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B2C29"/>
    <a:srgbClr val="00FFCC"/>
    <a:srgbClr val="D3EFFC"/>
    <a:srgbClr val="CBDCC7"/>
    <a:srgbClr val="F69226"/>
    <a:srgbClr val="00315E"/>
    <a:srgbClr val="000000"/>
    <a:srgbClr val="FECA1B"/>
    <a:srgbClr val="F4F4F4"/>
    <a:srgbClr val="AC2C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12" autoAdjust="0"/>
    <p:restoredTop sz="94681" autoAdjust="0"/>
  </p:normalViewPr>
  <p:slideViewPr>
    <p:cSldViewPr>
      <p:cViewPr varScale="1">
        <p:scale>
          <a:sx n="71" d="100"/>
          <a:sy n="71" d="100"/>
        </p:scale>
        <p:origin x="1422" y="1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-6354"/>
    </p:cViewPr>
  </p:sorterViewPr>
  <p:notesViewPr>
    <p:cSldViewPr>
      <p:cViewPr varScale="1">
        <p:scale>
          <a:sx n="99" d="100"/>
          <a:sy n="99" d="100"/>
        </p:scale>
        <p:origin x="-564" y="-96"/>
      </p:cViewPr>
      <p:guideLst>
        <p:guide orient="horz" pos="2924"/>
        <p:guide pos="2184"/>
      </p:guideLst>
    </p:cSldViewPr>
  </p:notesViewPr>
  <p:gridSpacing cx="91439" cy="9143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AB2798-522A-4028-BFA8-27832F533570}" type="doc">
      <dgm:prSet loTypeId="urn:microsoft.com/office/officeart/2005/8/layout/default#1" loCatId="list" qsTypeId="urn:microsoft.com/office/officeart/2005/8/quickstyle/3d2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24E62F20-D855-4DDF-8871-45A9350EF333}">
      <dgm:prSet custT="1"/>
      <dgm:spPr>
        <a:solidFill>
          <a:srgbClr val="0070C0"/>
        </a:solidFill>
      </dgm:spPr>
      <dgm:t>
        <a:bodyPr/>
        <a:lstStyle/>
        <a:p>
          <a:pPr rtl="0"/>
          <a:r>
            <a: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Risk avoidance.</a:t>
          </a:r>
        </a:p>
      </dgm:t>
    </dgm:pt>
    <dgm:pt modelId="{2ADF558D-BC9F-4159-9975-EB85A61A91C1}" type="parTrans" cxnId="{78AB0EB0-99EF-4CDB-9237-3DB0967031D7}">
      <dgm:prSet/>
      <dgm:spPr/>
      <dgm:t>
        <a:bodyPr/>
        <a:lstStyle/>
        <a:p>
          <a:endParaRPr lang="en-US"/>
        </a:p>
      </dgm:t>
    </dgm:pt>
    <dgm:pt modelId="{24F35FE8-D380-400E-B46C-670F8B389D8D}" type="sibTrans" cxnId="{78AB0EB0-99EF-4CDB-9237-3DB0967031D7}">
      <dgm:prSet/>
      <dgm:spPr/>
      <dgm:t>
        <a:bodyPr/>
        <a:lstStyle/>
        <a:p>
          <a:endParaRPr lang="en-US"/>
        </a:p>
      </dgm:t>
    </dgm:pt>
    <dgm:pt modelId="{2921E4A9-AB3A-4E7D-B542-B5E4D611C4EE}">
      <dgm:prSet custT="1"/>
      <dgm:spPr>
        <a:solidFill>
          <a:schemeClr val="accent1"/>
        </a:solidFill>
      </dgm:spPr>
      <dgm:t>
        <a:bodyPr/>
        <a:lstStyle/>
        <a:p>
          <a:pPr rtl="0"/>
          <a:r>
            <a: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Risk prevention</a:t>
          </a:r>
        </a:p>
      </dgm:t>
    </dgm:pt>
    <dgm:pt modelId="{52ADE129-5097-4B6C-AD30-0BD03B5DC01E}" type="parTrans" cxnId="{8F931844-CE8B-4B31-BEC2-0B7C96DB4BC6}">
      <dgm:prSet/>
      <dgm:spPr/>
      <dgm:t>
        <a:bodyPr/>
        <a:lstStyle/>
        <a:p>
          <a:endParaRPr lang="en-US"/>
        </a:p>
      </dgm:t>
    </dgm:pt>
    <dgm:pt modelId="{2CEE8CB4-436C-463E-AD55-D7DBB490DD49}" type="sibTrans" cxnId="{8F931844-CE8B-4B31-BEC2-0B7C96DB4BC6}">
      <dgm:prSet/>
      <dgm:spPr/>
      <dgm:t>
        <a:bodyPr/>
        <a:lstStyle/>
        <a:p>
          <a:endParaRPr lang="en-US"/>
        </a:p>
      </dgm:t>
    </dgm:pt>
    <dgm:pt modelId="{76612BDF-FF42-479A-8E8A-3C1A84D4CBDB}">
      <dgm:prSet custT="1"/>
      <dgm:spPr>
        <a:solidFill>
          <a:srgbClr val="00B0F0"/>
        </a:solidFill>
      </dgm:spPr>
      <dgm:t>
        <a:bodyPr/>
        <a:lstStyle/>
        <a:p>
          <a:pPr rtl="0"/>
          <a:r>
            <a: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Risk transfer.</a:t>
          </a:r>
        </a:p>
      </dgm:t>
    </dgm:pt>
    <dgm:pt modelId="{05A3DDC2-2EA8-446C-A7ED-94EC2C1FA78C}" type="parTrans" cxnId="{AE71D3ED-255B-4226-AF3A-37EAA5C9F7C1}">
      <dgm:prSet/>
      <dgm:spPr/>
      <dgm:t>
        <a:bodyPr/>
        <a:lstStyle/>
        <a:p>
          <a:endParaRPr lang="en-US"/>
        </a:p>
      </dgm:t>
    </dgm:pt>
    <dgm:pt modelId="{BB646704-60B0-4252-8AB4-565A354DF64B}" type="sibTrans" cxnId="{AE71D3ED-255B-4226-AF3A-37EAA5C9F7C1}">
      <dgm:prSet/>
      <dgm:spPr/>
      <dgm:t>
        <a:bodyPr/>
        <a:lstStyle/>
        <a:p>
          <a:endParaRPr lang="en-US"/>
        </a:p>
      </dgm:t>
    </dgm:pt>
    <dgm:pt modelId="{0D8CC693-E40D-4BE3-AFBC-4D444FFF600F}">
      <dgm:prSet custT="1"/>
      <dgm:spPr>
        <a:solidFill>
          <a:srgbClr val="00B050"/>
        </a:solidFill>
      </dgm:spPr>
      <dgm:t>
        <a:bodyPr/>
        <a:lstStyle/>
        <a:p>
          <a:pPr rtl="0"/>
          <a:r>
            <a: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Risk assumption</a:t>
          </a:r>
        </a:p>
      </dgm:t>
    </dgm:pt>
    <dgm:pt modelId="{D463F016-BEF7-47F8-B69B-622A19D33C53}" type="parTrans" cxnId="{A2B24246-4829-4A0A-9E27-2CF493F926A8}">
      <dgm:prSet/>
      <dgm:spPr/>
      <dgm:t>
        <a:bodyPr/>
        <a:lstStyle/>
        <a:p>
          <a:endParaRPr lang="en-US"/>
        </a:p>
      </dgm:t>
    </dgm:pt>
    <dgm:pt modelId="{15870FD5-0EAB-4D37-89B7-65E756D0AE94}" type="sibTrans" cxnId="{A2B24246-4829-4A0A-9E27-2CF493F926A8}">
      <dgm:prSet/>
      <dgm:spPr/>
      <dgm:t>
        <a:bodyPr/>
        <a:lstStyle/>
        <a:p>
          <a:endParaRPr lang="en-US"/>
        </a:p>
      </dgm:t>
    </dgm:pt>
    <dgm:pt modelId="{ED202AB4-99B3-4C12-B767-86907D908493}" type="pres">
      <dgm:prSet presAssocID="{CBAB2798-522A-4028-BFA8-27832F533570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F53D7FE-C70F-4420-AF34-A0BAB4C47F46}" type="pres">
      <dgm:prSet presAssocID="{24E62F20-D855-4DDF-8871-45A9350EF333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D78236B-E4E3-44DE-83FF-A8B5EC609FBC}" type="pres">
      <dgm:prSet presAssocID="{24F35FE8-D380-400E-B46C-670F8B389D8D}" presName="sibTrans" presStyleCnt="0"/>
      <dgm:spPr/>
    </dgm:pt>
    <dgm:pt modelId="{D272F2C3-C2DD-4AFF-99E1-D2618882B52E}" type="pres">
      <dgm:prSet presAssocID="{2921E4A9-AB3A-4E7D-B542-B5E4D611C4EE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B5CDB5C-CEE9-4C9C-AE4C-2B1C58E4946E}" type="pres">
      <dgm:prSet presAssocID="{2CEE8CB4-436C-463E-AD55-D7DBB490DD49}" presName="sibTrans" presStyleCnt="0"/>
      <dgm:spPr/>
    </dgm:pt>
    <dgm:pt modelId="{3F2A6F94-7C71-4C41-AFEB-2FE1F17FFBF5}" type="pres">
      <dgm:prSet presAssocID="{76612BDF-FF42-479A-8E8A-3C1A84D4CBDB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898E688-9F69-48B6-AF10-10AE62FA4D5F}" type="pres">
      <dgm:prSet presAssocID="{BB646704-60B0-4252-8AB4-565A354DF64B}" presName="sibTrans" presStyleCnt="0"/>
      <dgm:spPr/>
    </dgm:pt>
    <dgm:pt modelId="{47E2A3FE-D6BF-4F79-A3B9-4353F98F1D83}" type="pres">
      <dgm:prSet presAssocID="{0D8CC693-E40D-4BE3-AFBC-4D444FFF600F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813E104-539B-4664-8C2D-109F3CC2E096}" type="presOf" srcId="{24E62F20-D855-4DDF-8871-45A9350EF333}" destId="{DF53D7FE-C70F-4420-AF34-A0BAB4C47F46}" srcOrd="0" destOrd="0" presId="urn:microsoft.com/office/officeart/2005/8/layout/default#1"/>
    <dgm:cxn modelId="{78AB0EB0-99EF-4CDB-9237-3DB0967031D7}" srcId="{CBAB2798-522A-4028-BFA8-27832F533570}" destId="{24E62F20-D855-4DDF-8871-45A9350EF333}" srcOrd="0" destOrd="0" parTransId="{2ADF558D-BC9F-4159-9975-EB85A61A91C1}" sibTransId="{24F35FE8-D380-400E-B46C-670F8B389D8D}"/>
    <dgm:cxn modelId="{167A3087-0A44-4008-B770-9B2EFD7957C6}" type="presOf" srcId="{76612BDF-FF42-479A-8E8A-3C1A84D4CBDB}" destId="{3F2A6F94-7C71-4C41-AFEB-2FE1F17FFBF5}" srcOrd="0" destOrd="0" presId="urn:microsoft.com/office/officeart/2005/8/layout/default#1"/>
    <dgm:cxn modelId="{CB004468-1783-4AD1-B73A-1C2F41C5441F}" type="presOf" srcId="{CBAB2798-522A-4028-BFA8-27832F533570}" destId="{ED202AB4-99B3-4C12-B767-86907D908493}" srcOrd="0" destOrd="0" presId="urn:microsoft.com/office/officeart/2005/8/layout/default#1"/>
    <dgm:cxn modelId="{8F931844-CE8B-4B31-BEC2-0B7C96DB4BC6}" srcId="{CBAB2798-522A-4028-BFA8-27832F533570}" destId="{2921E4A9-AB3A-4E7D-B542-B5E4D611C4EE}" srcOrd="1" destOrd="0" parTransId="{52ADE129-5097-4B6C-AD30-0BD03B5DC01E}" sibTransId="{2CEE8CB4-436C-463E-AD55-D7DBB490DD49}"/>
    <dgm:cxn modelId="{E352C2B5-7A9E-438F-9334-CF85AA45ED1C}" type="presOf" srcId="{2921E4A9-AB3A-4E7D-B542-B5E4D611C4EE}" destId="{D272F2C3-C2DD-4AFF-99E1-D2618882B52E}" srcOrd="0" destOrd="0" presId="urn:microsoft.com/office/officeart/2005/8/layout/default#1"/>
    <dgm:cxn modelId="{550F2984-BF1E-4E46-B2BB-9FA893EC3088}" type="presOf" srcId="{0D8CC693-E40D-4BE3-AFBC-4D444FFF600F}" destId="{47E2A3FE-D6BF-4F79-A3B9-4353F98F1D83}" srcOrd="0" destOrd="0" presId="urn:microsoft.com/office/officeart/2005/8/layout/default#1"/>
    <dgm:cxn modelId="{AE71D3ED-255B-4226-AF3A-37EAA5C9F7C1}" srcId="{CBAB2798-522A-4028-BFA8-27832F533570}" destId="{76612BDF-FF42-479A-8E8A-3C1A84D4CBDB}" srcOrd="2" destOrd="0" parTransId="{05A3DDC2-2EA8-446C-A7ED-94EC2C1FA78C}" sibTransId="{BB646704-60B0-4252-8AB4-565A354DF64B}"/>
    <dgm:cxn modelId="{A2B24246-4829-4A0A-9E27-2CF493F926A8}" srcId="{CBAB2798-522A-4028-BFA8-27832F533570}" destId="{0D8CC693-E40D-4BE3-AFBC-4D444FFF600F}" srcOrd="3" destOrd="0" parTransId="{D463F016-BEF7-47F8-B69B-622A19D33C53}" sibTransId="{15870FD5-0EAB-4D37-89B7-65E756D0AE94}"/>
    <dgm:cxn modelId="{F020B62D-60AA-4A53-BBBE-6689D109D95D}" type="presParOf" srcId="{ED202AB4-99B3-4C12-B767-86907D908493}" destId="{DF53D7FE-C70F-4420-AF34-A0BAB4C47F46}" srcOrd="0" destOrd="0" presId="urn:microsoft.com/office/officeart/2005/8/layout/default#1"/>
    <dgm:cxn modelId="{CD62C691-3CCC-4973-A6C5-17B37C97C5D7}" type="presParOf" srcId="{ED202AB4-99B3-4C12-B767-86907D908493}" destId="{0D78236B-E4E3-44DE-83FF-A8B5EC609FBC}" srcOrd="1" destOrd="0" presId="urn:microsoft.com/office/officeart/2005/8/layout/default#1"/>
    <dgm:cxn modelId="{07C70269-F15B-45EB-8665-804F4E757870}" type="presParOf" srcId="{ED202AB4-99B3-4C12-B767-86907D908493}" destId="{D272F2C3-C2DD-4AFF-99E1-D2618882B52E}" srcOrd="2" destOrd="0" presId="urn:microsoft.com/office/officeart/2005/8/layout/default#1"/>
    <dgm:cxn modelId="{6A461516-F7B8-47A8-A443-87E877F178F5}" type="presParOf" srcId="{ED202AB4-99B3-4C12-B767-86907D908493}" destId="{6B5CDB5C-CEE9-4C9C-AE4C-2B1C58E4946E}" srcOrd="3" destOrd="0" presId="urn:microsoft.com/office/officeart/2005/8/layout/default#1"/>
    <dgm:cxn modelId="{61FEDC37-378F-4166-B566-33A3CA2F38E7}" type="presParOf" srcId="{ED202AB4-99B3-4C12-B767-86907D908493}" destId="{3F2A6F94-7C71-4C41-AFEB-2FE1F17FFBF5}" srcOrd="4" destOrd="0" presId="urn:microsoft.com/office/officeart/2005/8/layout/default#1"/>
    <dgm:cxn modelId="{ADB12243-D17D-430F-927E-CCFEE0FF6810}" type="presParOf" srcId="{ED202AB4-99B3-4C12-B767-86907D908493}" destId="{9898E688-9F69-48B6-AF10-10AE62FA4D5F}" srcOrd="5" destOrd="0" presId="urn:microsoft.com/office/officeart/2005/8/layout/default#1"/>
    <dgm:cxn modelId="{B5B89F09-B980-41E4-A5E3-AA372F3074AF}" type="presParOf" srcId="{ED202AB4-99B3-4C12-B767-86907D908493}" destId="{47E2A3FE-D6BF-4F79-A3B9-4353F98F1D83}" srcOrd="6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785FE0A-5319-4F38-9660-0A4ABF79D2F7}" type="doc">
      <dgm:prSet loTypeId="urn:microsoft.com/office/officeart/2005/8/layout/vList2" loCatId="list" qsTypeId="urn:microsoft.com/office/officeart/2005/8/quickstyle/3d2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D8F7E1C9-95D6-481E-8762-97E7BF77679E}">
      <dgm:prSet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Fire w/ extended coverage endorsement</a:t>
          </a:r>
        </a:p>
      </dgm:t>
    </dgm:pt>
    <dgm:pt modelId="{E0FA2822-A62A-4B5F-9D40-AAAFBACEF808}" type="parTrans" cxnId="{37F20CAB-D5A4-4774-8B6F-CA94E900227C}">
      <dgm:prSet/>
      <dgm:spPr/>
      <dgm:t>
        <a:bodyPr/>
        <a:lstStyle/>
        <a:p>
          <a:endParaRPr lang="en-US"/>
        </a:p>
      </dgm:t>
    </dgm:pt>
    <dgm:pt modelId="{6246AD38-50F0-4942-8525-FCDDC1C6B172}" type="sibTrans" cxnId="{37F20CAB-D5A4-4774-8B6F-CA94E900227C}">
      <dgm:prSet/>
      <dgm:spPr/>
      <dgm:t>
        <a:bodyPr/>
        <a:lstStyle/>
        <a:p>
          <a:endParaRPr lang="en-US"/>
        </a:p>
      </dgm:t>
    </dgm:pt>
    <dgm:pt modelId="{9D2D75A7-F5FE-4727-8104-28F265ED8AE9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Business interruption coverage</a:t>
          </a:r>
        </a:p>
      </dgm:t>
    </dgm:pt>
    <dgm:pt modelId="{535F78D6-1EF0-44EE-832F-905DEBE4A652}" type="parTrans" cxnId="{99FC09F4-9F90-45E7-993F-CB62D743288C}">
      <dgm:prSet/>
      <dgm:spPr/>
      <dgm:t>
        <a:bodyPr/>
        <a:lstStyle/>
        <a:p>
          <a:endParaRPr lang="en-US"/>
        </a:p>
      </dgm:t>
    </dgm:pt>
    <dgm:pt modelId="{99838F6D-022D-4168-B1E0-E9FD70A9AE0A}" type="sibTrans" cxnId="{99FC09F4-9F90-45E7-993F-CB62D743288C}">
      <dgm:prSet/>
      <dgm:spPr/>
      <dgm:t>
        <a:bodyPr/>
        <a:lstStyle/>
        <a:p>
          <a:endParaRPr lang="en-US"/>
        </a:p>
      </dgm:t>
    </dgm:pt>
    <dgm:pt modelId="{995A77A2-5937-4B75-9C6C-033C6403F02F}">
      <dgm:prSet/>
      <dgm:spPr>
        <a:solidFill>
          <a:schemeClr val="tx2">
            <a:lumMod val="75000"/>
            <a:lumOff val="25000"/>
          </a:schemeClr>
        </a:solidFill>
      </dgm:spPr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Casualty</a:t>
          </a:r>
        </a:p>
      </dgm:t>
    </dgm:pt>
    <dgm:pt modelId="{C6AD7707-5C85-45EB-BBBB-79B3D6C88E4E}" type="parTrans" cxnId="{D7F10062-0BE9-4E76-BD76-4D32A55A7BA5}">
      <dgm:prSet/>
      <dgm:spPr/>
      <dgm:t>
        <a:bodyPr/>
        <a:lstStyle/>
        <a:p>
          <a:endParaRPr lang="en-US"/>
        </a:p>
      </dgm:t>
    </dgm:pt>
    <dgm:pt modelId="{39ED108C-95F8-4580-9F2A-06C365A9ED09}" type="sibTrans" cxnId="{D7F10062-0BE9-4E76-BD76-4D32A55A7BA5}">
      <dgm:prSet/>
      <dgm:spPr/>
      <dgm:t>
        <a:bodyPr/>
        <a:lstStyle/>
        <a:p>
          <a:endParaRPr lang="en-US"/>
        </a:p>
      </dgm:t>
    </dgm:pt>
    <dgm:pt modelId="{68E999C2-F48B-4D82-B093-F05C7C19830D}">
      <dgm:prSet/>
      <dgm:spPr>
        <a:solidFill>
          <a:srgbClr val="00B0F0"/>
        </a:solidFill>
      </dgm:spPr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Professional liability (malpractice) </a:t>
          </a:r>
        </a:p>
      </dgm:t>
    </dgm:pt>
    <dgm:pt modelId="{7D3878B5-F53A-4F09-8860-2A0B708AAA1F}" type="parTrans" cxnId="{876E38D8-151A-46D2-9F1D-5EF4CAB8C186}">
      <dgm:prSet/>
      <dgm:spPr/>
      <dgm:t>
        <a:bodyPr/>
        <a:lstStyle/>
        <a:p>
          <a:endParaRPr lang="en-US"/>
        </a:p>
      </dgm:t>
    </dgm:pt>
    <dgm:pt modelId="{FD5FAE70-3D83-443C-8F64-29EA03BFC410}" type="sibTrans" cxnId="{876E38D8-151A-46D2-9F1D-5EF4CAB8C186}">
      <dgm:prSet/>
      <dgm:spPr/>
      <dgm:t>
        <a:bodyPr/>
        <a:lstStyle/>
        <a:p>
          <a:endParaRPr lang="en-US"/>
        </a:p>
      </dgm:t>
    </dgm:pt>
    <dgm:pt modelId="{1D5DCD20-6F50-4C2F-B3AB-01D48F4AE58E}">
      <dgm:prSet/>
      <dgm:spPr>
        <a:solidFill>
          <a:srgbClr val="00FFCC"/>
        </a:solidFill>
      </dgm:spPr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Worker’s comp</a:t>
          </a:r>
        </a:p>
      </dgm:t>
    </dgm:pt>
    <dgm:pt modelId="{538BC419-FB01-4F14-B2DD-DC6B68819B08}" type="parTrans" cxnId="{E2FCBECC-A759-4A21-ABAC-183466FD5C94}">
      <dgm:prSet/>
      <dgm:spPr/>
      <dgm:t>
        <a:bodyPr/>
        <a:lstStyle/>
        <a:p>
          <a:endParaRPr lang="en-US"/>
        </a:p>
      </dgm:t>
    </dgm:pt>
    <dgm:pt modelId="{72D6008E-41B6-4EC7-AED4-C4A0707F512A}" type="sibTrans" cxnId="{E2FCBECC-A759-4A21-ABAC-183466FD5C94}">
      <dgm:prSet/>
      <dgm:spPr/>
      <dgm:t>
        <a:bodyPr/>
        <a:lstStyle/>
        <a:p>
          <a:endParaRPr lang="en-US"/>
        </a:p>
      </dgm:t>
    </dgm:pt>
    <dgm:pt modelId="{9F73070D-D803-4C85-91CD-E9821A27E773}">
      <dgm:prSet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Key person</a:t>
          </a:r>
        </a:p>
      </dgm:t>
    </dgm:pt>
    <dgm:pt modelId="{25890FC7-1521-42B7-A8DC-F842BA274B5B}" type="parTrans" cxnId="{9200AC8E-3EDE-4095-8755-69889D328D10}">
      <dgm:prSet/>
      <dgm:spPr/>
      <dgm:t>
        <a:bodyPr/>
        <a:lstStyle/>
        <a:p>
          <a:endParaRPr lang="en-US"/>
        </a:p>
      </dgm:t>
    </dgm:pt>
    <dgm:pt modelId="{5A2D530A-9420-4C21-A4D3-8DF779EA160D}" type="sibTrans" cxnId="{9200AC8E-3EDE-4095-8755-69889D328D10}">
      <dgm:prSet/>
      <dgm:spPr/>
      <dgm:t>
        <a:bodyPr/>
        <a:lstStyle/>
        <a:p>
          <a:endParaRPr lang="en-US"/>
        </a:p>
      </dgm:t>
    </dgm:pt>
    <dgm:pt modelId="{25B6BE2F-DC18-42F1-867D-4B7255588FBE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Fidelity and surety bonds</a:t>
          </a:r>
        </a:p>
      </dgm:t>
    </dgm:pt>
    <dgm:pt modelId="{BC906A71-3724-43A6-BDD1-2E7C402CA3D2}" type="parTrans" cxnId="{0A6FA79C-18A3-4792-8E38-1932C35699E2}">
      <dgm:prSet/>
      <dgm:spPr/>
      <dgm:t>
        <a:bodyPr/>
        <a:lstStyle/>
        <a:p>
          <a:endParaRPr lang="en-US"/>
        </a:p>
      </dgm:t>
    </dgm:pt>
    <dgm:pt modelId="{B12B291D-3C8C-4EA6-A2F6-2FB885008AE2}" type="sibTrans" cxnId="{0A6FA79C-18A3-4792-8E38-1932C35699E2}">
      <dgm:prSet/>
      <dgm:spPr/>
      <dgm:t>
        <a:bodyPr/>
        <a:lstStyle/>
        <a:p>
          <a:endParaRPr lang="en-US"/>
        </a:p>
      </dgm:t>
    </dgm:pt>
    <dgm:pt modelId="{2936F830-4C5F-4826-94FD-BB5F3B3058A3}" type="pres">
      <dgm:prSet presAssocID="{E785FE0A-5319-4F38-9660-0A4ABF79D2F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F6A4DB7-4FFF-4762-B312-764C2C86A311}" type="pres">
      <dgm:prSet presAssocID="{D8F7E1C9-95D6-481E-8762-97E7BF77679E}" presName="parentText" presStyleLbl="node1" presStyleIdx="0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40CCEBC-B978-42CA-8396-E27BA144B4B1}" type="pres">
      <dgm:prSet presAssocID="{6246AD38-50F0-4942-8525-FCDDC1C6B172}" presName="spacer" presStyleCnt="0"/>
      <dgm:spPr/>
    </dgm:pt>
    <dgm:pt modelId="{AC41DDD3-0A84-40F1-9C8E-B7BC61077AEF}" type="pres">
      <dgm:prSet presAssocID="{9D2D75A7-F5FE-4727-8104-28F265ED8AE9}" presName="parentText" presStyleLbl="node1" presStyleIdx="1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701E77B-CA43-4A77-B28F-48A65A86DF00}" type="pres">
      <dgm:prSet presAssocID="{99838F6D-022D-4168-B1E0-E9FD70A9AE0A}" presName="spacer" presStyleCnt="0"/>
      <dgm:spPr/>
    </dgm:pt>
    <dgm:pt modelId="{D026AD8B-2BD2-45A4-8494-02A8DD14F010}" type="pres">
      <dgm:prSet presAssocID="{995A77A2-5937-4B75-9C6C-033C6403F02F}" presName="parentText" presStyleLbl="node1" presStyleIdx="2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A63A05A-3961-49A6-9E40-5FADDE332EE1}" type="pres">
      <dgm:prSet presAssocID="{39ED108C-95F8-4580-9F2A-06C365A9ED09}" presName="spacer" presStyleCnt="0"/>
      <dgm:spPr/>
    </dgm:pt>
    <dgm:pt modelId="{6EBFB105-0BAC-41B8-BB84-7AC2D52FC08C}" type="pres">
      <dgm:prSet presAssocID="{68E999C2-F48B-4D82-B093-F05C7C19830D}" presName="parentText" presStyleLbl="node1" presStyleIdx="3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CC7A01D-12AA-437E-A700-BA912AADEE16}" type="pres">
      <dgm:prSet presAssocID="{FD5FAE70-3D83-443C-8F64-29EA03BFC410}" presName="spacer" presStyleCnt="0"/>
      <dgm:spPr/>
    </dgm:pt>
    <dgm:pt modelId="{28FE8E72-EA44-429F-9CD9-CC32104F054F}" type="pres">
      <dgm:prSet presAssocID="{1D5DCD20-6F50-4C2F-B3AB-01D48F4AE58E}" presName="parentText" presStyleLbl="node1" presStyleIdx="4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2A74A77-739C-400B-8868-202C8ADAFD77}" type="pres">
      <dgm:prSet presAssocID="{72D6008E-41B6-4EC7-AED4-C4A0707F512A}" presName="spacer" presStyleCnt="0"/>
      <dgm:spPr/>
    </dgm:pt>
    <dgm:pt modelId="{19F9B6DA-5B8C-490D-98D7-9729F96B0DA7}" type="pres">
      <dgm:prSet presAssocID="{9F73070D-D803-4C85-91CD-E9821A27E773}" presName="parentText" presStyleLbl="node1" presStyleIdx="5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91DE67C-B584-4304-B6F3-F58C4F886CF5}" type="pres">
      <dgm:prSet presAssocID="{5A2D530A-9420-4C21-A4D3-8DF779EA160D}" presName="spacer" presStyleCnt="0"/>
      <dgm:spPr/>
    </dgm:pt>
    <dgm:pt modelId="{762912E1-46C0-4F5A-97CB-F883C83F1DD9}" type="pres">
      <dgm:prSet presAssocID="{25B6BE2F-DC18-42F1-867D-4B7255588FBE}" presName="parentText" presStyleLbl="node1" presStyleIdx="6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2FCBECC-A759-4A21-ABAC-183466FD5C94}" srcId="{E785FE0A-5319-4F38-9660-0A4ABF79D2F7}" destId="{1D5DCD20-6F50-4C2F-B3AB-01D48F4AE58E}" srcOrd="4" destOrd="0" parTransId="{538BC419-FB01-4F14-B2DD-DC6B68819B08}" sibTransId="{72D6008E-41B6-4EC7-AED4-C4A0707F512A}"/>
    <dgm:cxn modelId="{202C24A8-DCA3-4F97-BA99-BE89C589C2B7}" type="presOf" srcId="{9F73070D-D803-4C85-91CD-E9821A27E773}" destId="{19F9B6DA-5B8C-490D-98D7-9729F96B0DA7}" srcOrd="0" destOrd="0" presId="urn:microsoft.com/office/officeart/2005/8/layout/vList2"/>
    <dgm:cxn modelId="{8BB0876D-F66C-409D-815B-65C55298AFB3}" type="presOf" srcId="{E785FE0A-5319-4F38-9660-0A4ABF79D2F7}" destId="{2936F830-4C5F-4826-94FD-BB5F3B3058A3}" srcOrd="0" destOrd="0" presId="urn:microsoft.com/office/officeart/2005/8/layout/vList2"/>
    <dgm:cxn modelId="{9200AC8E-3EDE-4095-8755-69889D328D10}" srcId="{E785FE0A-5319-4F38-9660-0A4ABF79D2F7}" destId="{9F73070D-D803-4C85-91CD-E9821A27E773}" srcOrd="5" destOrd="0" parTransId="{25890FC7-1521-42B7-A8DC-F842BA274B5B}" sibTransId="{5A2D530A-9420-4C21-A4D3-8DF779EA160D}"/>
    <dgm:cxn modelId="{68A223DC-4CCB-40B8-B767-CB1AACAB4105}" type="presOf" srcId="{25B6BE2F-DC18-42F1-867D-4B7255588FBE}" destId="{762912E1-46C0-4F5A-97CB-F883C83F1DD9}" srcOrd="0" destOrd="0" presId="urn:microsoft.com/office/officeart/2005/8/layout/vList2"/>
    <dgm:cxn modelId="{8959AEE1-8526-4255-BE87-ED6593FB48A7}" type="presOf" srcId="{68E999C2-F48B-4D82-B093-F05C7C19830D}" destId="{6EBFB105-0BAC-41B8-BB84-7AC2D52FC08C}" srcOrd="0" destOrd="0" presId="urn:microsoft.com/office/officeart/2005/8/layout/vList2"/>
    <dgm:cxn modelId="{B32B5D20-2789-4F7D-9291-7EDA00A4A7C2}" type="presOf" srcId="{995A77A2-5937-4B75-9C6C-033C6403F02F}" destId="{D026AD8B-2BD2-45A4-8494-02A8DD14F010}" srcOrd="0" destOrd="0" presId="urn:microsoft.com/office/officeart/2005/8/layout/vList2"/>
    <dgm:cxn modelId="{38900A7E-D5D8-48E2-ACFE-8DB4CE9E276B}" type="presOf" srcId="{D8F7E1C9-95D6-481E-8762-97E7BF77679E}" destId="{2F6A4DB7-4FFF-4762-B312-764C2C86A311}" srcOrd="0" destOrd="0" presId="urn:microsoft.com/office/officeart/2005/8/layout/vList2"/>
    <dgm:cxn modelId="{5C783D99-91DA-4329-B9D8-FFE006E19D85}" type="presOf" srcId="{9D2D75A7-F5FE-4727-8104-28F265ED8AE9}" destId="{AC41DDD3-0A84-40F1-9C8E-B7BC61077AEF}" srcOrd="0" destOrd="0" presId="urn:microsoft.com/office/officeart/2005/8/layout/vList2"/>
    <dgm:cxn modelId="{37F20CAB-D5A4-4774-8B6F-CA94E900227C}" srcId="{E785FE0A-5319-4F38-9660-0A4ABF79D2F7}" destId="{D8F7E1C9-95D6-481E-8762-97E7BF77679E}" srcOrd="0" destOrd="0" parTransId="{E0FA2822-A62A-4B5F-9D40-AAAFBACEF808}" sibTransId="{6246AD38-50F0-4942-8525-FCDDC1C6B172}"/>
    <dgm:cxn modelId="{0A6FA79C-18A3-4792-8E38-1932C35699E2}" srcId="{E785FE0A-5319-4F38-9660-0A4ABF79D2F7}" destId="{25B6BE2F-DC18-42F1-867D-4B7255588FBE}" srcOrd="6" destOrd="0" parTransId="{BC906A71-3724-43A6-BDD1-2E7C402CA3D2}" sibTransId="{B12B291D-3C8C-4EA6-A2F6-2FB885008AE2}"/>
    <dgm:cxn modelId="{99FC09F4-9F90-45E7-993F-CB62D743288C}" srcId="{E785FE0A-5319-4F38-9660-0A4ABF79D2F7}" destId="{9D2D75A7-F5FE-4727-8104-28F265ED8AE9}" srcOrd="1" destOrd="0" parTransId="{535F78D6-1EF0-44EE-832F-905DEBE4A652}" sibTransId="{99838F6D-022D-4168-B1E0-E9FD70A9AE0A}"/>
    <dgm:cxn modelId="{876E38D8-151A-46D2-9F1D-5EF4CAB8C186}" srcId="{E785FE0A-5319-4F38-9660-0A4ABF79D2F7}" destId="{68E999C2-F48B-4D82-B093-F05C7C19830D}" srcOrd="3" destOrd="0" parTransId="{7D3878B5-F53A-4F09-8860-2A0B708AAA1F}" sibTransId="{FD5FAE70-3D83-443C-8F64-29EA03BFC410}"/>
    <dgm:cxn modelId="{D7F10062-0BE9-4E76-BD76-4D32A55A7BA5}" srcId="{E785FE0A-5319-4F38-9660-0A4ABF79D2F7}" destId="{995A77A2-5937-4B75-9C6C-033C6403F02F}" srcOrd="2" destOrd="0" parTransId="{C6AD7707-5C85-45EB-BBBB-79B3D6C88E4E}" sibTransId="{39ED108C-95F8-4580-9F2A-06C365A9ED09}"/>
    <dgm:cxn modelId="{D2948598-99CC-4182-BD25-0ED7C4FE41DB}" type="presOf" srcId="{1D5DCD20-6F50-4C2F-B3AB-01D48F4AE58E}" destId="{28FE8E72-EA44-429F-9CD9-CC32104F054F}" srcOrd="0" destOrd="0" presId="urn:microsoft.com/office/officeart/2005/8/layout/vList2"/>
    <dgm:cxn modelId="{85EF8868-288F-4BAA-B9B4-4815F7503566}" type="presParOf" srcId="{2936F830-4C5F-4826-94FD-BB5F3B3058A3}" destId="{2F6A4DB7-4FFF-4762-B312-764C2C86A311}" srcOrd="0" destOrd="0" presId="urn:microsoft.com/office/officeart/2005/8/layout/vList2"/>
    <dgm:cxn modelId="{D9FBC0A4-A5C5-4A54-9155-91C68CCE43C3}" type="presParOf" srcId="{2936F830-4C5F-4826-94FD-BB5F3B3058A3}" destId="{B40CCEBC-B978-42CA-8396-E27BA144B4B1}" srcOrd="1" destOrd="0" presId="urn:microsoft.com/office/officeart/2005/8/layout/vList2"/>
    <dgm:cxn modelId="{EA3C729F-DC58-40E9-AF6C-3DFE6C484979}" type="presParOf" srcId="{2936F830-4C5F-4826-94FD-BB5F3B3058A3}" destId="{AC41DDD3-0A84-40F1-9C8E-B7BC61077AEF}" srcOrd="2" destOrd="0" presId="urn:microsoft.com/office/officeart/2005/8/layout/vList2"/>
    <dgm:cxn modelId="{494A2114-7D1D-406D-B67A-44DC26102202}" type="presParOf" srcId="{2936F830-4C5F-4826-94FD-BB5F3B3058A3}" destId="{B701E77B-CA43-4A77-B28F-48A65A86DF00}" srcOrd="3" destOrd="0" presId="urn:microsoft.com/office/officeart/2005/8/layout/vList2"/>
    <dgm:cxn modelId="{789D2761-9BD4-4D38-B19C-533366B5F6DD}" type="presParOf" srcId="{2936F830-4C5F-4826-94FD-BB5F3B3058A3}" destId="{D026AD8B-2BD2-45A4-8494-02A8DD14F010}" srcOrd="4" destOrd="0" presId="urn:microsoft.com/office/officeart/2005/8/layout/vList2"/>
    <dgm:cxn modelId="{29EF4205-2C0E-4B3E-9123-23CA52EA28E0}" type="presParOf" srcId="{2936F830-4C5F-4826-94FD-BB5F3B3058A3}" destId="{4A63A05A-3961-49A6-9E40-5FADDE332EE1}" srcOrd="5" destOrd="0" presId="urn:microsoft.com/office/officeart/2005/8/layout/vList2"/>
    <dgm:cxn modelId="{1BA86BA9-7C95-4697-AF2E-804B810043B7}" type="presParOf" srcId="{2936F830-4C5F-4826-94FD-BB5F3B3058A3}" destId="{6EBFB105-0BAC-41B8-BB84-7AC2D52FC08C}" srcOrd="6" destOrd="0" presId="urn:microsoft.com/office/officeart/2005/8/layout/vList2"/>
    <dgm:cxn modelId="{A68C21AD-9095-4589-9503-A9413817AC7F}" type="presParOf" srcId="{2936F830-4C5F-4826-94FD-BB5F3B3058A3}" destId="{0CC7A01D-12AA-437E-A700-BA912AADEE16}" srcOrd="7" destOrd="0" presId="urn:microsoft.com/office/officeart/2005/8/layout/vList2"/>
    <dgm:cxn modelId="{DD1903B9-3A17-407A-ABA5-BB337E401D46}" type="presParOf" srcId="{2936F830-4C5F-4826-94FD-BB5F3B3058A3}" destId="{28FE8E72-EA44-429F-9CD9-CC32104F054F}" srcOrd="8" destOrd="0" presId="urn:microsoft.com/office/officeart/2005/8/layout/vList2"/>
    <dgm:cxn modelId="{B4D24904-A106-4DB3-8B34-13A375BEA565}" type="presParOf" srcId="{2936F830-4C5F-4826-94FD-BB5F3B3058A3}" destId="{D2A74A77-739C-400B-8868-202C8ADAFD77}" srcOrd="9" destOrd="0" presId="urn:microsoft.com/office/officeart/2005/8/layout/vList2"/>
    <dgm:cxn modelId="{A8D05A07-0416-4D05-9A56-0F76AF0A53FA}" type="presParOf" srcId="{2936F830-4C5F-4826-94FD-BB5F3B3058A3}" destId="{19F9B6DA-5B8C-490D-98D7-9729F96B0DA7}" srcOrd="10" destOrd="0" presId="urn:microsoft.com/office/officeart/2005/8/layout/vList2"/>
    <dgm:cxn modelId="{D15BDAF6-B207-46E1-9256-24A86A93FD76}" type="presParOf" srcId="{2936F830-4C5F-4826-94FD-BB5F3B3058A3}" destId="{091DE67C-B584-4304-B6F3-F58C4F886CF5}" srcOrd="11" destOrd="0" presId="urn:microsoft.com/office/officeart/2005/8/layout/vList2"/>
    <dgm:cxn modelId="{10DCF7D5-526C-4ACD-AFB3-EEF48A1D9132}" type="presParOf" srcId="{2936F830-4C5F-4826-94FD-BB5F3B3058A3}" destId="{762912E1-46C0-4F5A-97CB-F883C83F1DD9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B6AE9D4-FFB3-4EC8-B7BA-0BE776DE9283}" type="doc">
      <dgm:prSet loTypeId="urn:microsoft.com/office/officeart/2005/8/layout/vList2" loCatId="list" qsTypeId="urn:microsoft.com/office/officeart/2005/8/quickstyle/3d2" qsCatId="3D" csTypeId="urn:microsoft.com/office/officeart/2005/8/colors/colorful4" csCatId="colorful"/>
      <dgm:spPr/>
      <dgm:t>
        <a:bodyPr/>
        <a:lstStyle/>
        <a:p>
          <a:endParaRPr lang="en-US"/>
        </a:p>
      </dgm:t>
    </dgm:pt>
    <dgm:pt modelId="{BC7F904D-769C-4C4A-8F94-97EA10336563}">
      <dgm:prSet custT="1"/>
      <dgm:spPr/>
      <dgm:t>
        <a:bodyPr/>
        <a:lstStyle/>
        <a:p>
          <a:pPr rtl="0"/>
          <a:r>
            <a: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Adopt a zero-tolerance policy.</a:t>
          </a:r>
        </a:p>
      </dgm:t>
    </dgm:pt>
    <dgm:pt modelId="{BF455A3B-B51C-42B9-AD24-3579D979F4B0}" type="parTrans" cxnId="{B6260F4F-340C-4AC2-9B05-C190BDA5D2EF}">
      <dgm:prSet/>
      <dgm:spPr/>
      <dgm:t>
        <a:bodyPr/>
        <a:lstStyle/>
        <a:p>
          <a:endParaRPr lang="en-US"/>
        </a:p>
      </dgm:t>
    </dgm:pt>
    <dgm:pt modelId="{C733CB90-FBA3-46F2-ACF3-4469D2CA5BF0}" type="sibTrans" cxnId="{B6260F4F-340C-4AC2-9B05-C190BDA5D2EF}">
      <dgm:prSet/>
      <dgm:spPr/>
      <dgm:t>
        <a:bodyPr/>
        <a:lstStyle/>
        <a:p>
          <a:endParaRPr lang="en-US"/>
        </a:p>
      </dgm:t>
    </dgm:pt>
    <dgm:pt modelId="{04FF1D06-09C1-437E-93A7-7A5BFDC920C2}">
      <dgm:prSet custT="1"/>
      <dgm:spPr/>
      <dgm:t>
        <a:bodyPr/>
        <a:lstStyle/>
        <a:p>
          <a:pPr rtl="0"/>
          <a:r>
            <a: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Screen carefully.</a:t>
          </a:r>
        </a:p>
      </dgm:t>
    </dgm:pt>
    <dgm:pt modelId="{118F0FDC-4126-47AA-AAEE-B4C3E234714A}" type="parTrans" cxnId="{F8425F71-C92A-418F-B03D-DC06EEA7C30C}">
      <dgm:prSet/>
      <dgm:spPr/>
      <dgm:t>
        <a:bodyPr/>
        <a:lstStyle/>
        <a:p>
          <a:endParaRPr lang="en-US"/>
        </a:p>
      </dgm:t>
    </dgm:pt>
    <dgm:pt modelId="{AE811727-7DA3-49FC-9103-31C9066A2078}" type="sibTrans" cxnId="{F8425F71-C92A-418F-B03D-DC06EEA7C30C}">
      <dgm:prSet/>
      <dgm:spPr/>
      <dgm:t>
        <a:bodyPr/>
        <a:lstStyle/>
        <a:p>
          <a:endParaRPr lang="en-US"/>
        </a:p>
      </dgm:t>
    </dgm:pt>
    <dgm:pt modelId="{0C89B0F1-3DA4-4D07-81A4-4271B6EA165C}">
      <dgm:prSet/>
      <dgm:spPr/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Train supervisors to recognize personality changes and warning signs.</a:t>
          </a:r>
        </a:p>
      </dgm:t>
    </dgm:pt>
    <dgm:pt modelId="{A870F70F-5A9F-4960-A1BB-FBDCD6A3914C}" type="parTrans" cxnId="{9FAE53F2-A265-4670-AF7B-1E160C65355F}">
      <dgm:prSet/>
      <dgm:spPr/>
      <dgm:t>
        <a:bodyPr/>
        <a:lstStyle/>
        <a:p>
          <a:endParaRPr lang="en-US"/>
        </a:p>
      </dgm:t>
    </dgm:pt>
    <dgm:pt modelId="{3B65C8F1-D317-45F8-B165-7058B9348E5D}" type="sibTrans" cxnId="{9FAE53F2-A265-4670-AF7B-1E160C65355F}">
      <dgm:prSet/>
      <dgm:spPr/>
      <dgm:t>
        <a:bodyPr/>
        <a:lstStyle/>
        <a:p>
          <a:endParaRPr lang="en-US"/>
        </a:p>
      </dgm:t>
    </dgm:pt>
    <dgm:pt modelId="{3CC385B9-DE8C-400C-BF6F-05C08ABE7542}">
      <dgm:prSet custT="1"/>
      <dgm:spPr/>
      <dgm:t>
        <a:bodyPr/>
        <a:lstStyle/>
        <a:p>
          <a:pPr rtl="0"/>
          <a:r>
            <a: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Defuse disputes.</a:t>
          </a:r>
        </a:p>
      </dgm:t>
    </dgm:pt>
    <dgm:pt modelId="{9A863F17-7E72-4758-859B-358E1AF2B038}" type="parTrans" cxnId="{FFF5EFDD-74F0-4B7C-A5A7-2CE277A99C85}">
      <dgm:prSet/>
      <dgm:spPr/>
      <dgm:t>
        <a:bodyPr/>
        <a:lstStyle/>
        <a:p>
          <a:endParaRPr lang="en-US"/>
        </a:p>
      </dgm:t>
    </dgm:pt>
    <dgm:pt modelId="{1AD5A7E6-A25F-4522-B4D6-F2BDAFA2CB8A}" type="sibTrans" cxnId="{FFF5EFDD-74F0-4B7C-A5A7-2CE277A99C85}">
      <dgm:prSet/>
      <dgm:spPr/>
      <dgm:t>
        <a:bodyPr/>
        <a:lstStyle/>
        <a:p>
          <a:endParaRPr lang="en-US"/>
        </a:p>
      </dgm:t>
    </dgm:pt>
    <dgm:pt modelId="{8E1B3549-8487-44E4-AFE9-22B4A295FCC3}">
      <dgm:prSet custT="1"/>
      <dgm:spPr/>
      <dgm:t>
        <a:bodyPr/>
        <a:lstStyle/>
        <a:p>
          <a:pPr rtl="0"/>
          <a:r>
            <a: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Check and double-check security.</a:t>
          </a:r>
        </a:p>
      </dgm:t>
    </dgm:pt>
    <dgm:pt modelId="{05DE5AEF-990B-44DA-AD3C-02F79FF3EBAB}" type="parTrans" cxnId="{9109462C-7145-43C9-8883-8016D2E17072}">
      <dgm:prSet/>
      <dgm:spPr/>
      <dgm:t>
        <a:bodyPr/>
        <a:lstStyle/>
        <a:p>
          <a:endParaRPr lang="en-US"/>
        </a:p>
      </dgm:t>
    </dgm:pt>
    <dgm:pt modelId="{9CB0842C-2428-41E9-A75D-6365AD4624D3}" type="sibTrans" cxnId="{9109462C-7145-43C9-8883-8016D2E17072}">
      <dgm:prSet/>
      <dgm:spPr/>
      <dgm:t>
        <a:bodyPr/>
        <a:lstStyle/>
        <a:p>
          <a:endParaRPr lang="en-US"/>
        </a:p>
      </dgm:t>
    </dgm:pt>
    <dgm:pt modelId="{43EA3ECB-9CD7-446D-8282-25F74A64CACF}">
      <dgm:prSet custT="1"/>
      <dgm:spPr/>
      <dgm:t>
        <a:bodyPr/>
        <a:lstStyle/>
        <a:p>
          <a:pPr rtl="0"/>
          <a:r>
            <a: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Terminate with care—then change the locks</a:t>
          </a:r>
        </a:p>
      </dgm:t>
    </dgm:pt>
    <dgm:pt modelId="{D846326B-A978-412C-A9D5-3DE07F1B857F}" type="parTrans" cxnId="{44CF6DBC-F1AA-4132-A91C-0F8ECBF02F23}">
      <dgm:prSet/>
      <dgm:spPr/>
      <dgm:t>
        <a:bodyPr/>
        <a:lstStyle/>
        <a:p>
          <a:endParaRPr lang="en-US"/>
        </a:p>
      </dgm:t>
    </dgm:pt>
    <dgm:pt modelId="{14B73E1C-BFDC-409B-AC41-C07080267589}" type="sibTrans" cxnId="{44CF6DBC-F1AA-4132-A91C-0F8ECBF02F23}">
      <dgm:prSet/>
      <dgm:spPr/>
      <dgm:t>
        <a:bodyPr/>
        <a:lstStyle/>
        <a:p>
          <a:endParaRPr lang="en-US"/>
        </a:p>
      </dgm:t>
    </dgm:pt>
    <dgm:pt modelId="{A33E9DF7-894A-46F8-B02C-B6964EF91355}" type="pres">
      <dgm:prSet presAssocID="{5B6AE9D4-FFB3-4EC8-B7BA-0BE776DE928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C94EBBD-3243-499F-B576-E7573188FD7A}" type="pres">
      <dgm:prSet presAssocID="{BC7F904D-769C-4C4A-8F94-97EA10336563}" presName="parentText" presStyleLbl="node1" presStyleIdx="0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5C9D6E1-EAC3-4481-BABA-FBCB0160A71A}" type="pres">
      <dgm:prSet presAssocID="{C733CB90-FBA3-46F2-ACF3-4469D2CA5BF0}" presName="spacer" presStyleCnt="0"/>
      <dgm:spPr/>
    </dgm:pt>
    <dgm:pt modelId="{D8B2BF22-4D50-43F0-9606-CB58E32DF9E6}" type="pres">
      <dgm:prSet presAssocID="{04FF1D06-09C1-437E-93A7-7A5BFDC920C2}" presName="parentText" presStyleLbl="node1" presStyleIdx="1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8900491-939F-4675-A424-23B24DE5BC25}" type="pres">
      <dgm:prSet presAssocID="{AE811727-7DA3-49FC-9103-31C9066A2078}" presName="spacer" presStyleCnt="0"/>
      <dgm:spPr/>
    </dgm:pt>
    <dgm:pt modelId="{DAF56EF5-8397-4AB3-B2AA-73ACE9CFC472}" type="pres">
      <dgm:prSet presAssocID="{0C89B0F1-3DA4-4D07-81A4-4271B6EA165C}" presName="parentText" presStyleLbl="node1" presStyleIdx="2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451A3F8-4902-4700-81E6-6E9B7B6FC640}" type="pres">
      <dgm:prSet presAssocID="{3B65C8F1-D317-45F8-B165-7058B9348E5D}" presName="spacer" presStyleCnt="0"/>
      <dgm:spPr/>
    </dgm:pt>
    <dgm:pt modelId="{2FF05E1F-D016-43EC-89B9-43280CEC6269}" type="pres">
      <dgm:prSet presAssocID="{3CC385B9-DE8C-400C-BF6F-05C08ABE7542}" presName="parentText" presStyleLbl="node1" presStyleIdx="3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A7AFDEF-E41B-4E60-AE13-0A678F601404}" type="pres">
      <dgm:prSet presAssocID="{1AD5A7E6-A25F-4522-B4D6-F2BDAFA2CB8A}" presName="spacer" presStyleCnt="0"/>
      <dgm:spPr/>
    </dgm:pt>
    <dgm:pt modelId="{37269CF9-0E5F-4F0F-9A62-5BE0E751A409}" type="pres">
      <dgm:prSet presAssocID="{8E1B3549-8487-44E4-AFE9-22B4A295FCC3}" presName="parentText" presStyleLbl="node1" presStyleIdx="4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FD464F1-E7D5-4AE6-85D1-8B5A7F8E30DC}" type="pres">
      <dgm:prSet presAssocID="{9CB0842C-2428-41E9-A75D-6365AD4624D3}" presName="spacer" presStyleCnt="0"/>
      <dgm:spPr/>
    </dgm:pt>
    <dgm:pt modelId="{EB0728C6-501E-4822-96A4-9F190C86B31A}" type="pres">
      <dgm:prSet presAssocID="{43EA3ECB-9CD7-446D-8282-25F74A64CACF}" presName="parentText" presStyleLbl="node1" presStyleIdx="5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C929309-D44A-4D9B-876D-7965F3FA748D}" type="presOf" srcId="{8E1B3549-8487-44E4-AFE9-22B4A295FCC3}" destId="{37269CF9-0E5F-4F0F-9A62-5BE0E751A409}" srcOrd="0" destOrd="0" presId="urn:microsoft.com/office/officeart/2005/8/layout/vList2"/>
    <dgm:cxn modelId="{4D35D91E-7168-47AC-9DF8-716CE1C8124B}" type="presOf" srcId="{0C89B0F1-3DA4-4D07-81A4-4271B6EA165C}" destId="{DAF56EF5-8397-4AB3-B2AA-73ACE9CFC472}" srcOrd="0" destOrd="0" presId="urn:microsoft.com/office/officeart/2005/8/layout/vList2"/>
    <dgm:cxn modelId="{F8425F71-C92A-418F-B03D-DC06EEA7C30C}" srcId="{5B6AE9D4-FFB3-4EC8-B7BA-0BE776DE9283}" destId="{04FF1D06-09C1-437E-93A7-7A5BFDC920C2}" srcOrd="1" destOrd="0" parTransId="{118F0FDC-4126-47AA-AAEE-B4C3E234714A}" sibTransId="{AE811727-7DA3-49FC-9103-31C9066A2078}"/>
    <dgm:cxn modelId="{FFF5EFDD-74F0-4B7C-A5A7-2CE277A99C85}" srcId="{5B6AE9D4-FFB3-4EC8-B7BA-0BE776DE9283}" destId="{3CC385B9-DE8C-400C-BF6F-05C08ABE7542}" srcOrd="3" destOrd="0" parTransId="{9A863F17-7E72-4758-859B-358E1AF2B038}" sibTransId="{1AD5A7E6-A25F-4522-B4D6-F2BDAFA2CB8A}"/>
    <dgm:cxn modelId="{9FAE53F2-A265-4670-AF7B-1E160C65355F}" srcId="{5B6AE9D4-FFB3-4EC8-B7BA-0BE776DE9283}" destId="{0C89B0F1-3DA4-4D07-81A4-4271B6EA165C}" srcOrd="2" destOrd="0" parTransId="{A870F70F-5A9F-4960-A1BB-FBDCD6A3914C}" sibTransId="{3B65C8F1-D317-45F8-B165-7058B9348E5D}"/>
    <dgm:cxn modelId="{B6485DFF-0C64-4FE9-A843-151F8F3243CD}" type="presOf" srcId="{04FF1D06-09C1-437E-93A7-7A5BFDC920C2}" destId="{D8B2BF22-4D50-43F0-9606-CB58E32DF9E6}" srcOrd="0" destOrd="0" presId="urn:microsoft.com/office/officeart/2005/8/layout/vList2"/>
    <dgm:cxn modelId="{5C9C40DA-1F02-4540-AE9A-CC584CF94BF0}" type="presOf" srcId="{43EA3ECB-9CD7-446D-8282-25F74A64CACF}" destId="{EB0728C6-501E-4822-96A4-9F190C86B31A}" srcOrd="0" destOrd="0" presId="urn:microsoft.com/office/officeart/2005/8/layout/vList2"/>
    <dgm:cxn modelId="{E6245D8D-1C56-42B4-B1F8-6F05DA4AB752}" type="presOf" srcId="{5B6AE9D4-FFB3-4EC8-B7BA-0BE776DE9283}" destId="{A33E9DF7-894A-46F8-B02C-B6964EF91355}" srcOrd="0" destOrd="0" presId="urn:microsoft.com/office/officeart/2005/8/layout/vList2"/>
    <dgm:cxn modelId="{6CF839B6-A663-4C00-9B51-F9A135883FC2}" type="presOf" srcId="{3CC385B9-DE8C-400C-BF6F-05C08ABE7542}" destId="{2FF05E1F-D016-43EC-89B9-43280CEC6269}" srcOrd="0" destOrd="0" presId="urn:microsoft.com/office/officeart/2005/8/layout/vList2"/>
    <dgm:cxn modelId="{9109462C-7145-43C9-8883-8016D2E17072}" srcId="{5B6AE9D4-FFB3-4EC8-B7BA-0BE776DE9283}" destId="{8E1B3549-8487-44E4-AFE9-22B4A295FCC3}" srcOrd="4" destOrd="0" parTransId="{05DE5AEF-990B-44DA-AD3C-02F79FF3EBAB}" sibTransId="{9CB0842C-2428-41E9-A75D-6365AD4624D3}"/>
    <dgm:cxn modelId="{5FE40697-5806-4598-96FB-BBE1D4E85095}" type="presOf" srcId="{BC7F904D-769C-4C4A-8F94-97EA10336563}" destId="{DC94EBBD-3243-499F-B576-E7573188FD7A}" srcOrd="0" destOrd="0" presId="urn:microsoft.com/office/officeart/2005/8/layout/vList2"/>
    <dgm:cxn modelId="{B6260F4F-340C-4AC2-9B05-C190BDA5D2EF}" srcId="{5B6AE9D4-FFB3-4EC8-B7BA-0BE776DE9283}" destId="{BC7F904D-769C-4C4A-8F94-97EA10336563}" srcOrd="0" destOrd="0" parTransId="{BF455A3B-B51C-42B9-AD24-3579D979F4B0}" sibTransId="{C733CB90-FBA3-46F2-ACF3-4469D2CA5BF0}"/>
    <dgm:cxn modelId="{44CF6DBC-F1AA-4132-A91C-0F8ECBF02F23}" srcId="{5B6AE9D4-FFB3-4EC8-B7BA-0BE776DE9283}" destId="{43EA3ECB-9CD7-446D-8282-25F74A64CACF}" srcOrd="5" destOrd="0" parTransId="{D846326B-A978-412C-A9D5-3DE07F1B857F}" sibTransId="{14B73E1C-BFDC-409B-AC41-C07080267589}"/>
    <dgm:cxn modelId="{B1DA7B10-512B-42AF-8928-9CC55CF33DE0}" type="presParOf" srcId="{A33E9DF7-894A-46F8-B02C-B6964EF91355}" destId="{DC94EBBD-3243-499F-B576-E7573188FD7A}" srcOrd="0" destOrd="0" presId="urn:microsoft.com/office/officeart/2005/8/layout/vList2"/>
    <dgm:cxn modelId="{70DC8D15-B3F0-4644-93A5-E5E3D99B8CA7}" type="presParOf" srcId="{A33E9DF7-894A-46F8-B02C-B6964EF91355}" destId="{E5C9D6E1-EAC3-4481-BABA-FBCB0160A71A}" srcOrd="1" destOrd="0" presId="urn:microsoft.com/office/officeart/2005/8/layout/vList2"/>
    <dgm:cxn modelId="{26F22997-529F-4562-A385-106FEE90E113}" type="presParOf" srcId="{A33E9DF7-894A-46F8-B02C-B6964EF91355}" destId="{D8B2BF22-4D50-43F0-9606-CB58E32DF9E6}" srcOrd="2" destOrd="0" presId="urn:microsoft.com/office/officeart/2005/8/layout/vList2"/>
    <dgm:cxn modelId="{1D6AE427-1EEC-4275-B1D4-6F36A21B6730}" type="presParOf" srcId="{A33E9DF7-894A-46F8-B02C-B6964EF91355}" destId="{18900491-939F-4675-A424-23B24DE5BC25}" srcOrd="3" destOrd="0" presId="urn:microsoft.com/office/officeart/2005/8/layout/vList2"/>
    <dgm:cxn modelId="{552A8202-D59A-45CD-A203-4B411250B9BD}" type="presParOf" srcId="{A33E9DF7-894A-46F8-B02C-B6964EF91355}" destId="{DAF56EF5-8397-4AB3-B2AA-73ACE9CFC472}" srcOrd="4" destOrd="0" presId="urn:microsoft.com/office/officeart/2005/8/layout/vList2"/>
    <dgm:cxn modelId="{2DDBA6E5-A5AE-4CD3-AF40-37C1A02A694C}" type="presParOf" srcId="{A33E9DF7-894A-46F8-B02C-B6964EF91355}" destId="{0451A3F8-4902-4700-81E6-6E9B7B6FC640}" srcOrd="5" destOrd="0" presId="urn:microsoft.com/office/officeart/2005/8/layout/vList2"/>
    <dgm:cxn modelId="{3AB2AF8D-56AF-4E85-BB46-F0CDA75D25C7}" type="presParOf" srcId="{A33E9DF7-894A-46F8-B02C-B6964EF91355}" destId="{2FF05E1F-D016-43EC-89B9-43280CEC6269}" srcOrd="6" destOrd="0" presId="urn:microsoft.com/office/officeart/2005/8/layout/vList2"/>
    <dgm:cxn modelId="{E80F9097-48E2-4F8F-9878-A89A9E4973A1}" type="presParOf" srcId="{A33E9DF7-894A-46F8-B02C-B6964EF91355}" destId="{DA7AFDEF-E41B-4E60-AE13-0A678F601404}" srcOrd="7" destOrd="0" presId="urn:microsoft.com/office/officeart/2005/8/layout/vList2"/>
    <dgm:cxn modelId="{34BDA943-BB02-48C4-BDAC-294BFFBD0278}" type="presParOf" srcId="{A33E9DF7-894A-46F8-B02C-B6964EF91355}" destId="{37269CF9-0E5F-4F0F-9A62-5BE0E751A409}" srcOrd="8" destOrd="0" presId="urn:microsoft.com/office/officeart/2005/8/layout/vList2"/>
    <dgm:cxn modelId="{C8FB574E-230D-4206-A6B3-D08C017F0459}" type="presParOf" srcId="{A33E9DF7-894A-46F8-B02C-B6964EF91355}" destId="{0FD464F1-E7D5-4AE6-85D1-8B5A7F8E30DC}" srcOrd="9" destOrd="0" presId="urn:microsoft.com/office/officeart/2005/8/layout/vList2"/>
    <dgm:cxn modelId="{617261FB-AA35-4345-B713-51F35F964166}" type="presParOf" srcId="{A33E9DF7-894A-46F8-B02C-B6964EF91355}" destId="{EB0728C6-501E-4822-96A4-9F190C86B31A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53D7FE-C70F-4420-AF34-A0BAB4C47F46}">
      <dsp:nvSpPr>
        <dsp:cNvPr id="0" name=""/>
        <dsp:cNvSpPr/>
      </dsp:nvSpPr>
      <dsp:spPr>
        <a:xfrm>
          <a:off x="415375" y="75"/>
          <a:ext cx="3305547" cy="1983328"/>
        </a:xfrm>
        <a:prstGeom prst="rect">
          <a:avLst/>
        </a:prstGeom>
        <a:solidFill>
          <a:srgbClr val="0070C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ctr" defTabSz="1778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Risk avoidance.</a:t>
          </a:r>
        </a:p>
      </dsp:txBody>
      <dsp:txXfrm>
        <a:off x="415375" y="75"/>
        <a:ext cx="3305547" cy="1983328"/>
      </dsp:txXfrm>
    </dsp:sp>
    <dsp:sp modelId="{D272F2C3-C2DD-4AFF-99E1-D2618882B52E}">
      <dsp:nvSpPr>
        <dsp:cNvPr id="0" name=""/>
        <dsp:cNvSpPr/>
      </dsp:nvSpPr>
      <dsp:spPr>
        <a:xfrm>
          <a:off x="4051477" y="75"/>
          <a:ext cx="3305547" cy="1983328"/>
        </a:xfrm>
        <a:prstGeom prst="rect">
          <a:avLst/>
        </a:prstGeom>
        <a:solidFill>
          <a:schemeClr val="accent1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ctr" defTabSz="1778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Risk prevention</a:t>
          </a:r>
        </a:p>
      </dsp:txBody>
      <dsp:txXfrm>
        <a:off x="4051477" y="75"/>
        <a:ext cx="3305547" cy="1983328"/>
      </dsp:txXfrm>
    </dsp:sp>
    <dsp:sp modelId="{3F2A6F94-7C71-4C41-AFEB-2FE1F17FFBF5}">
      <dsp:nvSpPr>
        <dsp:cNvPr id="0" name=""/>
        <dsp:cNvSpPr/>
      </dsp:nvSpPr>
      <dsp:spPr>
        <a:xfrm>
          <a:off x="415375" y="2313958"/>
          <a:ext cx="3305547" cy="1983328"/>
        </a:xfrm>
        <a:prstGeom prst="rect">
          <a:avLst/>
        </a:prstGeom>
        <a:solidFill>
          <a:srgbClr val="00B0F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ctr" defTabSz="1778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Risk transfer.</a:t>
          </a:r>
        </a:p>
      </dsp:txBody>
      <dsp:txXfrm>
        <a:off x="415375" y="2313958"/>
        <a:ext cx="3305547" cy="1983328"/>
      </dsp:txXfrm>
    </dsp:sp>
    <dsp:sp modelId="{47E2A3FE-D6BF-4F79-A3B9-4353F98F1D83}">
      <dsp:nvSpPr>
        <dsp:cNvPr id="0" name=""/>
        <dsp:cNvSpPr/>
      </dsp:nvSpPr>
      <dsp:spPr>
        <a:xfrm>
          <a:off x="4051477" y="2313958"/>
          <a:ext cx="3305547" cy="1983328"/>
        </a:xfrm>
        <a:prstGeom prst="rect">
          <a:avLst/>
        </a:prstGeom>
        <a:solidFill>
          <a:srgbClr val="00B05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ctr" defTabSz="1778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Risk assumption</a:t>
          </a:r>
        </a:p>
      </dsp:txBody>
      <dsp:txXfrm>
        <a:off x="4051477" y="2313958"/>
        <a:ext cx="3305547" cy="19833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6A4DB7-4FFF-4762-B312-764C2C86A311}">
      <dsp:nvSpPr>
        <dsp:cNvPr id="0" name=""/>
        <dsp:cNvSpPr/>
      </dsp:nvSpPr>
      <dsp:spPr>
        <a:xfrm>
          <a:off x="0" y="90021"/>
          <a:ext cx="8229600" cy="561599"/>
        </a:xfrm>
        <a:prstGeom prst="roundRect">
          <a:avLst/>
        </a:prstGeom>
        <a:solidFill>
          <a:schemeClr val="accent1">
            <a:lumMod val="40000"/>
            <a:lumOff val="6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Fire w/ extended coverage endorsement</a:t>
          </a:r>
        </a:p>
      </dsp:txBody>
      <dsp:txXfrm>
        <a:off x="27415" y="117436"/>
        <a:ext cx="8174770" cy="506769"/>
      </dsp:txXfrm>
    </dsp:sp>
    <dsp:sp modelId="{AC41DDD3-0A84-40F1-9C8E-B7BC61077AEF}">
      <dsp:nvSpPr>
        <dsp:cNvPr id="0" name=""/>
        <dsp:cNvSpPr/>
      </dsp:nvSpPr>
      <dsp:spPr>
        <a:xfrm>
          <a:off x="0" y="720741"/>
          <a:ext cx="8229600" cy="561599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Business interruption coverage</a:t>
          </a:r>
        </a:p>
      </dsp:txBody>
      <dsp:txXfrm>
        <a:off x="27415" y="748156"/>
        <a:ext cx="8174770" cy="506769"/>
      </dsp:txXfrm>
    </dsp:sp>
    <dsp:sp modelId="{D026AD8B-2BD2-45A4-8494-02A8DD14F010}">
      <dsp:nvSpPr>
        <dsp:cNvPr id="0" name=""/>
        <dsp:cNvSpPr/>
      </dsp:nvSpPr>
      <dsp:spPr>
        <a:xfrm>
          <a:off x="0" y="1351461"/>
          <a:ext cx="8229600" cy="561599"/>
        </a:xfrm>
        <a:prstGeom prst="roundRect">
          <a:avLst/>
        </a:prstGeom>
        <a:solidFill>
          <a:schemeClr val="tx2">
            <a:lumMod val="75000"/>
            <a:lumOff val="2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Casualty</a:t>
          </a:r>
        </a:p>
      </dsp:txBody>
      <dsp:txXfrm>
        <a:off x="27415" y="1378876"/>
        <a:ext cx="8174770" cy="506769"/>
      </dsp:txXfrm>
    </dsp:sp>
    <dsp:sp modelId="{6EBFB105-0BAC-41B8-BB84-7AC2D52FC08C}">
      <dsp:nvSpPr>
        <dsp:cNvPr id="0" name=""/>
        <dsp:cNvSpPr/>
      </dsp:nvSpPr>
      <dsp:spPr>
        <a:xfrm>
          <a:off x="0" y="1982181"/>
          <a:ext cx="8229600" cy="561599"/>
        </a:xfrm>
        <a:prstGeom prst="roundRect">
          <a:avLst/>
        </a:prstGeom>
        <a:solidFill>
          <a:srgbClr val="00B0F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Professional liability (malpractice) </a:t>
          </a:r>
        </a:p>
      </dsp:txBody>
      <dsp:txXfrm>
        <a:off x="27415" y="2009596"/>
        <a:ext cx="8174770" cy="506769"/>
      </dsp:txXfrm>
    </dsp:sp>
    <dsp:sp modelId="{28FE8E72-EA44-429F-9CD9-CC32104F054F}">
      <dsp:nvSpPr>
        <dsp:cNvPr id="0" name=""/>
        <dsp:cNvSpPr/>
      </dsp:nvSpPr>
      <dsp:spPr>
        <a:xfrm>
          <a:off x="0" y="2612901"/>
          <a:ext cx="8229600" cy="561599"/>
        </a:xfrm>
        <a:prstGeom prst="roundRect">
          <a:avLst/>
        </a:prstGeom>
        <a:solidFill>
          <a:srgbClr val="00FFCC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Worker’s comp</a:t>
          </a:r>
        </a:p>
      </dsp:txBody>
      <dsp:txXfrm>
        <a:off x="27415" y="2640316"/>
        <a:ext cx="8174770" cy="506769"/>
      </dsp:txXfrm>
    </dsp:sp>
    <dsp:sp modelId="{19F9B6DA-5B8C-490D-98D7-9729F96B0DA7}">
      <dsp:nvSpPr>
        <dsp:cNvPr id="0" name=""/>
        <dsp:cNvSpPr/>
      </dsp:nvSpPr>
      <dsp:spPr>
        <a:xfrm>
          <a:off x="0" y="3243621"/>
          <a:ext cx="8229600" cy="561599"/>
        </a:xfrm>
        <a:prstGeom prst="roundRect">
          <a:avLst/>
        </a:prstGeom>
        <a:solidFill>
          <a:schemeClr val="accent2">
            <a:lumMod val="60000"/>
            <a:lumOff val="4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Key person</a:t>
          </a:r>
        </a:p>
      </dsp:txBody>
      <dsp:txXfrm>
        <a:off x="27415" y="3271036"/>
        <a:ext cx="8174770" cy="506769"/>
      </dsp:txXfrm>
    </dsp:sp>
    <dsp:sp modelId="{762912E1-46C0-4F5A-97CB-F883C83F1DD9}">
      <dsp:nvSpPr>
        <dsp:cNvPr id="0" name=""/>
        <dsp:cNvSpPr/>
      </dsp:nvSpPr>
      <dsp:spPr>
        <a:xfrm>
          <a:off x="0" y="3874341"/>
          <a:ext cx="8229600" cy="561599"/>
        </a:xfrm>
        <a:prstGeom prst="roundRect">
          <a:avLst/>
        </a:prstGeom>
        <a:solidFill>
          <a:schemeClr val="accent2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Fidelity and surety bonds</a:t>
          </a:r>
        </a:p>
      </dsp:txBody>
      <dsp:txXfrm>
        <a:off x="27415" y="3901756"/>
        <a:ext cx="8174770" cy="5067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94EBBD-3243-499F-B576-E7573188FD7A}">
      <dsp:nvSpPr>
        <dsp:cNvPr id="0" name=""/>
        <dsp:cNvSpPr/>
      </dsp:nvSpPr>
      <dsp:spPr>
        <a:xfrm>
          <a:off x="0" y="174801"/>
          <a:ext cx="8229600" cy="652859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Adopt a zero-tolerance policy.</a:t>
          </a:r>
        </a:p>
      </dsp:txBody>
      <dsp:txXfrm>
        <a:off x="31870" y="206671"/>
        <a:ext cx="8165860" cy="589119"/>
      </dsp:txXfrm>
    </dsp:sp>
    <dsp:sp modelId="{D8B2BF22-4D50-43F0-9606-CB58E32DF9E6}">
      <dsp:nvSpPr>
        <dsp:cNvPr id="0" name=""/>
        <dsp:cNvSpPr/>
      </dsp:nvSpPr>
      <dsp:spPr>
        <a:xfrm>
          <a:off x="0" y="879501"/>
          <a:ext cx="8229600" cy="652859"/>
        </a:xfrm>
        <a:prstGeom prst="roundRect">
          <a:avLst/>
        </a:prstGeom>
        <a:gradFill rotWithShape="0">
          <a:gsLst>
            <a:gs pos="0">
              <a:schemeClr val="accent4">
                <a:hueOff val="1440000"/>
                <a:satOff val="4638"/>
                <a:lumOff val="14588"/>
                <a:alphaOff val="0"/>
                <a:shade val="51000"/>
                <a:satMod val="130000"/>
              </a:schemeClr>
            </a:gs>
            <a:gs pos="80000">
              <a:schemeClr val="accent4">
                <a:hueOff val="1440000"/>
                <a:satOff val="4638"/>
                <a:lumOff val="14588"/>
                <a:alphaOff val="0"/>
                <a:shade val="93000"/>
                <a:satMod val="130000"/>
              </a:schemeClr>
            </a:gs>
            <a:gs pos="100000">
              <a:schemeClr val="accent4">
                <a:hueOff val="1440000"/>
                <a:satOff val="4638"/>
                <a:lumOff val="145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Screen carefully.</a:t>
          </a:r>
        </a:p>
      </dsp:txBody>
      <dsp:txXfrm>
        <a:off x="31870" y="911371"/>
        <a:ext cx="8165860" cy="589119"/>
      </dsp:txXfrm>
    </dsp:sp>
    <dsp:sp modelId="{DAF56EF5-8397-4AB3-B2AA-73ACE9CFC472}">
      <dsp:nvSpPr>
        <dsp:cNvPr id="0" name=""/>
        <dsp:cNvSpPr/>
      </dsp:nvSpPr>
      <dsp:spPr>
        <a:xfrm>
          <a:off x="0" y="1584201"/>
          <a:ext cx="8229600" cy="652859"/>
        </a:xfrm>
        <a:prstGeom prst="roundRect">
          <a:avLst/>
        </a:prstGeom>
        <a:gradFill rotWithShape="0">
          <a:gsLst>
            <a:gs pos="0">
              <a:schemeClr val="accent4">
                <a:hueOff val="2880000"/>
                <a:satOff val="9275"/>
                <a:lumOff val="29176"/>
                <a:alphaOff val="0"/>
                <a:shade val="51000"/>
                <a:satMod val="130000"/>
              </a:schemeClr>
            </a:gs>
            <a:gs pos="80000">
              <a:schemeClr val="accent4">
                <a:hueOff val="2880000"/>
                <a:satOff val="9275"/>
                <a:lumOff val="29176"/>
                <a:alphaOff val="0"/>
                <a:shade val="93000"/>
                <a:satMod val="130000"/>
              </a:schemeClr>
            </a:gs>
            <a:gs pos="100000">
              <a:schemeClr val="accent4">
                <a:hueOff val="2880000"/>
                <a:satOff val="9275"/>
                <a:lumOff val="2917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Train supervisors to recognize personality changes and warning signs.</a:t>
          </a:r>
        </a:p>
      </dsp:txBody>
      <dsp:txXfrm>
        <a:off x="31870" y="1616071"/>
        <a:ext cx="8165860" cy="589119"/>
      </dsp:txXfrm>
    </dsp:sp>
    <dsp:sp modelId="{2FF05E1F-D016-43EC-89B9-43280CEC6269}">
      <dsp:nvSpPr>
        <dsp:cNvPr id="0" name=""/>
        <dsp:cNvSpPr/>
      </dsp:nvSpPr>
      <dsp:spPr>
        <a:xfrm>
          <a:off x="0" y="2288901"/>
          <a:ext cx="8229600" cy="652859"/>
        </a:xfrm>
        <a:prstGeom prst="roundRect">
          <a:avLst/>
        </a:prstGeom>
        <a:gradFill rotWithShape="0">
          <a:gsLst>
            <a:gs pos="0">
              <a:schemeClr val="accent4">
                <a:hueOff val="4320000"/>
                <a:satOff val="13913"/>
                <a:lumOff val="43765"/>
                <a:alphaOff val="0"/>
                <a:shade val="51000"/>
                <a:satMod val="130000"/>
              </a:schemeClr>
            </a:gs>
            <a:gs pos="80000">
              <a:schemeClr val="accent4">
                <a:hueOff val="4320000"/>
                <a:satOff val="13913"/>
                <a:lumOff val="43765"/>
                <a:alphaOff val="0"/>
                <a:shade val="93000"/>
                <a:satMod val="130000"/>
              </a:schemeClr>
            </a:gs>
            <a:gs pos="100000">
              <a:schemeClr val="accent4">
                <a:hueOff val="4320000"/>
                <a:satOff val="13913"/>
                <a:lumOff val="4376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Defuse disputes.</a:t>
          </a:r>
        </a:p>
      </dsp:txBody>
      <dsp:txXfrm>
        <a:off x="31870" y="2320771"/>
        <a:ext cx="8165860" cy="589119"/>
      </dsp:txXfrm>
    </dsp:sp>
    <dsp:sp modelId="{37269CF9-0E5F-4F0F-9A62-5BE0E751A409}">
      <dsp:nvSpPr>
        <dsp:cNvPr id="0" name=""/>
        <dsp:cNvSpPr/>
      </dsp:nvSpPr>
      <dsp:spPr>
        <a:xfrm>
          <a:off x="0" y="2993601"/>
          <a:ext cx="8229600" cy="652859"/>
        </a:xfrm>
        <a:prstGeom prst="roundRect">
          <a:avLst/>
        </a:prstGeom>
        <a:gradFill rotWithShape="0">
          <a:gsLst>
            <a:gs pos="0">
              <a:schemeClr val="accent4">
                <a:hueOff val="5760000"/>
                <a:satOff val="18550"/>
                <a:lumOff val="58353"/>
                <a:alphaOff val="0"/>
                <a:shade val="51000"/>
                <a:satMod val="130000"/>
              </a:schemeClr>
            </a:gs>
            <a:gs pos="80000">
              <a:schemeClr val="accent4">
                <a:hueOff val="5760000"/>
                <a:satOff val="18550"/>
                <a:lumOff val="58353"/>
                <a:alphaOff val="0"/>
                <a:shade val="93000"/>
                <a:satMod val="130000"/>
              </a:schemeClr>
            </a:gs>
            <a:gs pos="100000">
              <a:schemeClr val="accent4">
                <a:hueOff val="5760000"/>
                <a:satOff val="18550"/>
                <a:lumOff val="5835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Check and double-check security.</a:t>
          </a:r>
        </a:p>
      </dsp:txBody>
      <dsp:txXfrm>
        <a:off x="31870" y="3025471"/>
        <a:ext cx="8165860" cy="589119"/>
      </dsp:txXfrm>
    </dsp:sp>
    <dsp:sp modelId="{EB0728C6-501E-4822-96A4-9F190C86B31A}">
      <dsp:nvSpPr>
        <dsp:cNvPr id="0" name=""/>
        <dsp:cNvSpPr/>
      </dsp:nvSpPr>
      <dsp:spPr>
        <a:xfrm>
          <a:off x="0" y="3698301"/>
          <a:ext cx="8229600" cy="652859"/>
        </a:xfrm>
        <a:prstGeom prst="roundRect">
          <a:avLst/>
        </a:prstGeom>
        <a:gradFill rotWithShape="0">
          <a:gsLst>
            <a:gs pos="0">
              <a:schemeClr val="accent4">
                <a:hueOff val="7200000"/>
                <a:satOff val="23188"/>
                <a:lumOff val="72941"/>
                <a:alphaOff val="0"/>
                <a:shade val="51000"/>
                <a:satMod val="130000"/>
              </a:schemeClr>
            </a:gs>
            <a:gs pos="80000">
              <a:schemeClr val="accent4">
                <a:hueOff val="7200000"/>
                <a:satOff val="23188"/>
                <a:lumOff val="72941"/>
                <a:alphaOff val="0"/>
                <a:shade val="93000"/>
                <a:satMod val="130000"/>
              </a:schemeClr>
            </a:gs>
            <a:gs pos="100000">
              <a:schemeClr val="accent4">
                <a:hueOff val="7200000"/>
                <a:satOff val="23188"/>
                <a:lumOff val="7294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Terminate with care—then change the locks</a:t>
          </a:r>
        </a:p>
      </dsp:txBody>
      <dsp:txXfrm>
        <a:off x="31870" y="3730171"/>
        <a:ext cx="8165860" cy="5891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5138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665" tIns="46333" rIns="92665" bIns="4633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9063" y="0"/>
            <a:ext cx="3005137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665" tIns="46333" rIns="92665" bIns="4633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05138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665" tIns="46333" rIns="92665" bIns="4633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9063" y="8820150"/>
            <a:ext cx="3005137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665" tIns="46333" rIns="92665" bIns="4633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2F09F44B-D619-4AB9-B3EC-2643713534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7534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5138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665" tIns="46333" rIns="92665" bIns="4633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9063" y="0"/>
            <a:ext cx="3005137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665" tIns="46333" rIns="92665" bIns="4633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617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3925" y="4410075"/>
            <a:ext cx="5086350" cy="417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665" tIns="46333" rIns="92665" bIns="4633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05138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665" tIns="46333" rIns="92665" bIns="4633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9063" y="8820150"/>
            <a:ext cx="3005137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665" tIns="46333" rIns="92665" bIns="4633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7B9534C7-9958-4FFE-88D5-84BBB45E7C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8446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3762715-9D39-4504-A272-88610F27A9E8}" type="slidenum">
              <a:rPr lang="en-US"/>
              <a:pPr/>
              <a:t>1</a:t>
            </a:fld>
            <a:endParaRPr lang="en-US"/>
          </a:p>
        </p:txBody>
      </p:sp>
      <p:sp>
        <p:nvSpPr>
          <p:cNvPr id="201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6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277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3762715-9D39-4504-A272-88610F27A9E8}" type="slidenum">
              <a:rPr lang="en-US"/>
              <a:pPr/>
              <a:t>2</a:t>
            </a:fld>
            <a:endParaRPr lang="en-US"/>
          </a:p>
        </p:txBody>
      </p:sp>
      <p:sp>
        <p:nvSpPr>
          <p:cNvPr id="201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6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892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rnObj_1">
    <p:bg>
      <p:bgPr>
        <a:blipFill dpi="0" rotWithShape="0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14350" y="1325903"/>
            <a:ext cx="8102600" cy="5028860"/>
          </a:xfrm>
          <a:effectLst/>
        </p:spPr>
        <p:txBody>
          <a:bodyPr/>
          <a:lstStyle>
            <a:lvl1pPr marL="514350" indent="-514350">
              <a:buClr>
                <a:schemeClr val="accent6">
                  <a:lumMod val="60000"/>
                  <a:lumOff val="40000"/>
                </a:schemeClr>
              </a:buClr>
              <a:buFont typeface="+mj-lt"/>
              <a:buAutoNum type="arabicPeriod"/>
              <a:defRPr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798512" indent="-457200">
              <a:buFont typeface="+mj-lt"/>
              <a:buAutoNum type="arabicPeriod"/>
              <a:defRPr>
                <a:solidFill>
                  <a:schemeClr val="bg1"/>
                </a:solidFill>
                <a:effectLst/>
              </a:defRPr>
            </a:lvl2pPr>
            <a:lvl3pPr marL="1196975" indent="-457200">
              <a:buFont typeface="+mj-lt"/>
              <a:buAutoNum type="arabicPeriod"/>
              <a:defRPr>
                <a:solidFill>
                  <a:schemeClr val="bg1"/>
                </a:solidFill>
                <a:effectLst/>
              </a:defRPr>
            </a:lvl3pPr>
            <a:lvl4pPr marL="1546225" indent="-457200">
              <a:buFont typeface="+mj-lt"/>
              <a:buAutoNum type="arabicPeriod"/>
              <a:defRPr>
                <a:solidFill>
                  <a:schemeClr val="bg1"/>
                </a:solidFill>
                <a:effectLst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dirty="0"/>
              <a:t>15–</a:t>
            </a:r>
            <a:fld id="{E617E61D-7BA2-403D-835E-84405F55A6A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z="700"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dirty="0"/>
              <a:t>© 2014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120530077"/>
      </p:ext>
    </p:extLst>
  </p:cSld>
  <p:clrMapOvr>
    <a:masterClrMapping/>
  </p:clrMapOvr>
  <p:transition spd="slow">
    <p:cut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KeyTerms">
    <p:bg>
      <p:bgPr>
        <a:solidFill>
          <a:srgbClr val="D3EF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0" y="1050925"/>
            <a:ext cx="3975100" cy="5303838"/>
          </a:xfrm>
        </p:spPr>
        <p:txBody>
          <a:bodyPr/>
          <a:lstStyle>
            <a:lvl1pPr marL="0" indent="0">
              <a:buClrTx/>
              <a:buNone/>
              <a:defRPr sz="2400">
                <a:solidFill>
                  <a:schemeClr val="tx1"/>
                </a:solidFill>
                <a:effectLst/>
              </a:defRPr>
            </a:lvl1pPr>
            <a:lvl2pPr>
              <a:defRPr sz="2400">
                <a:solidFill>
                  <a:srgbClr val="996633"/>
                </a:solidFill>
              </a:defRPr>
            </a:lvl2pPr>
            <a:lvl3pPr>
              <a:defRPr sz="2000">
                <a:solidFill>
                  <a:srgbClr val="996633"/>
                </a:solidFill>
              </a:defRPr>
            </a:lvl3pPr>
            <a:lvl4pPr>
              <a:defRPr sz="1800">
                <a:solidFill>
                  <a:srgbClr val="996633"/>
                </a:solidFill>
              </a:defRPr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1850" y="1050925"/>
            <a:ext cx="3975100" cy="5303838"/>
          </a:xfrm>
        </p:spPr>
        <p:txBody>
          <a:bodyPr/>
          <a:lstStyle>
            <a:lvl1pPr marL="0" indent="0">
              <a:buClrTx/>
              <a:buNone/>
              <a:defRPr sz="2400">
                <a:solidFill>
                  <a:schemeClr val="tx1"/>
                </a:solidFill>
                <a:effectLst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15–</a:t>
            </a:r>
            <a:fld id="{C20A81ED-8C36-40C6-B4DF-24F1B7BA4DB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z="700" b="1"/>
            </a:lvl1pPr>
          </a:lstStyle>
          <a:p>
            <a:pPr>
              <a:defRPr/>
            </a:pPr>
            <a:r>
              <a:rPr lang="en-US" dirty="0"/>
              <a:t>© 2014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4367" y="0"/>
            <a:ext cx="8705850" cy="923961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457245" y="386427"/>
            <a:ext cx="2468853" cy="492443"/>
          </a:xfrm>
          <a:prstGeom prst="rect">
            <a:avLst/>
          </a:prstGeom>
          <a:solidFill>
            <a:srgbClr val="F69226"/>
          </a:solidFill>
        </p:spPr>
        <p:txBody>
          <a:bodyPr wrap="square" lIns="274320" tIns="0" bIns="0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Key Terms</a:t>
            </a:r>
          </a:p>
        </p:txBody>
      </p:sp>
    </p:spTree>
    <p:extLst>
      <p:ext uri="{BB962C8B-B14F-4D97-AF65-F5344CB8AC3E}">
        <p14:creationId xmlns:p14="http://schemas.microsoft.com/office/powerpoint/2010/main" val="1989365804"/>
      </p:ext>
    </p:extLst>
  </p:cSld>
  <p:clrMapOvr>
    <a:masterClrMapping/>
  </p:clrMapOvr>
  <p:transition spd="slow">
    <p:cut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3" autoUpdateAnimBg="0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 bldLvl="3" autoUpdateAnimBg="0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xhibit0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1–</a:t>
            </a:r>
            <a:fld id="{6368B20B-D7E6-4343-B43B-AB691CEBCDC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z="700" b="1"/>
            </a:lvl1pPr>
          </a:lstStyle>
          <a:p>
            <a:pPr>
              <a:defRPr/>
            </a:pPr>
            <a:r>
              <a:rPr lang="en-US" dirty="0"/>
              <a:t>© 2014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410715970"/>
      </p:ext>
    </p:extLst>
  </p:cSld>
  <p:clrMapOvr>
    <a:masterClrMapping/>
  </p:clrMapOvr>
  <p:transition spd="slow">
    <p:cut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390525"/>
            <a:ext cx="8102599" cy="646986"/>
          </a:xfrm>
          <a:prstGeom prst="roundRect">
            <a:avLst>
              <a:gd name="adj" fmla="val 11014"/>
            </a:avLst>
          </a:prstGeom>
          <a:solidFill>
            <a:srgbClr val="72BE48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>
            <a:lvl1pPr algn="ctr"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0" y="1143025"/>
            <a:ext cx="8102600" cy="5211738"/>
          </a:xfrm>
        </p:spPr>
        <p:txBody>
          <a:bodyPr/>
          <a:lstStyle>
            <a:lvl1pPr>
              <a:buClr>
                <a:srgbClr val="003366"/>
              </a:buCl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1–</a:t>
            </a:r>
            <a:fld id="{3A4B463A-2C18-4BB4-9F42-077004D4055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z="700" b="1"/>
            </a:lvl1pPr>
          </a:lstStyle>
          <a:p>
            <a:pPr>
              <a:defRPr/>
            </a:pPr>
            <a:r>
              <a:rPr lang="en-US" dirty="0"/>
              <a:t>© 2014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4335979"/>
      </p:ext>
    </p:extLst>
  </p:cSld>
  <p:clrMapOvr>
    <a:masterClrMapping/>
  </p:clrMapOvr>
  <p:transition spd="slow">
    <p:cut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390524"/>
            <a:ext cx="8102599" cy="1209693"/>
          </a:xfrm>
          <a:prstGeom prst="roundRect">
            <a:avLst>
              <a:gd name="adj" fmla="val 11014"/>
            </a:avLst>
          </a:prstGeom>
          <a:solidFill>
            <a:srgbClr val="72BE48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>
            <a:lvl1pPr algn="ctr"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0" y="1691659"/>
            <a:ext cx="8102600" cy="4663103"/>
          </a:xfrm>
        </p:spPr>
        <p:txBody>
          <a:bodyPr/>
          <a:lstStyle>
            <a:lvl1pPr>
              <a:buClr>
                <a:srgbClr val="003366"/>
              </a:buCl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1–</a:t>
            </a:r>
            <a:fld id="{3A4B463A-2C18-4BB4-9F42-077004D4055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z="700" b="1"/>
            </a:lvl1pPr>
          </a:lstStyle>
          <a:p>
            <a:pPr>
              <a:defRPr/>
            </a:pPr>
            <a:r>
              <a:rPr lang="en-US" dirty="0"/>
              <a:t>© 2014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006008775"/>
      </p:ext>
    </p:extLst>
  </p:cSld>
  <p:clrMapOvr>
    <a:masterClrMapping/>
  </p:clrMapOvr>
  <p:transition spd="slow">
    <p:cut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013" y="362694"/>
            <a:ext cx="8197782" cy="646986"/>
          </a:xfrm>
          <a:prstGeom prst="roundRect">
            <a:avLst/>
          </a:prstGeom>
          <a:solidFill>
            <a:srgbClr val="72BE48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algn="ctr">
              <a:def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© 2014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1–</a:t>
            </a:r>
            <a:fld id="{038B3CA7-42C0-4034-8ECB-182B923D6494}" type="slidenum">
              <a:rPr lang="en-US" smtClean="0">
                <a:cs typeface="+mn-cs"/>
              </a:rPr>
              <a:pPr>
                <a:defRPr/>
              </a:pPr>
              <a:t>‹#›</a:t>
            </a:fld>
            <a:endParaRPr lang="en-US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1878792"/>
      </p:ext>
    </p:extLst>
  </p:cSld>
  <p:clrMapOvr>
    <a:masterClrMapping/>
  </p:clrMapOvr>
  <p:transition spd="slow">
    <p:cut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013" y="362694"/>
            <a:ext cx="8197782" cy="1237526"/>
          </a:xfrm>
          <a:prstGeom prst="roundRect">
            <a:avLst>
              <a:gd name="adj" fmla="val 8710"/>
            </a:avLst>
          </a:prstGeom>
          <a:solidFill>
            <a:srgbClr val="72BE48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ctr">
              <a:def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© 2014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1–</a:t>
            </a:r>
            <a:fld id="{038B3CA7-42C0-4034-8ECB-182B923D6494}" type="slidenum">
              <a:rPr lang="en-US" smtClean="0">
                <a:cs typeface="+mn-cs"/>
              </a:rPr>
              <a:pPr>
                <a:defRPr/>
              </a:pPr>
              <a:t>‹#›</a:t>
            </a:fld>
            <a:endParaRPr lang="en-US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1706106"/>
      </p:ext>
    </p:extLst>
  </p:cSld>
  <p:clrMapOvr>
    <a:masterClrMapping/>
  </p:clrMapOvr>
  <p:transition spd="slow">
    <p:cut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3366"/>
              </a:buCl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15–</a:t>
            </a:r>
            <a:fld id="{3A4B463A-2C18-4BB4-9F42-077004D4055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z="700" b="1"/>
            </a:lvl1pPr>
          </a:lstStyle>
          <a:p>
            <a:pPr>
              <a:defRPr/>
            </a:pPr>
            <a:r>
              <a:rPr lang="en-US" dirty="0"/>
              <a:t>© 2014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552113998"/>
      </p:ext>
    </p:extLst>
  </p:cSld>
  <p:clrMapOvr>
    <a:masterClrMapping/>
  </p:clrMapOvr>
  <p:transition spd="slow">
    <p:cut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lin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3875" y="390525"/>
            <a:ext cx="8077200" cy="107721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0" y="1600219"/>
            <a:ext cx="8102600" cy="4754543"/>
          </a:xfrm>
        </p:spPr>
        <p:txBody>
          <a:bodyPr/>
          <a:lstStyle>
            <a:lvl1pPr>
              <a:buClr>
                <a:srgbClr val="003366"/>
              </a:buCl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15–</a:t>
            </a:r>
            <a:fld id="{8CB2D540-898D-4F4E-8AAF-589A9BEE1A8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z="700" b="1"/>
            </a:lvl1pPr>
          </a:lstStyle>
          <a:p>
            <a:pPr>
              <a:defRPr/>
            </a:pPr>
            <a:r>
              <a:rPr lang="en-US" dirty="0"/>
              <a:t>© 2014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774629740"/>
      </p:ext>
    </p:extLst>
  </p:cSld>
  <p:clrMapOvr>
    <a:masterClrMapping/>
  </p:clrMapOvr>
  <p:transition spd="slow">
    <p:cut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3875" y="390525"/>
            <a:ext cx="8077200" cy="646986"/>
          </a:xfrm>
          <a:prstGeom prst="roundRect">
            <a:avLst/>
          </a:prstGeom>
          <a:solidFill>
            <a:srgbClr val="72BE48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 algn="ctr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0" y="1143025"/>
            <a:ext cx="3975100" cy="5211738"/>
          </a:xfrm>
        </p:spPr>
        <p:txBody>
          <a:bodyPr/>
          <a:lstStyle>
            <a:lvl1pPr>
              <a:buClr>
                <a:srgbClr val="002060"/>
              </a:buCl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1850" y="1143025"/>
            <a:ext cx="3975100" cy="5211738"/>
          </a:xfrm>
        </p:spPr>
        <p:txBody>
          <a:bodyPr/>
          <a:lstStyle>
            <a:lvl1pPr>
              <a:buClr>
                <a:srgbClr val="003366"/>
              </a:buCl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15–</a:t>
            </a:r>
            <a:fld id="{E234D081-949E-4C82-8E41-6648421D43B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z="700" b="1"/>
            </a:lvl1pPr>
          </a:lstStyle>
          <a:p>
            <a:pPr>
              <a:defRPr/>
            </a:pPr>
            <a:r>
              <a:rPr lang="en-US" dirty="0"/>
              <a:t>© 2014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83062670"/>
      </p:ext>
    </p:extLst>
  </p:cSld>
  <p:clrMapOvr>
    <a:masterClrMapping/>
  </p:clrMapOvr>
  <p:transition spd="slow">
    <p:cut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15–</a:t>
            </a:r>
            <a:fld id="{608A71E4-0633-429D-A95B-42C1309D7D5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z="700" b="1"/>
            </a:lvl1pPr>
          </a:lstStyle>
          <a:p>
            <a:pPr>
              <a:defRPr/>
            </a:pPr>
            <a:r>
              <a:rPr lang="en-US" dirty="0"/>
              <a:t>© 2014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387623129"/>
      </p:ext>
    </p:extLst>
  </p:cSld>
  <p:clrMapOvr>
    <a:masterClrMapping/>
  </p:clrMapOvr>
  <p:transition spd="slow">
    <p:cut thruBlk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© 2014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15–</a:t>
            </a:r>
            <a:fld id="{038B3CA7-42C0-4034-8ECB-182B923D6494}" type="slidenum">
              <a:rPr lang="en-US" smtClean="0">
                <a:cs typeface="+mn-cs"/>
              </a:rPr>
              <a:pPr>
                <a:defRPr/>
              </a:pPr>
              <a:t>‹#›</a:t>
            </a:fld>
            <a:endParaRPr lang="en-US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8915084"/>
      </p:ext>
    </p:extLst>
  </p:cSld>
  <p:clrMapOvr>
    <a:masterClrMapping/>
  </p:clrMapOvr>
  <p:transition spd="slow">
    <p:cut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itle Slide">
    <p:bg>
      <p:bgPr>
        <a:blipFill dpi="0" rotWithShape="1">
          <a:blip r:embed="rId2">
            <a:lum/>
          </a:blip>
          <a:srcRect/>
          <a:stretch>
            <a:fillRect l="-1000" r="-21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8039261"/>
      </p:ext>
    </p:extLst>
  </p:cSld>
  <p:clrMapOvr>
    <a:masterClrMapping/>
  </p:clrMapOvr>
  <p:transition spd="slow">
    <p:cut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15–</a:t>
            </a:r>
            <a:fld id="{3C4B1678-29E9-406B-8611-C10563271ED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z="700" b="1"/>
            </a:lvl1pPr>
          </a:lstStyle>
          <a:p>
            <a:pPr>
              <a:defRPr/>
            </a:pPr>
            <a:r>
              <a:rPr lang="en-US" dirty="0"/>
              <a:t>© 2014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502976001"/>
      </p:ext>
    </p:extLst>
  </p:cSld>
  <p:clrMapOvr>
    <a:masterClrMapping/>
  </p:clrMapOvr>
  <p:transition spd="slow">
    <p:cut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EC9205D3-463A-4D11-98BB-9EEE9CBEF096}"/>
              </a:ext>
            </a:extLst>
          </p:cNvPr>
          <p:cNvCxnSpPr/>
          <p:nvPr userDrawn="1"/>
        </p:nvCxnSpPr>
        <p:spPr>
          <a:xfrm>
            <a:off x="0" y="1524000"/>
            <a:ext cx="9144000" cy="0"/>
          </a:xfrm>
          <a:prstGeom prst="line">
            <a:avLst/>
          </a:prstGeom>
          <a:ln w="31750">
            <a:solidFill>
              <a:schemeClr val="tx2">
                <a:lumMod val="60000"/>
                <a:lumOff val="40000"/>
              </a:schemeClr>
            </a:solidFill>
          </a:ln>
          <a:effectLst>
            <a:outerShdw blurRad="241300" dist="38100" dir="5400000" rotWithShape="0">
              <a:prstClr val="black">
                <a:alpha val="84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86C97C4B-8686-40FF-A349-646CCDDCDA95}"/>
              </a:ext>
            </a:extLst>
          </p:cNvPr>
          <p:cNvCxnSpPr/>
          <p:nvPr userDrawn="1"/>
        </p:nvCxnSpPr>
        <p:spPr>
          <a:xfrm>
            <a:off x="0" y="1524000"/>
            <a:ext cx="9144000" cy="0"/>
          </a:xfrm>
          <a:prstGeom prst="line">
            <a:avLst/>
          </a:prstGeom>
          <a:ln w="571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19BBC57C-C95C-4FFE-86D9-BE5766E0E4B6}"/>
              </a:ext>
            </a:extLst>
          </p:cNvPr>
          <p:cNvSpPr txBox="1">
            <a:spLocks/>
          </p:cNvSpPr>
          <p:nvPr userDrawn="1"/>
        </p:nvSpPr>
        <p:spPr>
          <a:xfrm>
            <a:off x="8458200" y="6515100"/>
            <a:ext cx="644525" cy="273050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>
                <a:latin typeface="Times New Roman" panose="02020603050405020304" pitchFamily="18" charset="0"/>
              </a:rPr>
              <a:t>17-</a:t>
            </a:r>
            <a:fld id="{6570FC36-8460-49E0-8F77-EEBBF5F79017}" type="slidenum">
              <a:rPr lang="en-US" altLang="en-US" sz="1000">
                <a:latin typeface="Times New Roman" panose="02020603050405020304" pitchFamily="18" charset="0"/>
              </a:rPr>
              <a:pPr algn="ctr" eaLnBrk="1" hangingPunct="1"/>
              <a:t>‹#›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xmlns="" id="{12D9C24D-AAF8-40DC-BE55-171EFA3BD1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28600" y="632460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GB" smtClean="0"/>
              <a:t>© 2014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xmlns="" id="{B3866D77-D488-442C-8AB5-1270D1548C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17-</a:t>
            </a:r>
            <a:fld id="{E7390152-4CEE-4182-8342-1343A1B4ED5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936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blackWhite">
          <a:xfrm>
            <a:off x="523875" y="390525"/>
            <a:ext cx="8077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66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EAEAEA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14350" y="1050925"/>
            <a:ext cx="8102600" cy="5303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4638" y="6354763"/>
            <a:ext cx="58515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>
            <a:lvl1pPr>
              <a:defRPr sz="700" b="1"/>
            </a:lvl1pPr>
          </a:lstStyle>
          <a:p>
            <a:pPr>
              <a:defRPr/>
            </a:pPr>
            <a:r>
              <a:rPr lang="en-US" dirty="0"/>
              <a:t>© 2014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59563" y="6354763"/>
            <a:ext cx="2209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>
            <a:lvl1pPr algn="r">
              <a:defRPr sz="800" b="1"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15–</a:t>
            </a:r>
            <a:fld id="{8874BA8D-9B1F-4A10-BB8E-E10AD0F91560}" type="slidenum">
              <a:rPr lang="en-US" smtClean="0">
                <a:cs typeface="+mn-cs"/>
              </a:rPr>
              <a:pPr>
                <a:defRPr/>
              </a:pPr>
              <a:t>‹#›</a:t>
            </a:fld>
            <a:endParaRPr lang="en-US" dirty="0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3" r:id="rId1"/>
    <p:sldLayoutId id="2147483981" r:id="rId2"/>
    <p:sldLayoutId id="2147483992" r:id="rId3"/>
    <p:sldLayoutId id="2147483990" r:id="rId4"/>
    <p:sldLayoutId id="2147483993" r:id="rId5"/>
    <p:sldLayoutId id="2147483991" r:id="rId6"/>
    <p:sldLayoutId id="2147483994" r:id="rId7"/>
    <p:sldLayoutId id="2147483978" r:id="rId8"/>
    <p:sldLayoutId id="2147483979" r:id="rId9"/>
    <p:sldLayoutId id="2147483980" r:id="rId10"/>
    <p:sldLayoutId id="2147483986" r:id="rId11"/>
    <p:sldLayoutId id="2147483976" r:id="rId12"/>
    <p:sldLayoutId id="2147483977" r:id="rId13"/>
    <p:sldLayoutId id="2147483982" r:id="rId14"/>
    <p:sldLayoutId id="2147483996" r:id="rId15"/>
  </p:sldLayoutIdLst>
  <p:transition spd="slow">
    <p:cut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build="p" bldLvl="3" autoUpdateAnimBg="0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075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075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075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075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07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en-US" sz="3200" dirty="0">
          <a:solidFill>
            <a:srgbClr val="990033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990033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990033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990033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990033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336699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336699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336699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336699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9pPr>
    </p:titleStyle>
    <p:bodyStyle>
      <a:lvl1pPr marL="222250" indent="-222250" algn="l" rtl="0" eaLnBrk="0" fontAlgn="base" hangingPunct="0">
        <a:spcBef>
          <a:spcPct val="20000"/>
        </a:spcBef>
        <a:spcAft>
          <a:spcPct val="0"/>
        </a:spcAft>
        <a:buClr>
          <a:srgbClr val="003366"/>
        </a:buClr>
        <a:buChar char="•"/>
        <a:defRPr lang="en-US" sz="2800">
          <a:solidFill>
            <a:srgbClr val="003366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625475" indent="-284163" algn="l" rtl="0" eaLnBrk="0" fontAlgn="base" hangingPunct="0">
        <a:spcBef>
          <a:spcPct val="20000"/>
        </a:spcBef>
        <a:spcAft>
          <a:spcPct val="0"/>
        </a:spcAft>
        <a:buClr>
          <a:srgbClr val="336699"/>
        </a:buClr>
        <a:buSzPct val="90000"/>
        <a:buFont typeface="Wingdings" pitchFamily="2" charset="2"/>
        <a:buChar char="Ø"/>
        <a:defRPr lang="en-US" sz="2400">
          <a:solidFill>
            <a:srgbClr val="00808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2pPr>
      <a:lvl3pPr marL="974725" indent="-234950" algn="l" rtl="0" eaLnBrk="0" fontAlgn="base" hangingPunct="0">
        <a:spcBef>
          <a:spcPct val="20000"/>
        </a:spcBef>
        <a:spcAft>
          <a:spcPct val="0"/>
        </a:spcAft>
        <a:buClr>
          <a:srgbClr val="0099CC"/>
        </a:buClr>
        <a:buSzPct val="75000"/>
        <a:buFont typeface="Wingdings" pitchFamily="2" charset="2"/>
        <a:buChar char="v"/>
        <a:defRPr lang="en-US"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3pPr>
      <a:lvl4pPr marL="1311275" indent="-2222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Char char="–"/>
        <a:defRPr lang="en-US"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4pPr>
      <a:lvl5pPr marL="1657350" indent="-173038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Char char="•"/>
        <a:defRPr lang="en-US" sz="1600">
          <a:solidFill>
            <a:srgbClr val="9933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5pPr>
      <a:lvl6pPr marL="2114550" indent="-173038" algn="l" rtl="0" fontAlgn="base">
        <a:spcBef>
          <a:spcPct val="20000"/>
        </a:spcBef>
        <a:spcAft>
          <a:spcPct val="0"/>
        </a:spcAft>
        <a:buClr>
          <a:schemeClr val="bg2"/>
        </a:buClr>
        <a:buChar char="•"/>
        <a:defRPr sz="1600">
          <a:solidFill>
            <a:srgbClr val="9933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6pPr>
      <a:lvl7pPr marL="2571750" indent="-173038" algn="l" rtl="0" fontAlgn="base">
        <a:spcBef>
          <a:spcPct val="20000"/>
        </a:spcBef>
        <a:spcAft>
          <a:spcPct val="0"/>
        </a:spcAft>
        <a:buClr>
          <a:schemeClr val="bg2"/>
        </a:buClr>
        <a:buChar char="•"/>
        <a:defRPr sz="1600">
          <a:solidFill>
            <a:srgbClr val="9933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7pPr>
      <a:lvl8pPr marL="3028950" indent="-173038" algn="l" rtl="0" fontAlgn="base">
        <a:spcBef>
          <a:spcPct val="20000"/>
        </a:spcBef>
        <a:spcAft>
          <a:spcPct val="0"/>
        </a:spcAft>
        <a:buClr>
          <a:schemeClr val="bg2"/>
        </a:buClr>
        <a:buChar char="•"/>
        <a:defRPr sz="1600">
          <a:solidFill>
            <a:srgbClr val="9933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8pPr>
      <a:lvl9pPr marL="3486150" indent="-173038" algn="l" rtl="0" fontAlgn="base">
        <a:spcBef>
          <a:spcPct val="20000"/>
        </a:spcBef>
        <a:spcAft>
          <a:spcPct val="0"/>
        </a:spcAft>
        <a:buClr>
          <a:schemeClr val="bg2"/>
        </a:buClr>
        <a:buChar char="•"/>
        <a:defRPr sz="1600">
          <a:solidFill>
            <a:srgbClr val="993300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5236" name="Rectangle 4" descr="Aheader01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084421"/>
          </a:xfrm>
        </p:spPr>
        <p:txBody>
          <a:bodyPr/>
          <a:lstStyle/>
          <a:p>
            <a:r>
              <a:rPr lang="en-US" sz="6000" smtClean="0">
                <a:solidFill>
                  <a:srgbClr val="AB2C29"/>
                </a:solidFill>
                <a:latin typeface="Corbel" panose="020B0503020204020204" pitchFamily="34" charset="0"/>
              </a:rPr>
              <a:t>TOPIC 13</a:t>
            </a:r>
            <a:endParaRPr lang="en-US" sz="6000" dirty="0">
              <a:solidFill>
                <a:srgbClr val="AB2C29"/>
              </a:solidFill>
              <a:latin typeface="Corbel" panose="020B0503020204020204" pitchFamily="34" charset="0"/>
            </a:endParaRPr>
          </a:p>
        </p:txBody>
      </p:sp>
      <p:sp>
        <p:nvSpPr>
          <p:cNvPr id="2015237" name="Rectangle 5"/>
          <p:cNvSpPr>
            <a:spLocks noGrp="1" noChangeArrowheads="1"/>
          </p:cNvSpPr>
          <p:nvPr>
            <p:ph idx="1"/>
          </p:nvPr>
        </p:nvSpPr>
        <p:spPr>
          <a:xfrm>
            <a:off x="468632" y="1965976"/>
            <a:ext cx="8102600" cy="3017487"/>
          </a:xfrm>
        </p:spPr>
        <p:txBody>
          <a:bodyPr/>
          <a:lstStyle/>
          <a:p>
            <a:pPr marL="0" indent="0" algn="ctr">
              <a:buNone/>
              <a:defRPr/>
            </a:pPr>
            <a:r>
              <a:rPr lang="en-GB" sz="5400" dirty="0">
                <a:latin typeface="Corbel" panose="020B0503020204020204" pitchFamily="34" charset="0"/>
              </a:rPr>
              <a:t>Risk Management, Insurance,</a:t>
            </a:r>
          </a:p>
          <a:p>
            <a:pPr marL="0" indent="0" algn="ctr">
              <a:buNone/>
              <a:defRPr/>
            </a:pPr>
            <a:r>
              <a:rPr lang="en-GB" sz="5400" dirty="0">
                <a:latin typeface="Corbel" panose="020B0503020204020204" pitchFamily="34" charset="0"/>
              </a:rPr>
              <a:t>and Crime Prevention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15–</a:t>
            </a:r>
            <a:fld id="{CB50A22E-A00D-44D1-A5DD-18EDE1EEABE8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218972"/>
      </p:ext>
    </p:extLst>
  </p:cSld>
  <p:clrMapOvr>
    <a:masterClrMapping/>
  </p:clrMapOvr>
  <p:transition spd="slow">
    <p:cut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5236" name="Rectangle 4" descr="Aheader01"/>
          <p:cNvSpPr>
            <a:spLocks noGrp="1" noChangeArrowheads="1"/>
          </p:cNvSpPr>
          <p:nvPr>
            <p:ph type="title"/>
          </p:nvPr>
        </p:nvSpPr>
        <p:spPr>
          <a:xfrm>
            <a:off x="514350" y="0"/>
            <a:ext cx="8102599" cy="646986"/>
          </a:xfrm>
        </p:spPr>
        <p:txBody>
          <a:bodyPr/>
          <a:lstStyle/>
          <a:p>
            <a:r>
              <a:rPr lang="en-US" dirty="0">
                <a:solidFill>
                  <a:srgbClr val="AB2C29"/>
                </a:solidFill>
              </a:rPr>
              <a:t>Learning </a:t>
            </a:r>
            <a:r>
              <a:rPr lang="en-US" dirty="0" smtClean="0">
                <a:solidFill>
                  <a:srgbClr val="AB2C29"/>
                </a:solidFill>
              </a:rPr>
              <a:t>Outcomes</a:t>
            </a:r>
            <a:endParaRPr lang="en-US" dirty="0">
              <a:solidFill>
                <a:srgbClr val="AB2C29"/>
              </a:solidFill>
            </a:endParaRPr>
          </a:p>
        </p:txBody>
      </p:sp>
      <p:sp>
        <p:nvSpPr>
          <p:cNvPr id="2015237" name="Rectangle 5"/>
          <p:cNvSpPr>
            <a:spLocks noGrp="1" noChangeArrowheads="1"/>
          </p:cNvSpPr>
          <p:nvPr>
            <p:ph idx="1"/>
          </p:nvPr>
        </p:nvSpPr>
        <p:spPr>
          <a:xfrm>
            <a:off x="468632" y="646985"/>
            <a:ext cx="8102600" cy="5707777"/>
          </a:xfrm>
        </p:spPr>
        <p:txBody>
          <a:bodyPr/>
          <a:lstStyle/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Define risk and explain some ways of coping with it.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Explain what insurance is and show how it can be used to minimize loss due to risk.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Discuss some guides to be used in choosing an insurer</a:t>
            </a:r>
            <a:r>
              <a:rPr lang="en-US" dirty="0" smtClean="0"/>
              <a:t>.</a:t>
            </a:r>
          </a:p>
          <a:p>
            <a:pPr marL="514350" indent="-514350">
              <a:buFont typeface="+mj-lt"/>
              <a:buAutoNum type="arabicPeriod" startAt="4"/>
              <a:defRPr/>
            </a:pPr>
            <a:r>
              <a:rPr lang="en-US" dirty="0"/>
              <a:t>Show how crime prevention can reduce risk and protect people and assets.</a:t>
            </a:r>
          </a:p>
          <a:p>
            <a:pPr marL="514350" indent="-514350">
              <a:buFont typeface="+mj-lt"/>
              <a:buAutoNum type="arabicPeriod" startAt="4"/>
              <a:defRPr/>
            </a:pPr>
            <a:r>
              <a:rPr lang="en-US" dirty="0"/>
              <a:t>Discuss some techniques for safeguarding against theft.</a:t>
            </a:r>
          </a:p>
          <a:p>
            <a:pPr marL="514350" indent="-514350">
              <a:buFont typeface="+mj-lt"/>
              <a:buAutoNum type="arabicPeriod" startAt="4"/>
              <a:defRPr/>
            </a:pPr>
            <a:r>
              <a:rPr lang="en-US" dirty="0"/>
              <a:t>Describe how to safeguard employees with preventive measures.</a:t>
            </a:r>
          </a:p>
          <a:p>
            <a:pPr marL="514350" indent="-514350">
              <a:buFont typeface="+mj-lt"/>
              <a:buAutoNum type="arabicPeriod"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15–</a:t>
            </a:r>
            <a:fld id="{CB50A22E-A00D-44D1-A5DD-18EDE1EEABE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169137"/>
      </p:ext>
    </p:extLst>
  </p:cSld>
  <p:clrMapOvr>
    <a:masterClrMapping/>
  </p:clrMapOvr>
  <p:transition spd="slow">
    <p:cut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46B07D2-06E9-45D7-BE41-0C34C9199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167"/>
            <a:ext cx="9144000" cy="646986"/>
          </a:xfrm>
        </p:spPr>
        <p:txBody>
          <a:bodyPr/>
          <a:lstStyle/>
          <a:p>
            <a:pPr algn="ctr">
              <a:defRPr/>
            </a:pPr>
            <a:r>
              <a:rPr lang="en-US" dirty="0">
                <a:solidFill>
                  <a:srgbClr val="AB2C29"/>
                </a:solidFill>
              </a:rPr>
              <a:t>Risk and Its Management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6AA98EB1-71AF-449B-A4D3-3A805754ED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9193" y="1325903"/>
            <a:ext cx="4038600" cy="4525963"/>
          </a:xfrm>
        </p:spPr>
        <p:txBody>
          <a:bodyPr/>
          <a:lstStyle/>
          <a:p>
            <a:pPr>
              <a:defRPr/>
            </a:pPr>
            <a:r>
              <a:rPr lang="en-US" b="1" dirty="0" smtClean="0"/>
              <a:t>Risk Management </a:t>
            </a:r>
            <a:endParaRPr lang="en-US" dirty="0" smtClean="0"/>
          </a:p>
          <a:p>
            <a:pPr lvl="1">
              <a:defRPr/>
            </a:pPr>
            <a:r>
              <a:rPr lang="en-US" dirty="0" smtClean="0"/>
              <a:t>the </a:t>
            </a:r>
            <a:r>
              <a:rPr lang="en-US" dirty="0"/>
              <a:t>process of conserving earning power and assets by minimizing the shock from losses</a:t>
            </a:r>
          </a:p>
        </p:txBody>
      </p:sp>
      <p:pic>
        <p:nvPicPr>
          <p:cNvPr id="11268" name="Picture 2">
            <a:extLst>
              <a:ext uri="{FF2B5EF4-FFF2-40B4-BE49-F238E27FC236}">
                <a16:creationId xmlns:a16="http://schemas.microsoft.com/office/drawing/2014/main" xmlns="" id="{1DA5D630-5188-4433-A4FB-A9392CF0B83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0600" y="2743200"/>
            <a:ext cx="3913188" cy="2560638"/>
          </a:xfrm>
          <a:noFill/>
        </p:spPr>
      </p:pic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15–</a:t>
            </a:r>
            <a:fld id="{E234D081-949E-4C82-8E41-6648421D43B5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5BDE88-7030-48A8-8364-E70EE73FB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89" y="40371"/>
            <a:ext cx="8777873" cy="646986"/>
          </a:xfrm>
        </p:spPr>
        <p:txBody>
          <a:bodyPr/>
          <a:lstStyle/>
          <a:p>
            <a:pPr algn="ctr">
              <a:defRPr/>
            </a:pPr>
            <a:r>
              <a:rPr lang="en-US" dirty="0">
                <a:solidFill>
                  <a:srgbClr val="AB2C29"/>
                </a:solidFill>
              </a:rPr>
              <a:t>Types of Risk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A80657F-A346-420A-9A62-32F0FCF6BE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854200"/>
            <a:ext cx="4038600" cy="4525963"/>
          </a:xfrm>
        </p:spPr>
        <p:txBody>
          <a:bodyPr/>
          <a:lstStyle/>
          <a:p>
            <a:pPr>
              <a:defRPr/>
            </a:pPr>
            <a:r>
              <a:rPr lang="en-US" b="1" dirty="0" smtClean="0"/>
              <a:t>Pure Risk </a:t>
            </a:r>
            <a:endParaRPr lang="en-US" dirty="0" smtClean="0"/>
          </a:p>
          <a:p>
            <a:pPr lvl="1">
              <a:defRPr/>
            </a:pPr>
            <a:r>
              <a:rPr lang="en-US" dirty="0" smtClean="0"/>
              <a:t>The </a:t>
            </a:r>
            <a:r>
              <a:rPr lang="en-US" dirty="0"/>
              <a:t>uncertainty that some unpredictable event will result in a loss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8661BB7-9D70-4286-B43C-A422338938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62488" y="1854200"/>
            <a:ext cx="4038600" cy="4525963"/>
          </a:xfrm>
        </p:spPr>
        <p:txBody>
          <a:bodyPr/>
          <a:lstStyle/>
          <a:p>
            <a:pPr>
              <a:defRPr/>
            </a:pPr>
            <a:r>
              <a:rPr lang="en-US" b="1" dirty="0" smtClean="0"/>
              <a:t>Speculative Risk</a:t>
            </a:r>
            <a:endParaRPr lang="en-US" dirty="0" smtClean="0"/>
          </a:p>
          <a:p>
            <a:pPr lvl="1">
              <a:defRPr/>
            </a:pPr>
            <a:r>
              <a:rPr lang="en-US" dirty="0" smtClean="0"/>
              <a:t>the </a:t>
            </a:r>
            <a:r>
              <a:rPr lang="en-US" dirty="0"/>
              <a:t>uncertainty that a voluntarily undertaken risk will result in a loss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15–</a:t>
            </a:r>
            <a:fld id="{E234D081-949E-4C82-8E41-6648421D43B5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CDD7BF-D78F-4A8A-AFF0-27F9ADB52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613" y="137196"/>
            <a:ext cx="8077200" cy="646331"/>
          </a:xfr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>
              <a:defRPr/>
            </a:pPr>
            <a:r>
              <a:rPr lang="en-US" sz="3600" dirty="0">
                <a:solidFill>
                  <a:srgbClr val="AB2C29"/>
                </a:solidFill>
              </a:rPr>
              <a:t>Ways of Coping with Risk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xmlns="" id="{65E8DF85-2566-421E-9254-20A49E051F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4349486"/>
              </p:ext>
            </p:extLst>
          </p:nvPr>
        </p:nvGraphicFramePr>
        <p:xfrm>
          <a:off x="914400" y="1828800"/>
          <a:ext cx="7772400" cy="4297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15–</a:t>
            </a:r>
            <a:fld id="{3A4B463A-2C18-4BB4-9F42-077004D40555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B5A0FC-371A-426C-B75F-434783D6D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858" y="70187"/>
            <a:ext cx="8869583" cy="646331"/>
          </a:xfr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>
              <a:defRPr/>
            </a:pPr>
            <a:r>
              <a:rPr lang="en-US" sz="3600" dirty="0">
                <a:solidFill>
                  <a:srgbClr val="AB2C29"/>
                </a:solidFill>
              </a:rPr>
              <a:t>Ways of Coping with Risk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B25E9AF-FB2B-42B0-BDEE-9A3C23BEB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49" y="726180"/>
            <a:ext cx="8102600" cy="5303838"/>
          </a:xfrm>
        </p:spPr>
        <p:txBody>
          <a:bodyPr/>
          <a:lstStyle/>
          <a:p>
            <a:pPr>
              <a:defRPr/>
            </a:pPr>
            <a:r>
              <a:rPr lang="en-US" b="1" dirty="0"/>
              <a:t>Risk avoidance </a:t>
            </a:r>
            <a:endParaRPr lang="en-US" dirty="0"/>
          </a:p>
          <a:p>
            <a:pPr lvl="1">
              <a:defRPr/>
            </a:pPr>
            <a:r>
              <a:rPr lang="en-US" dirty="0"/>
              <a:t>refusing to undertake an activity when the risk seems too costly</a:t>
            </a:r>
          </a:p>
          <a:p>
            <a:pPr>
              <a:defRPr/>
            </a:pPr>
            <a:r>
              <a:rPr lang="en-US" b="1" dirty="0"/>
              <a:t>Risk prevention (loss control) </a:t>
            </a:r>
            <a:endParaRPr lang="en-US" dirty="0"/>
          </a:p>
          <a:p>
            <a:pPr lvl="1">
              <a:defRPr/>
            </a:pPr>
            <a:r>
              <a:rPr lang="en-US" dirty="0"/>
              <a:t>using various methods to reduce the possibility of a loss occurring</a:t>
            </a:r>
            <a:r>
              <a:rPr lang="en-US" dirty="0" smtClean="0"/>
              <a:t>.</a:t>
            </a:r>
          </a:p>
          <a:p>
            <a:pPr>
              <a:defRPr/>
            </a:pPr>
            <a:r>
              <a:rPr lang="en-US" b="1" dirty="0"/>
              <a:t>Risk transfer </a:t>
            </a:r>
            <a:endParaRPr lang="en-US" dirty="0"/>
          </a:p>
          <a:p>
            <a:pPr lvl="1">
              <a:defRPr/>
            </a:pPr>
            <a:r>
              <a:rPr lang="en-US" dirty="0"/>
              <a:t>Shifting a risk to someone outside your company.</a:t>
            </a:r>
          </a:p>
          <a:p>
            <a:pPr>
              <a:defRPr/>
            </a:pPr>
            <a:r>
              <a:rPr lang="en-US" b="1" dirty="0"/>
              <a:t>Insurance </a:t>
            </a:r>
            <a:endParaRPr lang="en-US" dirty="0"/>
          </a:p>
          <a:p>
            <a:pPr lvl="1">
              <a:defRPr/>
            </a:pPr>
            <a:r>
              <a:rPr lang="en-US" dirty="0"/>
              <a:t>Provided by another company that agrees, for a fee, to reimburse your company for part of a loss.</a:t>
            </a:r>
          </a:p>
          <a:p>
            <a:pPr lvl="1"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15–</a:t>
            </a:r>
            <a:fld id="{3A4B463A-2C18-4BB4-9F42-077004D40555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C6382A-953F-4A31-9A5B-432D22C08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927" y="0"/>
            <a:ext cx="8686435" cy="715089"/>
          </a:xfrm>
        </p:spPr>
        <p:txBody>
          <a:bodyPr/>
          <a:lstStyle/>
          <a:p>
            <a:pPr algn="ctr">
              <a:defRPr/>
            </a:pPr>
            <a:r>
              <a:rPr lang="en-US" sz="3600" dirty="0">
                <a:solidFill>
                  <a:srgbClr val="AB2C29"/>
                </a:solidFill>
              </a:rPr>
              <a:t>Insurance for Your Business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8D1AEBC-689A-403A-9E3F-8F509060D8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806" y="1271944"/>
            <a:ext cx="4038600" cy="4525963"/>
          </a:xfrm>
        </p:spPr>
        <p:txBody>
          <a:bodyPr/>
          <a:lstStyle/>
          <a:p>
            <a:pPr>
              <a:defRPr/>
            </a:pPr>
            <a:r>
              <a:rPr lang="en-US" b="1" dirty="0"/>
              <a:t>Risk assumption (self-insurance)</a:t>
            </a:r>
            <a:endParaRPr lang="en-US" dirty="0"/>
          </a:p>
          <a:p>
            <a:pPr lvl="1">
              <a:defRPr/>
            </a:pPr>
            <a:r>
              <a:rPr lang="en-US" dirty="0"/>
              <a:t>setting aside funds to meet losses that are uncertain in size and frequency.</a:t>
            </a:r>
          </a:p>
        </p:txBody>
      </p:sp>
      <p:pic>
        <p:nvPicPr>
          <p:cNvPr id="16388" name="Picture 6">
            <a:extLst>
              <a:ext uri="{FF2B5EF4-FFF2-40B4-BE49-F238E27FC236}">
                <a16:creationId xmlns:a16="http://schemas.microsoft.com/office/drawing/2014/main" xmlns="" id="{B436BF2C-6FB2-455D-9302-9C9EBE63214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86325" y="2743200"/>
            <a:ext cx="3800475" cy="2532063"/>
          </a:xfr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15–</a:t>
            </a:r>
            <a:fld id="{E234D081-949E-4C82-8E41-6648421D43B5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</p:cSld>
  <p:clrMapOvr>
    <a:masterClrMapping/>
  </p:clrMapOvr>
  <p:transition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EC1565C-F686-40EA-B6A1-2B5685A1B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792"/>
            <a:ext cx="9144000" cy="584775"/>
          </a:xfr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>
              <a:defRPr/>
            </a:pPr>
            <a:r>
              <a:rPr lang="en-US" dirty="0">
                <a:solidFill>
                  <a:srgbClr val="AB2C29"/>
                </a:solidFill>
              </a:rPr>
              <a:t>How to Determine Whether You Need Insurance</a:t>
            </a:r>
          </a:p>
        </p:txBody>
      </p:sp>
      <p:pic>
        <p:nvPicPr>
          <p:cNvPr id="17411" name="Picture 2">
            <a:extLst>
              <a:ext uri="{FF2B5EF4-FFF2-40B4-BE49-F238E27FC236}">
                <a16:creationId xmlns:a16="http://schemas.microsoft.com/office/drawing/2014/main" xmlns="" id="{0CE15248-7D10-4859-98EA-D3718B46A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788" y="2286000"/>
            <a:ext cx="8226425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TextBox 3">
            <a:extLst>
              <a:ext uri="{FF2B5EF4-FFF2-40B4-BE49-F238E27FC236}">
                <a16:creationId xmlns:a16="http://schemas.microsoft.com/office/drawing/2014/main" xmlns="" id="{4A991C13-ECCF-416D-912F-D190F5660B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752600"/>
            <a:ext cx="2286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Figure 17.1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17-</a:t>
            </a:r>
            <a:fld id="{E7390152-4CEE-4182-8342-1343A1B4ED59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</p:cSld>
  <p:clrMapOvr>
    <a:masterClrMapping/>
  </p:clrMapOvr>
  <p:transition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CE62C83-1506-42EE-BCE6-E84349907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67" y="30"/>
            <a:ext cx="8594996" cy="646331"/>
          </a:xfr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>
              <a:defRPr/>
            </a:pPr>
            <a:r>
              <a:rPr lang="en-US" sz="3600" dirty="0">
                <a:solidFill>
                  <a:srgbClr val="AB2C29"/>
                </a:solidFill>
              </a:rPr>
              <a:t>Types of Insurance Coverage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xmlns="" id="{2D68660E-22A4-4B03-871E-150BA0DAA1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6935729"/>
              </p:ext>
            </p:extLst>
          </p:nvPr>
        </p:nvGraphicFramePr>
        <p:xfrm>
          <a:off x="609600" y="18288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15–</a:t>
            </a:r>
            <a:fld id="{3A4B463A-2C18-4BB4-9F42-077004D40555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7FF561-0BD3-494D-8B8D-2791DC30A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758" y="0"/>
            <a:ext cx="8077200" cy="64698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dirty="0">
                <a:solidFill>
                  <a:srgbClr val="AB2C29"/>
                </a:solidFill>
              </a:rPr>
              <a:t>Types of Insurance Coverage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6B5FD97-286B-4736-87F7-94BF528CA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866900"/>
            <a:ext cx="4038600" cy="4525963"/>
          </a:xfrm>
        </p:spPr>
        <p:txBody>
          <a:bodyPr/>
          <a:lstStyle/>
          <a:p>
            <a:pPr>
              <a:defRPr/>
            </a:pPr>
            <a:r>
              <a:rPr lang="en-US" b="1" dirty="0"/>
              <a:t>Coinsurance </a:t>
            </a:r>
            <a:endParaRPr lang="en-US" dirty="0"/>
          </a:p>
          <a:p>
            <a:pPr lvl="1">
              <a:defRPr/>
            </a:pPr>
            <a:r>
              <a:rPr lang="en-US" dirty="0"/>
              <a:t>Having the business buy insurance equal to a specific percentage of property value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EC23719D-1DF0-4733-ADDF-1E0D3E8ED8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62488" y="1866900"/>
            <a:ext cx="4038600" cy="4525963"/>
          </a:xfrm>
        </p:spPr>
        <p:txBody>
          <a:bodyPr/>
          <a:lstStyle/>
          <a:p>
            <a:pPr>
              <a:defRPr/>
            </a:pPr>
            <a:r>
              <a:rPr lang="en-US" b="1" dirty="0"/>
              <a:t>Product/service liability insurance </a:t>
            </a:r>
          </a:p>
          <a:p>
            <a:pPr lvl="1">
              <a:defRPr/>
            </a:pPr>
            <a:r>
              <a:rPr lang="en-US" dirty="0"/>
              <a:t>protects a business from losses resulting from the use of its product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15–</a:t>
            </a:r>
            <a:fld id="{E234D081-949E-4C82-8E41-6648421D43B5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</p:cSld>
  <p:clrMapOvr>
    <a:masterClrMapping/>
  </p:clrMapOvr>
  <p:transition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A3200E-4F9E-42EE-98EA-A458C8846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050" y="85982"/>
            <a:ext cx="8077200" cy="579438"/>
          </a:xfr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>
              <a:defRPr/>
            </a:pPr>
            <a:r>
              <a:rPr lang="en-US" dirty="0"/>
              <a:t>Reducing Worker’s Comp Premiums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581FFFF-7ED1-4AA2-908A-0DC100F4E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3000" dirty="0"/>
              <a:t>Involve employees in </a:t>
            </a:r>
            <a:r>
              <a:rPr lang="en-US" sz="3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safety matters</a:t>
            </a:r>
            <a:r>
              <a:rPr lang="en-US" sz="3000" dirty="0"/>
              <a:t>.</a:t>
            </a:r>
          </a:p>
          <a:p>
            <a:pPr>
              <a:defRPr/>
            </a:pPr>
            <a:r>
              <a:rPr lang="en-US" sz="3000" dirty="0"/>
              <a:t>Establish an </a:t>
            </a:r>
            <a:r>
              <a:rPr lang="en-US" sz="3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open, two-way </a:t>
            </a:r>
            <a:r>
              <a:rPr lang="en-US" sz="3000" dirty="0"/>
              <a:t>communication system.</a:t>
            </a:r>
          </a:p>
          <a:p>
            <a:pPr>
              <a:defRPr/>
            </a:pPr>
            <a:r>
              <a:rPr lang="en-US" sz="3000" dirty="0"/>
              <a:t>Make participation companywide.</a:t>
            </a:r>
          </a:p>
          <a:p>
            <a:pPr>
              <a:defRPr/>
            </a:pPr>
            <a:r>
              <a:rPr lang="en-US" sz="3000" dirty="0"/>
              <a:t>Make a big deal of the </a:t>
            </a:r>
            <a:r>
              <a:rPr lang="en-US" sz="3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safety awards </a:t>
            </a:r>
            <a:r>
              <a:rPr lang="en-US" sz="3000" dirty="0"/>
              <a:t>that are given</a:t>
            </a:r>
          </a:p>
          <a:p>
            <a:pPr>
              <a:defRPr/>
            </a:pPr>
            <a:r>
              <a:rPr lang="en-US" sz="3000" dirty="0"/>
              <a:t>Keep the program exciting.</a:t>
            </a:r>
          </a:p>
          <a:p>
            <a:pPr>
              <a:defRPr/>
            </a:pPr>
            <a:r>
              <a:rPr lang="en-US" sz="3000" dirty="0"/>
              <a:t>Be especially watchful during </a:t>
            </a:r>
            <a:r>
              <a:rPr lang="en-US" sz="3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high-risk</a:t>
            </a:r>
            <a:r>
              <a:rPr lang="en-US" sz="3000" dirty="0"/>
              <a:t> periods.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15–</a:t>
            </a:r>
            <a:fld id="{3A4B463A-2C18-4BB4-9F42-077004D40555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</p:cSld>
  <p:clrMapOvr>
    <a:masterClrMapping/>
  </p:clrMapOvr>
  <p:transition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0E502C-3FE5-4903-B4C8-BF83682BC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110186"/>
            <a:ext cx="8077200" cy="646331"/>
          </a:xfr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>
              <a:defRPr/>
            </a:pPr>
            <a:r>
              <a:rPr lang="en-US" sz="3600" dirty="0">
                <a:solidFill>
                  <a:srgbClr val="AB2C29"/>
                </a:solidFill>
              </a:rPr>
              <a:t>Types of Insurance Coverage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E3DF90B-E8DD-4BDF-84D5-817E255B6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b="1" dirty="0"/>
              <a:t>Business insurance</a:t>
            </a:r>
          </a:p>
          <a:p>
            <a:pPr lvl="1">
              <a:defRPr/>
            </a:pPr>
            <a:r>
              <a:rPr lang="en-US" dirty="0"/>
              <a:t>describes the use of life and disability insurance to solve financial issues of businesses and business owners</a:t>
            </a:r>
          </a:p>
        </p:txBody>
      </p:sp>
      <p:pic>
        <p:nvPicPr>
          <p:cNvPr id="21508" name="Picture 4">
            <a:extLst>
              <a:ext uri="{FF2B5EF4-FFF2-40B4-BE49-F238E27FC236}">
                <a16:creationId xmlns:a16="http://schemas.microsoft.com/office/drawing/2014/main" xmlns="" id="{DEAA0F4B-AF39-47D5-8C90-0B57FA5653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8650" y="3505200"/>
            <a:ext cx="3910013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15–</a:t>
            </a:r>
            <a:fld id="{3A4B463A-2C18-4BB4-9F42-077004D40555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</p:cSld>
  <p:clrMapOvr>
    <a:masterClrMapping/>
  </p:clrMapOvr>
  <p:transition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883D14-5CCE-4473-94C4-568201FC7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618" y="59430"/>
            <a:ext cx="8077200" cy="646331"/>
          </a:xfr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>
              <a:defRPr/>
            </a:pPr>
            <a:r>
              <a:rPr lang="en-US" sz="3600" dirty="0">
                <a:solidFill>
                  <a:srgbClr val="AB2C29"/>
                </a:solidFill>
              </a:rPr>
              <a:t>Business Insurance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4897D38E-FB65-404F-B7ED-0C70E9E8C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14" y="721922"/>
            <a:ext cx="8102600" cy="581600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Protection of owner or dependents against loss from premature death, disability, or medical expenses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Provision for the continuation of a business following the death of an owner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en-US" dirty="0"/>
              <a:t>Economic loss to a business when a key employee </a:t>
            </a:r>
            <a:r>
              <a:rPr lang="en-US" dirty="0" smtClean="0"/>
              <a:t>dies.</a:t>
            </a:r>
          </a:p>
          <a:p>
            <a:pPr marL="514350" indent="-514350">
              <a:buFont typeface="+mj-lt"/>
              <a:buAutoNum type="arabicPeriod" startAt="4"/>
              <a:defRPr/>
            </a:pPr>
            <a:r>
              <a:rPr lang="en-US" dirty="0"/>
              <a:t>Disposition of a business owner’s interest upon the death or separation from the business</a:t>
            </a:r>
          </a:p>
          <a:p>
            <a:pPr marL="514350" indent="-514350">
              <a:buFont typeface="+mj-lt"/>
              <a:buAutoNum type="arabicPeriod" startAt="4"/>
              <a:defRPr/>
            </a:pPr>
            <a:r>
              <a:rPr lang="en-US" dirty="0"/>
              <a:t>Attraction and retention of valuable employees</a:t>
            </a:r>
          </a:p>
          <a:p>
            <a:pPr marL="514350" indent="-514350">
              <a:buFont typeface="+mj-lt"/>
              <a:buAutoNum type="arabicPeriod" startAt="4"/>
              <a:defRPr/>
            </a:pPr>
            <a:r>
              <a:rPr lang="en-US" dirty="0"/>
              <a:t>Rewarding faithful employees</a:t>
            </a:r>
          </a:p>
          <a:p>
            <a:pPr marL="514350" indent="-514350">
              <a:buFont typeface="+mj-lt"/>
              <a:buAutoNum type="arabicPeriod"/>
              <a:defRPr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15–</a:t>
            </a:r>
            <a:fld id="{3A4B463A-2C18-4BB4-9F42-077004D40555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</p:cSld>
  <p:clrMapOvr>
    <a:masterClrMapping/>
  </p:clrMapOvr>
  <p:transition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8DA0411-64B9-408E-BBA0-B5B66B6BE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67" y="5406"/>
            <a:ext cx="8077200" cy="1077218"/>
          </a:xfrm>
          <a:solidFill>
            <a:srgbClr val="92D050"/>
          </a:solidFill>
        </p:spPr>
        <p:txBody>
          <a:bodyPr/>
          <a:lstStyle/>
          <a:p>
            <a:pPr algn="ctr">
              <a:defRPr/>
            </a:pPr>
            <a:r>
              <a:rPr lang="en-US" dirty="0"/>
              <a:t>Some Red Flags to Look For in Choosing an Insurer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6B89974A-D780-4BDB-87DB-F9515E3D2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1325903"/>
            <a:ext cx="8102600" cy="5028860"/>
          </a:xfrm>
        </p:spPr>
        <p:txBody>
          <a:bodyPr/>
          <a:lstStyle/>
          <a:p>
            <a:pPr>
              <a:defRPr/>
            </a:pPr>
            <a:r>
              <a:rPr lang="en-US" sz="3000" dirty="0"/>
              <a:t>An agent who </a:t>
            </a:r>
            <a:r>
              <a:rPr lang="en-US" sz="3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delays giving answers</a:t>
            </a:r>
            <a:r>
              <a:rPr lang="en-US" sz="3000" dirty="0"/>
              <a:t>, fails to hand over a policy, or neglects to provide proof of endorsements.</a:t>
            </a:r>
          </a:p>
          <a:p>
            <a:pPr>
              <a:defRPr/>
            </a:pPr>
            <a:r>
              <a:rPr lang="en-US" sz="3000" dirty="0"/>
              <a:t>Routine answers such as: “Don’t worry about it, it’s a </a:t>
            </a:r>
            <a:r>
              <a:rPr lang="en-US" sz="3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computer glitch</a:t>
            </a:r>
            <a:r>
              <a:rPr lang="en-US" sz="3000" dirty="0"/>
              <a:t>.”</a:t>
            </a:r>
          </a:p>
          <a:p>
            <a:pPr>
              <a:defRPr/>
            </a:pPr>
            <a:r>
              <a:rPr lang="en-US" sz="3000" dirty="0"/>
              <a:t>A delayed premium refund.</a:t>
            </a:r>
          </a:p>
          <a:p>
            <a:pPr>
              <a:defRPr/>
            </a:pPr>
            <a:r>
              <a:rPr lang="en-US" sz="3000" dirty="0"/>
              <a:t>A </a:t>
            </a:r>
            <a:r>
              <a:rPr lang="en-US" sz="3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hand-delivered </a:t>
            </a:r>
            <a:r>
              <a:rPr lang="en-US" sz="3000" dirty="0"/>
              <a:t>policy instead of one sent directly from the company.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15–</a:t>
            </a:r>
            <a:fld id="{3A4B463A-2C18-4BB4-9F42-077004D40555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</p:cSld>
  <p:clrMapOvr>
    <a:masterClrMapping/>
  </p:clrMapOvr>
  <p:transition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49B48EE-9D2C-48A9-8D60-BE453B722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247729"/>
            <a:ext cx="8077200" cy="1077218"/>
          </a:xfr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>
              <a:defRPr/>
            </a:pPr>
            <a:r>
              <a:rPr lang="en-US" dirty="0"/>
              <a:t>Some Red Flags to Look For in Choosing an Insurer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212742A-B745-403C-A38A-F9F2F14CD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1691659"/>
            <a:ext cx="8102600" cy="4663104"/>
          </a:xfrm>
        </p:spPr>
        <p:txBody>
          <a:bodyPr/>
          <a:lstStyle/>
          <a:p>
            <a:pPr>
              <a:defRPr/>
            </a:pPr>
            <a:r>
              <a:rPr lang="en-US" sz="3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Delay tactics </a:t>
            </a:r>
            <a:r>
              <a:rPr lang="en-US" sz="3000" dirty="0"/>
              <a:t>to encourage you into a lower settlement.</a:t>
            </a:r>
          </a:p>
          <a:p>
            <a:pPr>
              <a:defRPr/>
            </a:pPr>
            <a:r>
              <a:rPr lang="en-US" sz="3000" dirty="0"/>
              <a:t>Attempts to minimize your damages to save the company from having to pay on the claim.</a:t>
            </a:r>
          </a:p>
          <a:p>
            <a:pPr>
              <a:defRPr/>
            </a:pPr>
            <a:r>
              <a:rPr lang="en-US" sz="3000" dirty="0"/>
              <a:t>Request by the adjuster to keep the claim or proposed settlement a </a:t>
            </a:r>
            <a:r>
              <a:rPr lang="en-US" sz="3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secret</a:t>
            </a:r>
            <a:r>
              <a:rPr lang="en-US" sz="3000" dirty="0"/>
              <a:t>.</a:t>
            </a:r>
          </a:p>
          <a:p>
            <a:pPr>
              <a:defRPr/>
            </a:pPr>
            <a:r>
              <a:rPr lang="en-US" sz="3000" dirty="0"/>
              <a:t>An offer of a new policy to replace one that is </a:t>
            </a:r>
            <a:r>
              <a:rPr lang="en-US" sz="3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flawed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15–</a:t>
            </a:r>
            <a:fld id="{3A4B463A-2C18-4BB4-9F42-077004D40555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</p:cSld>
  <p:clrMapOvr>
    <a:masterClrMapping/>
  </p:clrMapOvr>
  <p:transition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C45F03E-B453-40AE-B02F-638B4510E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42671"/>
            <a:ext cx="8077200" cy="1200329"/>
          </a:xfr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>
              <a:defRPr/>
            </a:pPr>
            <a:r>
              <a:rPr lang="en-US" sz="3600" dirty="0"/>
              <a:t>Financial Characteristics and Flexibility of Insurer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CF3C31AF-EE98-47CB-9E56-98BD98161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1508781"/>
            <a:ext cx="8102600" cy="4845982"/>
          </a:xfrm>
        </p:spPr>
        <p:txBody>
          <a:bodyPr/>
          <a:lstStyle/>
          <a:p>
            <a:pPr marL="0" indent="0">
              <a:buFont typeface="Wingdings" pitchFamily="2" charset="2"/>
              <a:buNone/>
              <a:defRPr/>
            </a:pPr>
            <a:r>
              <a:rPr lang="en-US" dirty="0"/>
              <a:t>Use the following criteria:</a:t>
            </a:r>
          </a:p>
          <a:p>
            <a:pPr>
              <a:defRPr/>
            </a:pPr>
            <a:r>
              <a:rPr lang="en-US" dirty="0"/>
              <a:t>Financial stability and safety.</a:t>
            </a:r>
          </a:p>
          <a:p>
            <a:pPr>
              <a:defRPr/>
            </a:pPr>
            <a:r>
              <a:rPr lang="en-US" dirty="0"/>
              <a:t>Specialization in your type of business.</a:t>
            </a:r>
          </a:p>
          <a:p>
            <a:pPr>
              <a:defRPr/>
            </a:pPr>
            <a:r>
              <a:rPr lang="en-US" dirty="0"/>
              <a:t>Ability to tailor its policy to meet your needs.</a:t>
            </a:r>
          </a:p>
          <a:p>
            <a:pPr>
              <a:defRPr/>
            </a:pPr>
            <a:r>
              <a:rPr lang="en-US" dirty="0"/>
              <a:t>Cost of protection.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15–</a:t>
            </a:r>
            <a:fld id="{3A4B463A-2C18-4BB4-9F42-077004D40555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</p:cSld>
  <p:clrMapOvr>
    <a:masterClrMapping/>
  </p:clrMapOvr>
  <p:transition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7E9AFF0-CD31-45E2-9583-87453B723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967" y="99429"/>
            <a:ext cx="8077200" cy="646331"/>
          </a:xfr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>
              <a:defRPr/>
            </a:pPr>
            <a:r>
              <a:rPr lang="en-US" sz="3600" dirty="0"/>
              <a:t>Services Rendered by the Agent</a:t>
            </a:r>
          </a:p>
        </p:txBody>
      </p:sp>
      <p:sp>
        <p:nvSpPr>
          <p:cNvPr id="27651" name="Content Placeholder 6">
            <a:extLst>
              <a:ext uri="{FF2B5EF4-FFF2-40B4-BE49-F238E27FC236}">
                <a16:creationId xmlns:a16="http://schemas.microsoft.com/office/drawing/2014/main" xmlns="" id="{37214EBF-29BD-4DCF-9BFF-372635FBB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Clr>
                <a:srgbClr val="254061"/>
              </a:buClr>
              <a:buFont typeface="Wingdings" pitchFamily="2" charset="2"/>
              <a:buNone/>
            </a:pPr>
            <a:r>
              <a:rPr lang="en-US" altLang="en-US" dirty="0"/>
              <a:t>Choose an agent who is willing and able to: </a:t>
            </a:r>
          </a:p>
          <a:p>
            <a:pPr marL="457200" indent="-457200">
              <a:buClr>
                <a:srgbClr val="254061"/>
              </a:buClr>
            </a:pPr>
            <a:r>
              <a:rPr lang="en-US" altLang="en-US" dirty="0"/>
              <a:t>devote enough time to your individual problems to </a:t>
            </a:r>
            <a:r>
              <a:rPr lang="en-US" alt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justify the commission</a:t>
            </a:r>
          </a:p>
          <a:p>
            <a:pPr marL="457200" indent="-457200">
              <a:buClr>
                <a:srgbClr val="254061"/>
              </a:buClr>
            </a:pPr>
            <a:r>
              <a:rPr lang="en-US" altLang="en-US" dirty="0"/>
              <a:t>survey exposure to loss</a:t>
            </a:r>
          </a:p>
          <a:p>
            <a:pPr marL="457200" indent="-457200">
              <a:buClr>
                <a:srgbClr val="254061"/>
              </a:buClr>
            </a:pPr>
            <a:r>
              <a:rPr lang="en-US" altLang="en-US" dirty="0"/>
              <a:t>recommend </a:t>
            </a:r>
            <a:r>
              <a:rPr lang="en-US" alt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adequate</a:t>
            </a:r>
            <a:r>
              <a:rPr lang="en-US" altLang="en-US" dirty="0"/>
              <a:t> insurance and loss prevention programs</a:t>
            </a:r>
          </a:p>
          <a:p>
            <a:pPr marL="457200" indent="-457200">
              <a:buClr>
                <a:srgbClr val="254061"/>
              </a:buClr>
            </a:pPr>
            <a:r>
              <a:rPr lang="en-US" altLang="en-US" dirty="0"/>
              <a:t>offer </a:t>
            </a:r>
            <a:r>
              <a:rPr lang="en-US" alt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alternative</a:t>
            </a:r>
            <a:r>
              <a:rPr lang="en-US" altLang="en-US" dirty="0">
                <a:solidFill>
                  <a:srgbClr val="558ED5"/>
                </a:solidFill>
              </a:rPr>
              <a:t> </a:t>
            </a:r>
            <a:r>
              <a:rPr lang="en-US" altLang="en-US" dirty="0"/>
              <a:t>methods of insurance.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15–</a:t>
            </a:r>
            <a:fld id="{3A4B463A-2C18-4BB4-9F42-077004D40555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</p:cSld>
  <p:clrMapOvr>
    <a:masterClrMapping/>
  </p:clrMapOvr>
  <p:transition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ADDED14-837F-49B7-9825-F64E7D186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581" y="32305"/>
            <a:ext cx="8077200" cy="1077218"/>
          </a:xfr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>
              <a:defRPr/>
            </a:pPr>
            <a:r>
              <a:rPr lang="en-US" dirty="0"/>
              <a:t>Crime Prevention to Protect </a:t>
            </a:r>
            <a:br>
              <a:rPr lang="en-US" dirty="0"/>
            </a:br>
            <a:r>
              <a:rPr lang="en-US" dirty="0"/>
              <a:t>People and Assets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xmlns="" id="{1466F81D-6886-42A2-901A-A16A0114DB9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15–</a:t>
            </a:r>
            <a:fld id="{3A4B463A-2C18-4BB4-9F42-077004D40555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</p:cSld>
  <p:clrMapOvr>
    <a:masterClrMapping/>
  </p:clrMapOvr>
  <p:transition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FEEC9A-35EE-4FCF-A853-802BB1BEC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0"/>
            <a:ext cx="8077200" cy="707886"/>
          </a:xfr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>
              <a:defRPr/>
            </a:pPr>
            <a:r>
              <a:rPr lang="en-US" sz="4000" dirty="0"/>
              <a:t>Armed Robbery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4EBC717-F6A9-4121-B5F8-EF219F329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Several measures can be taken to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reduce</a:t>
            </a:r>
            <a:r>
              <a:rPr lang="en-US" dirty="0"/>
              <a:t> the chances of being robbed. </a:t>
            </a:r>
          </a:p>
          <a:p>
            <a:pPr>
              <a:defRPr/>
            </a:pPr>
            <a:r>
              <a:rPr lang="en-US" dirty="0"/>
              <a:t>They include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modifying</a:t>
            </a:r>
            <a:r>
              <a:rPr lang="en-US" dirty="0"/>
              <a:t> the store’s layout, securing entrances, using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security dogs</a:t>
            </a:r>
            <a:r>
              <a:rPr lang="en-US" dirty="0"/>
              <a:t>,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controlling</a:t>
            </a:r>
            <a:r>
              <a:rPr lang="en-US" dirty="0"/>
              <a:t> the handling of cash, and redesigning the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surrounding area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15–</a:t>
            </a:r>
            <a:fld id="{3A4B463A-2C18-4BB4-9F42-077004D40555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</p:cSld>
  <p:clrMapOvr>
    <a:masterClrMapping/>
  </p:clrMapOvr>
  <p:transition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69BD4B-559F-4250-89F5-0DE8BA8DF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004" y="0"/>
            <a:ext cx="8077200" cy="707886"/>
          </a:xfr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>
              <a:defRPr/>
            </a:pPr>
            <a:r>
              <a:rPr lang="en-US" sz="4000" dirty="0"/>
              <a:t>Theft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A4ACE6A-F76E-4CEB-9EB6-F84B0F3A3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Theft by 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outsiders</a:t>
            </a:r>
            <a:r>
              <a:rPr lang="en-US" dirty="0"/>
              <a:t>, usually known as shoplifting,</a:t>
            </a:r>
          </a:p>
          <a:p>
            <a:pPr>
              <a:defRPr/>
            </a:pPr>
            <a:r>
              <a:rPr lang="en-US" dirty="0"/>
              <a:t>Theft by 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employees</a:t>
            </a:r>
          </a:p>
          <a:p>
            <a:pPr>
              <a:defRPr/>
            </a:pPr>
            <a:r>
              <a:rPr lang="en-US" dirty="0"/>
              <a:t>Often referred to as 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shrinkage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15–</a:t>
            </a:r>
            <a:fld id="{3A4B463A-2C18-4BB4-9F42-077004D40555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</p:cSld>
  <p:clrMapOvr>
    <a:masterClrMapping/>
  </p:clrMapOvr>
  <p:transition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E8FA24D-CDAA-4A47-A94F-458DF5C85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805" y="137196"/>
            <a:ext cx="8503557" cy="1077218"/>
          </a:xfr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>
              <a:defRPr/>
            </a:pPr>
            <a:r>
              <a:rPr lang="en-US" dirty="0">
                <a:solidFill>
                  <a:srgbClr val="AB2C29"/>
                </a:solidFill>
              </a:rPr>
              <a:t>Sources of Inventory Loss in the Global Retail Industry</a:t>
            </a:r>
          </a:p>
        </p:txBody>
      </p:sp>
      <p:pic>
        <p:nvPicPr>
          <p:cNvPr id="31747" name="Picture 2">
            <a:extLst>
              <a:ext uri="{FF2B5EF4-FFF2-40B4-BE49-F238E27FC236}">
                <a16:creationId xmlns:a16="http://schemas.microsoft.com/office/drawing/2014/main" xmlns="" id="{F0DB69FD-8DE3-4A5B-8E86-D4AED9D7E7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350" y="2133600"/>
            <a:ext cx="6845300" cy="413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8" name="TextBox 3">
            <a:extLst>
              <a:ext uri="{FF2B5EF4-FFF2-40B4-BE49-F238E27FC236}">
                <a16:creationId xmlns:a16="http://schemas.microsoft.com/office/drawing/2014/main" xmlns="" id="{1CCA8F6A-4312-4D36-BBEE-9557A4063F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676400"/>
            <a:ext cx="160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Figure 17.2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17-</a:t>
            </a:r>
            <a:fld id="{E7390152-4CEE-4182-8342-1343A1B4ED59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</p:cSld>
  <p:clrMapOvr>
    <a:masterClrMapping/>
  </p:clrMapOvr>
  <p:transition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0FDBEC0-F77D-4085-A0BB-254EF9B86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83292"/>
            <a:ext cx="8077200" cy="646331"/>
          </a:xfr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>
              <a:defRPr/>
            </a:pPr>
            <a:r>
              <a:rPr lang="en-US" sz="3600" dirty="0"/>
              <a:t>Techniques for Preventing Theft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EDEC3DA7-CAB0-4977-A3D9-6287B9C42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3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Wide-angle</a:t>
            </a:r>
            <a:r>
              <a:rPr lang="en-US" sz="3000" dirty="0"/>
              <a:t> and </a:t>
            </a:r>
            <a:r>
              <a:rPr lang="en-US" sz="3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one-way</a:t>
            </a:r>
            <a:r>
              <a:rPr lang="en-US" sz="3000" dirty="0"/>
              <a:t> mirrors to observe employee or customer behavior.</a:t>
            </a:r>
          </a:p>
          <a:p>
            <a:pPr>
              <a:defRPr/>
            </a:pPr>
            <a:r>
              <a:rPr lang="en-US" sz="3000" dirty="0"/>
              <a:t>TV cameras, tied to monitors, to observe a large area of the store</a:t>
            </a:r>
          </a:p>
          <a:p>
            <a:pPr>
              <a:defRPr/>
            </a:pPr>
            <a:r>
              <a:rPr lang="en-US" sz="3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Electronic noise activators </a:t>
            </a:r>
            <a:r>
              <a:rPr lang="en-US" sz="3000" dirty="0"/>
              <a:t>to warn of unprocessed merchandise leaving the store.</a:t>
            </a:r>
          </a:p>
          <a:p>
            <a:pPr>
              <a:defRPr/>
            </a:pPr>
            <a:r>
              <a:rPr lang="en-US" sz="3000" dirty="0"/>
              <a:t>Paper-and-pencil tests of a potential employee’s honesty</a:t>
            </a:r>
          </a:p>
          <a:p>
            <a:pPr>
              <a:defRPr/>
            </a:pPr>
            <a:r>
              <a:rPr lang="en-US" sz="3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Security guards</a:t>
            </a:r>
          </a:p>
          <a:p>
            <a:pPr>
              <a:defRPr/>
            </a:pPr>
            <a:endParaRPr lang="en-US" sz="3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15–</a:t>
            </a:r>
            <a:fld id="{3A4B463A-2C18-4BB4-9F42-077004D40555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</p:cSld>
  <p:clrMapOvr>
    <a:masterClrMapping/>
  </p:clrMapOvr>
  <p:transition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B5CE781-337B-4813-AB52-4CEA4052C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0"/>
            <a:ext cx="8976311" cy="707886"/>
          </a:xfr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>
              <a:defRPr/>
            </a:pPr>
            <a:r>
              <a:rPr lang="en-US" sz="4000" dirty="0">
                <a:solidFill>
                  <a:srgbClr val="AB2C29"/>
                </a:solidFill>
              </a:rPr>
              <a:t>Employee Theft</a:t>
            </a:r>
          </a:p>
        </p:txBody>
      </p:sp>
      <p:pic>
        <p:nvPicPr>
          <p:cNvPr id="33795" name="Picture 2">
            <a:extLst>
              <a:ext uri="{FF2B5EF4-FFF2-40B4-BE49-F238E27FC236}">
                <a16:creationId xmlns:a16="http://schemas.microsoft.com/office/drawing/2014/main" xmlns="" id="{94014A83-9152-41F1-B851-260AAD90A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275" y="1981200"/>
            <a:ext cx="5505450" cy="447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6" name="TextBox 3">
            <a:extLst>
              <a:ext uri="{FF2B5EF4-FFF2-40B4-BE49-F238E27FC236}">
                <a16:creationId xmlns:a16="http://schemas.microsoft.com/office/drawing/2014/main" xmlns="" id="{DBB8B6E9-8DB7-4EA0-8D19-743C95EA9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1752600"/>
            <a:ext cx="1524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Figure 17.3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altLang="en-US" smtClean="0"/>
              <a:t>17-</a:t>
            </a:r>
            <a:fld id="{E7390152-4CEE-4182-8342-1343A1B4ED59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</p:cSld>
  <p:clrMapOvr>
    <a:masterClrMapping/>
  </p:clrMapOvr>
  <p:transition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8F68B913-C8C8-4B46-9981-359A6D626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0"/>
            <a:ext cx="8412163" cy="783193"/>
          </a:xfrm>
        </p:spPr>
        <p:txBody>
          <a:bodyPr/>
          <a:lstStyle/>
          <a:p>
            <a:pPr algn="ctr">
              <a:defRPr/>
            </a:pPr>
            <a:r>
              <a:rPr lang="en-US" sz="4000" dirty="0">
                <a:solidFill>
                  <a:srgbClr val="AB2C29"/>
                </a:solidFill>
              </a:rPr>
              <a:t>White-Collar Crime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708A5A87-990D-46A1-A0CE-E842818B10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879600"/>
            <a:ext cx="4038600" cy="4525963"/>
          </a:xfrm>
        </p:spPr>
        <p:txBody>
          <a:bodyPr/>
          <a:lstStyle/>
          <a:p>
            <a:pPr>
              <a:defRPr/>
            </a:pPr>
            <a:r>
              <a:rPr lang="en-US" b="1" dirty="0"/>
              <a:t>White-collar crimes</a:t>
            </a:r>
          </a:p>
          <a:p>
            <a:pPr lvl="1">
              <a:defRPr/>
            </a:pPr>
            <a:r>
              <a:rPr lang="en-US" dirty="0"/>
              <a:t>those committed by managerial, professional, and technical employees</a:t>
            </a:r>
          </a:p>
        </p:txBody>
      </p:sp>
      <p:pic>
        <p:nvPicPr>
          <p:cNvPr id="34820" name="Content Placeholder 6">
            <a:extLst>
              <a:ext uri="{FF2B5EF4-FFF2-40B4-BE49-F238E27FC236}">
                <a16:creationId xmlns:a16="http://schemas.microsoft.com/office/drawing/2014/main" xmlns="" id="{17F4306E-941A-4EA6-A5E9-FE9A9D74A0D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2209800"/>
            <a:ext cx="3505200" cy="3505200"/>
          </a:xfrm>
          <a:noFill/>
        </p:spPr>
      </p:pic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15–</a:t>
            </a:r>
            <a:fld id="{E234D081-949E-4C82-8E41-6648421D43B5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</p:cSld>
  <p:clrMapOvr>
    <a:masterClrMapping/>
  </p:clrMapOvr>
  <p:transition>
    <p:rand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3557C8-BCB1-4EAB-8E33-41C5E23B7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050" y="104775"/>
            <a:ext cx="8077200" cy="646331"/>
          </a:xfr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>
              <a:defRPr/>
            </a:pPr>
            <a:r>
              <a:rPr lang="en-US" sz="3600" dirty="0"/>
              <a:t>Types of White-Collar Crimes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3D6E95A0-E89E-4530-9ADF-D63243CF7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/>
              <a:t>Falsification of accounts</a:t>
            </a:r>
          </a:p>
          <a:p>
            <a:pPr>
              <a:defRPr/>
            </a:pPr>
            <a:r>
              <a:rPr lang="en-US" sz="2800" dirty="0"/>
              <a:t>Fraudulent accessing and manipulating of the computer</a:t>
            </a:r>
          </a:p>
          <a:p>
            <a:pPr>
              <a:defRPr/>
            </a:pPr>
            <a:r>
              <a:rPr lang="en-US" sz="2800" dirty="0"/>
              <a:t>Bribing of purchasing agents and other officials</a:t>
            </a:r>
          </a:p>
          <a:p>
            <a:pPr>
              <a:defRPr/>
            </a:pPr>
            <a:r>
              <a:rPr lang="en-US" sz="2800" dirty="0"/>
              <a:t>Collusion that results in unrecorded transactions</a:t>
            </a:r>
          </a:p>
          <a:p>
            <a:pPr>
              <a:defRPr/>
            </a:pPr>
            <a:r>
              <a:rPr lang="en-US" sz="2800" dirty="0"/>
              <a:t>Sale of proprietary information</a:t>
            </a:r>
          </a:p>
          <a:p>
            <a:pPr>
              <a:defRPr/>
            </a:pPr>
            <a:r>
              <a:rPr lang="en-US" sz="2800" dirty="0"/>
              <a:t>Sabotage of new technology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15–</a:t>
            </a:r>
            <a:fld id="{3A4B463A-2C18-4BB4-9F42-077004D40555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</p:cSld>
  <p:clrMapOvr>
    <a:masterClrMapping/>
  </p:clrMapOvr>
  <p:transition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DD9DAEE-2CCD-49B4-91E3-0A5AE2D49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982" y="18858"/>
            <a:ext cx="8077200" cy="579438"/>
          </a:xfr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>
              <a:defRPr/>
            </a:pPr>
            <a:r>
              <a:rPr lang="en-US" dirty="0"/>
              <a:t>Ways to Minimize </a:t>
            </a:r>
            <a:r>
              <a:rPr lang="en-US" dirty="0" smtClean="0"/>
              <a:t>White-Collar </a:t>
            </a:r>
            <a:r>
              <a:rPr lang="en-US" dirty="0"/>
              <a:t>Crime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FBC86FEA-E039-48FB-978C-8E597E6EB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682" y="685830"/>
            <a:ext cx="8102600" cy="4754543"/>
          </a:xfrm>
        </p:spPr>
        <p:txBody>
          <a:bodyPr/>
          <a:lstStyle/>
          <a:p>
            <a:pPr>
              <a:defRPr/>
            </a:pPr>
            <a:r>
              <a:rPr lang="en-US" dirty="0"/>
              <a:t>Track the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extent</a:t>
            </a:r>
            <a:r>
              <a:rPr lang="en-US" dirty="0"/>
              <a:t> and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cost</a:t>
            </a:r>
            <a:r>
              <a:rPr lang="en-US" dirty="0"/>
              <a:t> of corporate crime.</a:t>
            </a:r>
          </a:p>
          <a:p>
            <a:pPr>
              <a:defRPr/>
            </a:pPr>
            <a:r>
              <a:rPr lang="en-US" dirty="0"/>
              <a:t>Increase corporate crime prosecution budgets.</a:t>
            </a:r>
          </a:p>
          <a:p>
            <a:pPr>
              <a:defRPr/>
            </a:pP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Ban corporate criminals </a:t>
            </a:r>
            <a:r>
              <a:rPr lang="en-US" dirty="0"/>
              <a:t>from government contracts.</a:t>
            </a:r>
          </a:p>
          <a:p>
            <a:pPr>
              <a:defRPr/>
            </a:pPr>
            <a:r>
              <a:rPr lang="en-US" dirty="0"/>
              <a:t>Crack down on corporate tax avoidance.</a:t>
            </a:r>
          </a:p>
          <a:p>
            <a:pPr>
              <a:defRPr/>
            </a:pPr>
            <a:r>
              <a:rPr lang="en-US" dirty="0"/>
              <a:t>Restore the rights of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defrauded</a:t>
            </a:r>
            <a:r>
              <a:rPr lang="en-US" dirty="0"/>
              <a:t> investors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15–</a:t>
            </a:r>
            <a:fld id="{3A4B463A-2C18-4BB4-9F42-077004D40555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</p:cSld>
  <p:clrMapOvr>
    <a:masterClrMapping/>
  </p:clrMapOvr>
  <p:transition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E2FA47A-4880-49ED-B1BC-831AF7063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876" y="137196"/>
            <a:ext cx="8077200" cy="579438"/>
          </a:xfr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>
              <a:defRPr/>
            </a:pPr>
            <a:r>
              <a:rPr lang="en-US" dirty="0"/>
              <a:t>Ways to Minimize </a:t>
            </a:r>
            <a:r>
              <a:rPr lang="en-US" dirty="0" smtClean="0"/>
              <a:t>White-Collar </a:t>
            </a:r>
            <a:r>
              <a:rPr lang="en-US" dirty="0"/>
              <a:t>Crime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6D4BE45-E7C8-4D14-AEC7-767E5CFE2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476" y="868708"/>
            <a:ext cx="8102600" cy="4754543"/>
          </a:xfrm>
        </p:spPr>
        <p:txBody>
          <a:bodyPr/>
          <a:lstStyle/>
          <a:p>
            <a:pPr>
              <a:defRPr/>
            </a:pPr>
            <a:r>
              <a:rPr lang="en-US" dirty="0"/>
              <a:t>Regulate derivatives trading.</a:t>
            </a:r>
          </a:p>
          <a:p>
            <a:pPr>
              <a:defRPr/>
            </a:pPr>
            <a:r>
              <a:rPr lang="en-US" dirty="0"/>
              <a:t>Expand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disclosure</a:t>
            </a:r>
            <a:r>
              <a:rPr lang="en-US" dirty="0"/>
              <a:t>.</a:t>
            </a:r>
          </a:p>
          <a:p>
            <a:pPr>
              <a:defRPr/>
            </a:pPr>
            <a:r>
              <a:rPr lang="en-US" dirty="0"/>
              <a:t>End conflicts of interest on Wall Street.</a:t>
            </a:r>
          </a:p>
          <a:p>
            <a:pPr>
              <a:defRPr/>
            </a:pPr>
            <a:r>
              <a:rPr lang="en-US" dirty="0"/>
              <a:t>Fix the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pension system</a:t>
            </a:r>
            <a:r>
              <a:rPr lang="en-US" dirty="0"/>
              <a:t>.</a:t>
            </a:r>
          </a:p>
          <a:p>
            <a:pPr>
              <a:defRPr/>
            </a:pPr>
            <a:r>
              <a:rPr lang="en-US" dirty="0"/>
              <a:t>Foster a national discussion on corporate power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15–</a:t>
            </a:r>
            <a:fld id="{3A4B463A-2C18-4BB4-9F42-077004D40555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</p:cSld>
  <p:clrMapOvr>
    <a:masterClrMapping/>
  </p:clrMapOvr>
  <p:transition>
    <p:random/>
  </p:transition>
</p:sld>
</file>

<file path=ppt/theme/theme1.xml><?xml version="1.0" encoding="utf-8"?>
<a:theme xmlns:a="http://schemas.openxmlformats.org/drawingml/2006/main" name="Small Business Management 17e">
  <a:themeElements>
    <a:clrScheme name="Human Resource Management 13e. 2">
      <a:dk1>
        <a:srgbClr val="000000"/>
      </a:dk1>
      <a:lt1>
        <a:srgbClr val="FFFFFF"/>
      </a:lt1>
      <a:dk2>
        <a:srgbClr val="003300"/>
      </a:dk2>
      <a:lt2>
        <a:srgbClr val="5F5F5F"/>
      </a:lt2>
      <a:accent1>
        <a:srgbClr val="009900"/>
      </a:accent1>
      <a:accent2>
        <a:srgbClr val="CC99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B98A00"/>
      </a:accent6>
      <a:hlink>
        <a:srgbClr val="FF3300"/>
      </a:hlink>
      <a:folHlink>
        <a:srgbClr val="663300"/>
      </a:folHlink>
    </a:clrScheme>
    <a:fontScheme name="Human Resource Management 13e.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Human Resource Management 13e. 1">
        <a:dk1>
          <a:srgbClr val="000000"/>
        </a:dk1>
        <a:lt1>
          <a:srgbClr val="FFFFFF"/>
        </a:lt1>
        <a:dk2>
          <a:srgbClr val="396F39"/>
        </a:dk2>
        <a:lt2>
          <a:srgbClr val="FFCC00"/>
        </a:lt2>
        <a:accent1>
          <a:srgbClr val="009900"/>
        </a:accent1>
        <a:accent2>
          <a:srgbClr val="CC9900"/>
        </a:accent2>
        <a:accent3>
          <a:srgbClr val="AEBBAE"/>
        </a:accent3>
        <a:accent4>
          <a:srgbClr val="DADADA"/>
        </a:accent4>
        <a:accent5>
          <a:srgbClr val="AACAAA"/>
        </a:accent5>
        <a:accent6>
          <a:srgbClr val="B98A00"/>
        </a:accent6>
        <a:hlink>
          <a:srgbClr val="FF3300"/>
        </a:hlink>
        <a:folHlink>
          <a:srgbClr val="66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man Resource Management 13e. 2">
        <a:dk1>
          <a:srgbClr val="000000"/>
        </a:dk1>
        <a:lt1>
          <a:srgbClr val="FFFFFF"/>
        </a:lt1>
        <a:dk2>
          <a:srgbClr val="003300"/>
        </a:dk2>
        <a:lt2>
          <a:srgbClr val="5F5F5F"/>
        </a:lt2>
        <a:accent1>
          <a:srgbClr val="0099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B98A00"/>
        </a:accent6>
        <a:hlink>
          <a:srgbClr val="FF3300"/>
        </a:hlink>
        <a:folHlink>
          <a:srgbClr val="66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uman Resource Management 13e.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uman Resource Management 13e. 4">
        <a:dk1>
          <a:srgbClr val="000000"/>
        </a:dk1>
        <a:lt1>
          <a:srgbClr val="FFFFFF"/>
        </a:lt1>
        <a:dk2>
          <a:srgbClr val="FF0000"/>
        </a:dk2>
        <a:lt2>
          <a:srgbClr val="800000"/>
        </a:lt2>
        <a:accent1>
          <a:srgbClr val="0080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AAC0AA"/>
        </a:accent5>
        <a:accent6>
          <a:srgbClr val="E78A00"/>
        </a:accent6>
        <a:hlink>
          <a:srgbClr val="CC3300"/>
        </a:hlink>
        <a:folHlink>
          <a:srgbClr val="6633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5561</TotalTime>
  <Words>959</Words>
  <Application>Microsoft Office PowerPoint</Application>
  <PresentationFormat>On-screen Show (4:3)</PresentationFormat>
  <Paragraphs>164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Corbel</vt:lpstr>
      <vt:lpstr>Tahoma</vt:lpstr>
      <vt:lpstr>Times New Roman</vt:lpstr>
      <vt:lpstr>Wingdings</vt:lpstr>
      <vt:lpstr>Small Business Management 17e</vt:lpstr>
      <vt:lpstr>TOPIC 13</vt:lpstr>
      <vt:lpstr>Learning Outcomes</vt:lpstr>
      <vt:lpstr>Risk and Its Management</vt:lpstr>
      <vt:lpstr>Types of Risk</vt:lpstr>
      <vt:lpstr>Ways of Coping with Risk</vt:lpstr>
      <vt:lpstr>Ways of Coping with Risk</vt:lpstr>
      <vt:lpstr>Insurance for Your Business</vt:lpstr>
      <vt:lpstr>How to Determine Whether You Need Insurance</vt:lpstr>
      <vt:lpstr>Types of Insurance Coverage</vt:lpstr>
      <vt:lpstr>Types of Insurance Coverage</vt:lpstr>
      <vt:lpstr>Reducing Worker’s Comp Premiums</vt:lpstr>
      <vt:lpstr>Types of Insurance Coverage</vt:lpstr>
      <vt:lpstr>Business Insurance</vt:lpstr>
      <vt:lpstr>Some Red Flags to Look For in Choosing an Insurer</vt:lpstr>
      <vt:lpstr>Some Red Flags to Look For in Choosing an Insurer</vt:lpstr>
      <vt:lpstr>Financial Characteristics and Flexibility of Insurer</vt:lpstr>
      <vt:lpstr>Services Rendered by the Agent</vt:lpstr>
      <vt:lpstr>Crime Prevention to Protect  People and Assets</vt:lpstr>
      <vt:lpstr>Armed Robbery</vt:lpstr>
      <vt:lpstr>Theft </vt:lpstr>
      <vt:lpstr>Sources of Inventory Loss in the Global Retail Industry</vt:lpstr>
      <vt:lpstr>Techniques for Preventing Theft</vt:lpstr>
      <vt:lpstr>Employee Theft</vt:lpstr>
      <vt:lpstr>White-Collar Crime</vt:lpstr>
      <vt:lpstr>Types of White-Collar Crimes</vt:lpstr>
      <vt:lpstr>Ways to Minimize White-Collar Crime</vt:lpstr>
      <vt:lpstr>Ways to Minimize White-Collar Crime</vt:lpstr>
    </vt:vector>
  </TitlesOfParts>
  <Manager>Julia Chase</Manager>
  <Company>Cengage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Small Business Management 17e</dc:title>
  <dc:subject>Chapter 15</dc:subject>
  <dc:creator>Charlie Cook - ccook@uwa.edu</dc:creator>
  <cp:lastModifiedBy>Microsoft account</cp:lastModifiedBy>
  <cp:revision>535</cp:revision>
  <dcterms:created xsi:type="dcterms:W3CDTF">2003-02-17T02:06:55Z</dcterms:created>
  <dcterms:modified xsi:type="dcterms:W3CDTF">2022-08-14T15:33:46Z</dcterms:modified>
</cp:coreProperties>
</file>